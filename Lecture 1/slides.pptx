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to Day 1 of the AI training program. Introduce yourself and the purpose of this session: to build practical AI literacy — moving from understanding what AI is, to identifying where it is used, to actually using modern AI tools, and finally to critically evaluating AI outputs. Set expectations: this is a senior, evidence-based, practical session, not a hype presentation. We will be honest about what AI can and cannot do today. Preview that the day ends with a hands-on challenge where each participant designs a one-page AI solution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objective briefly. Emphasize that this is a practical, hands-on day — participants will not just hear about AI, they will use three different AI tools on the same task and compare results. Objective 3 (critical evaluation) is especially important: many training sessions teach tool usage but skip evaluation skills, which is where real professional value lies. Ask participants to keep these five objectives in mind as a personal checklist throughout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slide honestly: we are not going to cite a specific percentage without a verifiable source. Instead, communicate the qualitative reality — AI tool adoption has accelerated sharply since ChatGPT's public launch in late 2022, and most large organizations are now experimenting with AI in some capacity. Direct participants to authoritative sources for current statistics: the Stanford HAI AI Index Report, McKinsey's annual State of AI survey, or IMF/World Economic Forum publications. Discussion question: 'Where have you personally already encountered AI this week, even if you didn't think of it as AI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nested-circle diagram to explain the hierarchy: AI is the broadest field (the goal of building intelligent behavior); Machine Learning is a subset where systems learn from data rather than fixed rules; Deep Learning is a subset of ML using layered neural networks, effective for images, speech, and language; Generative AI is a further subset of deep learning that produces new content (text, images, audio, code) rather than only classifying or predicting. Stress that AI does not equal consciousness or general reasoning — it is pattern-based computation. Avoid anthropomorphizing language like 'the AI thinks' or 'the AI wants' during this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maps the technical building blocks participants will hear referenced throughout the day. Keep the explanation practical rather than mathematical — the goal is vocabulary fluency, not implementation depth. Note explicitly that Generative AI (the focus of most tools we explore today, like Copilot, Claude, and Perplexity) sits on top of deep learning and NLP advances. Robotics is included for completeness but is not a focus area of today's session, since it involves physical/embodied systems distinct from the software tools we'll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categories form a mental model participants can use for the rest of the day: whenever they encounter an AI use case, they should ask 'which category (or combination of categories) does this fall into?' For example, an AI customer service chatbot combines Automation &amp; Agents with Search &amp; Retrieval and Content Generation. Ask participants: 'Can you think of an AI application from your own field, and which category or categories it falls 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Establish that AI in education is currently used mainly as an assistive layer, not a replacement for instructors. Adaptive learning platforms (e.g., used in some K-12 and higher-ed systems) personalize pacing but require ongoing teacher oversight. AI tutoring tools can hallucinate incorrect explanations, so accuracy verification remains essential — this foreshadows the AI Output Evaluation Framework later in the day. Mention academic integrity policy considerations when discussing student use of generative AI for assignments.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Healthcare is one of the most regulated and highest-stakes AI application domains. Emphasize that AI-assisted diagnostic tools are decision-support systems requiring licensed clinician review and sign-off — not autonomous diagnostic replacements, and regulatory approval status (e.g., FDA clearance category) varies by tool and jurisdiction. Clinical documentation AI must be reviewed for factual accuracy before entering a patient record. Discuss that healthcare AI carries acute privacy obligations (e.g., HIPAA in the U.S., or local equivalents) that make data governance central to any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Financial services was an early adopter of ML for fraud detection and credit scoring, predating the current generative AI wave by years. Highlight the regulatory dimension: credit scoring models are subject to fair-lending and anti-discrimination law in most jurisdictions (e.g., ECOA in the U.S.), which constrains how opaque an approved model can be. Algorithmic trading carries systemic risk considerations and is tightly monitored by regulators. This sector is a strong example of AI requiring both technical and compliance expertise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and marketing functions have seen some of the fastest visible generative AI adoption because the output (text, images) maps directly onto existing content workflows. Caution participants that AI-generated marketing copy still requires brand-voice review, factual verification of any claims, and legal review for regulated claims (e.g., health, financial products). Sentiment analysis tools are useful directionally but are not perfectly accurate — sarcasm and cultural nuance remain challenging.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Software development is a domain where practitioners in the room may already have direct experience — invite comparisons. Stress that AI coding assistants materially speed up boilerplate and first-draft code, but generated code can contain subtle logical errors, outdated API usage, or security vulnerabilities, so code review and testing discipline must not be relaxed. Studies on productivity impact show gains concentrated in certain task types (e.g., boilerplate, test writing) more than others (e.g., complex architecture decisions) — avoid claiming uniform productivity multipliers.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Agriculture and smart systems illustrate AI applications beyond office/knowledge work, often combining IoT sensors, computer vision, and predictive models. Precision agriculture can reduce input waste (water, fertilizer) though exact efficiency gains vary by farm, crop, and region — avoid citing a universal percentage without a specific regional study. Smart infrastructure examples (grids, traffic) show AI operating at civic/public scale, which raises additional considerations around reliability and fail-safe design when systems affect public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this slide is to demystify AI — most participants interact with AI systems dozens of times daily without recognizing it as 'AI.' This helps ground the rest of the training in familiar experience rather than abstract technology. Ask participants for a show of hands on which of these six they used in just the last 24 hours (usually nearly everyone raises a hand for at least three or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diagram to build systems thinking: every embedded AI feature follows some version of this data-to-decision pipeline, whether it's a spam filter or a recommendation engine. The feedback loop stage is important pedagogically — it explains why some AI systems seem to 'get better' over time (model retraining on new data) while others remain static until manually updated. This sets up the next slide's comparison with traditional, rule-based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table clarifies a common misconception: that AI is simply 'smarter software.' In reality, the underlying paradigm is fundamentally different — rule-based logic versus statistically learned patterns. Emphasize the 'black box' row: this is why explainability and interpretability are active research areas, and why regulated industries (finance, healthcare) require additional governance for AI-based decisions. Note that most real systems are hybrid — combining deterministic business rules with AI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single most important caution for the rest of the day: hallucination. Every subsequent tool demo and evaluation framework builds on this concept. Be precise in language: generative AI models predict statistically likely continuations of text; they do not have a built-in fact-checking mechanism unless paired with retrieval or search capability (as Perplexity does by design, and as Copilot and Claude can do when web-connected). This distinction becomes important again during the tool comparison and evaluation framework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a map of the broader ecosystem so participants understand today's three tools are representative examples, not the entirety of the market. Mention that tool capabilities and pricing plans change frequently, so participants should always check each vendor's official site for current feature sets. Transition into the next three slides, which walk through generic setup workflows for Copilot, Claude, and Perplexity.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Copilot is positioned primarily as an integrated productivity assistant across Microsoft 365 apps and Windows, alongside a standalone chat experience. Do not claim specific current pricing tiers or feature availability, since these change — direct participants to Microsoft's official Copilot documentation for their organization's specific licensing (consumer, Microsoft 365 Personal/Family, or enterprise/education tenant). For the practical activity: have participants open Copilot (via Edge sidebar, Microsoft 365 app, or copilot.microsoft.com) and ask it to draft a short professional email or summarize a paragraph of text, then note the tone and structure of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is Anthropic's assistant, accessible via claude.ai, mobile apps, and API-based integrations. Avoid stating specific current model names, context window sizes, or pricing — these change over time; direct participants to Anthropic's official documentation and claude.ai for current specifications. For the practical activity: have participants ask Claude to explain a moderately complex topic from their own field in plain language, or to critique a short piece of writing, and observe the depth and structure of reasoning in the response compared to the other two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Perplexity is designed as a search-augmented answer engine: responses are generated using retrieved web sources with inline citations, distinguishing it from a pure conversational LLM. Avoid stating specific current pricing or feature-tier details. For the practical activity: have participants ask Perplexity a question requiring current or factual information (e.g., a recent statistic or news item) and specifically examine the citations provided — this directly previews the AI Output Evaluation Framework, since Perplexity's citation-first design makes source-checking more visible than in most chat assistants.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this is not a 'which tool is best' ranking — each tool has a different design philosophy and complementary strengths. Copilot's advantage is deep integration into existing Microsoft workflows; Claude's advantage is depth of reasoning and handling long or complex documents; Perplexity's advantage is transparent, cited research. Many professionals use more than one tool depending on the task. This comparison sets up the next slide's hands-on activity where participants test this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Allocate roughly 10 minutes total: 5 for the individual/pair exercise, 5 for a few volunteers to share findings. Circulate the room during the exercise to help with any access or setup issues. When debriefing, listen for participants noticing that Perplexity is more likely to include citations, Claude producing more structured/longer analytical answers, and Copilot integrating naturally if they're inside Office apps. Use any hallucination or factual inconsistency someone finds as a direct, memorable bridge into the next slide on prompt engineering and the following slide on the AI Output Evaluation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engineering is a practical skill, not a mystical art — frame it as applied clear communication, similar to writing a good work request to a colleague. Walk through the weak-vs-strong example, highlighting each added element: role, audience, format constraint, specificity. Mention that different tools may respond differently to the same prompting techniques, so experimentation is part of the skill. Optional quick activity: ask participants to rewrite one weak prompt from their own recent AI usage using at least two of the six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CRAFT framework as a repeatable checklist participants can apply to any AI output, not just today's exercises. Connect each letter back to earlier content: Credibility and Accuracy connect to the hallucination discussion; Freshness connects to the knowledge-cutoff limitation inherent in any trained model; Tone &amp; Bias connects to the fact that training data itself can encode societal biases. Suggest participants apply CRAFT to the outputs they generated in the earlier three-tool activity as a quick retrospective check. This framework will be referenced again in the upcoming case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panel of the case study systematically: context, application, data needs, workflow, benefits, and risks/ethics — this structure will repeat for the next two case studies, building a consistent analytical habit. Emphasize the FERPA/privacy point: student work is protected educational data requiring institutional data-governance approval before any AI tool processes it. Stress that instructor oversight is a design requirement, not an optional add-on, particularly for consequential decisions like final grades.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case study intentionally frames AI as a triage/prioritization aid, not an autonomous diagnostic tool — this reflects the actual regulatory and clinical reality in most jurisdictions today. Highlight the demographic performance-gap risk explicitly: this is a well-documented failure mode in healthcare AI literature and is an important equity consideration. Reiterate that clinician sign-off remains non-negotiable. This is a strong slide to pause for open discussion given the gravity of the stakes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service is often the first AI deployment many organizations attempt because the ROI case is visible and queries are high-volume. Stress the escalation-design point: the quality of an AI customer service deployment is often determined less by the AI's raw capability and more by how well escalation thresholds are tuned. Disclosure that a customer is talking to AI (versus a human) is increasingly an ethical and, in some jurisdictions, a legal expectation — mention this explicitly. This closes the three-case-study arc; segue into trend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nine-dimension framework helps participants think about AI trends analytically rather than reactively to headlines. Repeatedly reinforce the caveat printed at the top: none of these are guaranteed outcomes — the goal is structured awareness of the forces at play, not prophecy. Encourage participants to revisit this framework periodically as a personal check-in tool, since the specific facts will change even if the dimensions remain relevant. Recommend the Stanford HAI AI Index Report and OECD.AI as ongoing, credible sources for tracking these dimensions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 this topic with appropriate nuance — avoid both utopian and alarmist framing. Cite the economic consensus carefully: most labor economists studying AI's impact describe task-level augmentation as the dominant near-term pattern, while full job displacement is more role- and sector-specific, and long-run net employment effects remain genuinely debated in the literature. Encourage participants to think of this less as a fixed forecast and more as a call to build durable, complementary skills. This slide bridges directly into the final Day 1 challenge, where they apply everything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day by connecting back to the five central questions posed at the start: Where is AI used, how do we use modern tools, how do we evaluate output, what can we learn from real implementations, and where is AI heading. The one-page AI Solution Proposal challenge is intended as either an end-of-day individual/group exercise or a take-home assignment before Day 2 — clarify which based on your schedule. Close by reading the final mantra aloud and briefly explaining each step: Explore broadly, Use tools hands-on, Question every output, Evaluate systematically (CRAFT), and Apply what you build responsibly, with human oversight intact. Thank participants and preview Day 2 if applicable.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9692640" y="1097280"/>
            <a:ext cx="1097280" cy="-274320"/>
          </a:xfrm>
          <a:prstGeom prst="line">
            <a:avLst/>
          </a:prstGeom>
          <a:noFill/>
          <a:ln w="12700">
            <a:solidFill>
              <a:srgbClr val="0FBFAE">
                <a:alpha val="60000"/>
              </a:srgbClr>
            </a:solidFill>
            <a:prstDash val="solid"/>
          </a:ln>
        </p:spPr>
      </p:sp>
      <p:sp>
        <p:nvSpPr>
          <p:cNvPr id="3" name="Shape 1"/>
          <p:cNvSpPr/>
          <p:nvPr/>
        </p:nvSpPr>
        <p:spPr>
          <a:xfrm>
            <a:off x="9692640" y="1097280"/>
            <a:ext cx="640080" cy="1097280"/>
          </a:xfrm>
          <a:prstGeom prst="line">
            <a:avLst/>
          </a:prstGeom>
          <a:noFill/>
          <a:ln w="12700">
            <a:solidFill>
              <a:srgbClr val="0FBFAE">
                <a:alpha val="60000"/>
              </a:srgbClr>
            </a:solidFill>
            <a:prstDash val="solid"/>
          </a:ln>
        </p:spPr>
      </p:sp>
      <p:sp>
        <p:nvSpPr>
          <p:cNvPr id="4" name="Shape 2"/>
          <p:cNvSpPr/>
          <p:nvPr/>
        </p:nvSpPr>
        <p:spPr>
          <a:xfrm>
            <a:off x="10789920" y="822960"/>
            <a:ext cx="548640" cy="914400"/>
          </a:xfrm>
          <a:prstGeom prst="line">
            <a:avLst/>
          </a:prstGeom>
          <a:noFill/>
          <a:ln w="12700">
            <a:solidFill>
              <a:srgbClr val="0FBFAE">
                <a:alpha val="60000"/>
              </a:srgbClr>
            </a:solidFill>
            <a:prstDash val="solid"/>
          </a:ln>
        </p:spPr>
      </p:sp>
      <p:sp>
        <p:nvSpPr>
          <p:cNvPr id="5" name="Shape 3"/>
          <p:cNvSpPr/>
          <p:nvPr/>
        </p:nvSpPr>
        <p:spPr>
          <a:xfrm>
            <a:off x="11338560" y="1737360"/>
            <a:ext cx="-1005840" cy="457200"/>
          </a:xfrm>
          <a:prstGeom prst="line">
            <a:avLst/>
          </a:prstGeom>
          <a:noFill/>
          <a:ln w="12700">
            <a:solidFill>
              <a:srgbClr val="0FBFAE">
                <a:alpha val="60000"/>
              </a:srgbClr>
            </a:solidFill>
            <a:prstDash val="solid"/>
          </a:ln>
        </p:spPr>
      </p:sp>
      <p:sp>
        <p:nvSpPr>
          <p:cNvPr id="6" name="Shape 4"/>
          <p:cNvSpPr/>
          <p:nvPr/>
        </p:nvSpPr>
        <p:spPr>
          <a:xfrm>
            <a:off x="10332720" y="2194560"/>
            <a:ext cx="-1005840" cy="-274320"/>
          </a:xfrm>
          <a:prstGeom prst="line">
            <a:avLst/>
          </a:prstGeom>
          <a:noFill/>
          <a:ln w="12700">
            <a:solidFill>
              <a:srgbClr val="0FBFAE">
                <a:alpha val="60000"/>
              </a:srgbClr>
            </a:solidFill>
            <a:prstDash val="solid"/>
          </a:ln>
        </p:spPr>
      </p:sp>
      <p:sp>
        <p:nvSpPr>
          <p:cNvPr id="7" name="Shape 5"/>
          <p:cNvSpPr/>
          <p:nvPr/>
        </p:nvSpPr>
        <p:spPr>
          <a:xfrm>
            <a:off x="11338560" y="1737360"/>
            <a:ext cx="182880" cy="1005840"/>
          </a:xfrm>
          <a:prstGeom prst="line">
            <a:avLst/>
          </a:prstGeom>
          <a:noFill/>
          <a:ln w="12700">
            <a:solidFill>
              <a:srgbClr val="0FBFAE">
                <a:alpha val="60000"/>
              </a:srgbClr>
            </a:solidFill>
            <a:prstDash val="solid"/>
          </a:ln>
        </p:spPr>
      </p:sp>
      <p:sp>
        <p:nvSpPr>
          <p:cNvPr id="8" name="Shape 6"/>
          <p:cNvSpPr/>
          <p:nvPr/>
        </p:nvSpPr>
        <p:spPr>
          <a:xfrm>
            <a:off x="9692640" y="1097280"/>
            <a:ext cx="-914400" cy="182880"/>
          </a:xfrm>
          <a:prstGeom prst="line">
            <a:avLst/>
          </a:prstGeom>
          <a:noFill/>
          <a:ln w="12700">
            <a:solidFill>
              <a:srgbClr val="0FBFAE">
                <a:alpha val="60000"/>
              </a:srgbClr>
            </a:solidFill>
            <a:prstDash val="solid"/>
          </a:ln>
        </p:spPr>
      </p:sp>
      <p:sp>
        <p:nvSpPr>
          <p:cNvPr id="9" name="Shape 7"/>
          <p:cNvSpPr/>
          <p:nvPr/>
        </p:nvSpPr>
        <p:spPr>
          <a:xfrm>
            <a:off x="9326880" y="1920240"/>
            <a:ext cx="-548640" cy="-640080"/>
          </a:xfrm>
          <a:prstGeom prst="line">
            <a:avLst/>
          </a:prstGeom>
          <a:noFill/>
          <a:ln w="12700">
            <a:solidFill>
              <a:srgbClr val="0FBFAE">
                <a:alpha val="60000"/>
              </a:srgbClr>
            </a:solidFill>
            <a:prstDash val="solid"/>
          </a:ln>
        </p:spPr>
      </p:sp>
      <p:sp>
        <p:nvSpPr>
          <p:cNvPr id="10" name="Shape 8"/>
          <p:cNvSpPr/>
          <p:nvPr/>
        </p:nvSpPr>
        <p:spPr>
          <a:xfrm>
            <a:off x="9646920" y="1051560"/>
            <a:ext cx="91440" cy="91440"/>
          </a:xfrm>
          <a:prstGeom prst="ellipse">
            <a:avLst/>
          </a:prstGeom>
          <a:solidFill>
            <a:srgbClr val="2FE6D6"/>
          </a:solidFill>
          <a:ln/>
        </p:spPr>
      </p:sp>
      <p:sp>
        <p:nvSpPr>
          <p:cNvPr id="11" name="Shape 9"/>
          <p:cNvSpPr/>
          <p:nvPr/>
        </p:nvSpPr>
        <p:spPr>
          <a:xfrm>
            <a:off x="10744200" y="777240"/>
            <a:ext cx="91440" cy="91440"/>
          </a:xfrm>
          <a:prstGeom prst="ellipse">
            <a:avLst/>
          </a:prstGeom>
          <a:solidFill>
            <a:srgbClr val="2FE6D6"/>
          </a:solidFill>
          <a:ln/>
        </p:spPr>
      </p:sp>
      <p:sp>
        <p:nvSpPr>
          <p:cNvPr id="12" name="Shape 10"/>
          <p:cNvSpPr/>
          <p:nvPr/>
        </p:nvSpPr>
        <p:spPr>
          <a:xfrm>
            <a:off x="11292840" y="1691640"/>
            <a:ext cx="91440" cy="91440"/>
          </a:xfrm>
          <a:prstGeom prst="ellipse">
            <a:avLst/>
          </a:prstGeom>
          <a:solidFill>
            <a:srgbClr val="2FE6D6"/>
          </a:solidFill>
          <a:ln/>
        </p:spPr>
      </p:sp>
      <p:sp>
        <p:nvSpPr>
          <p:cNvPr id="13" name="Shape 11"/>
          <p:cNvSpPr/>
          <p:nvPr/>
        </p:nvSpPr>
        <p:spPr>
          <a:xfrm>
            <a:off x="10287000" y="2148840"/>
            <a:ext cx="91440" cy="91440"/>
          </a:xfrm>
          <a:prstGeom prst="ellipse">
            <a:avLst/>
          </a:prstGeom>
          <a:solidFill>
            <a:srgbClr val="2FE6D6"/>
          </a:solidFill>
          <a:ln/>
        </p:spPr>
      </p:sp>
      <p:sp>
        <p:nvSpPr>
          <p:cNvPr id="14" name="Shape 12"/>
          <p:cNvSpPr/>
          <p:nvPr/>
        </p:nvSpPr>
        <p:spPr>
          <a:xfrm>
            <a:off x="9281160" y="1874520"/>
            <a:ext cx="91440" cy="91440"/>
          </a:xfrm>
          <a:prstGeom prst="ellipse">
            <a:avLst/>
          </a:prstGeom>
          <a:solidFill>
            <a:srgbClr val="2FE6D6"/>
          </a:solidFill>
          <a:ln/>
        </p:spPr>
      </p:sp>
      <p:sp>
        <p:nvSpPr>
          <p:cNvPr id="15" name="Shape 13"/>
          <p:cNvSpPr/>
          <p:nvPr/>
        </p:nvSpPr>
        <p:spPr>
          <a:xfrm>
            <a:off x="11475720" y="2697480"/>
            <a:ext cx="91440" cy="91440"/>
          </a:xfrm>
          <a:prstGeom prst="ellipse">
            <a:avLst/>
          </a:prstGeom>
          <a:solidFill>
            <a:srgbClr val="2FE6D6"/>
          </a:solidFill>
          <a:ln/>
        </p:spPr>
      </p:sp>
      <p:sp>
        <p:nvSpPr>
          <p:cNvPr id="16" name="Shape 14"/>
          <p:cNvSpPr/>
          <p:nvPr/>
        </p:nvSpPr>
        <p:spPr>
          <a:xfrm>
            <a:off x="8732520" y="1234440"/>
            <a:ext cx="91440" cy="91440"/>
          </a:xfrm>
          <a:prstGeom prst="ellipse">
            <a:avLst/>
          </a:prstGeom>
          <a:solidFill>
            <a:srgbClr val="2FE6D6"/>
          </a:solidFill>
          <a:ln/>
        </p:spPr>
      </p:sp>
      <p:sp>
        <p:nvSpPr>
          <p:cNvPr id="17" name="Text 15"/>
          <p:cNvSpPr/>
          <p:nvPr/>
        </p:nvSpPr>
        <p:spPr>
          <a:xfrm>
            <a:off x="822960" y="1371600"/>
            <a:ext cx="7315200" cy="365760"/>
          </a:xfrm>
          <a:prstGeom prst="rect">
            <a:avLst/>
          </a:prstGeom>
          <a:noFill/>
          <a:ln/>
        </p:spPr>
        <p:txBody>
          <a:bodyPr wrap="square" rtlCol="0" anchor="ctr"/>
          <a:lstStyle/>
          <a:p>
            <a:pPr indent="0" marL="0">
              <a:buNone/>
            </a:pPr>
            <a:r>
              <a:rPr lang="en-US" sz="1400" b="1" spc="300" kern="0" dirty="0">
                <a:solidFill>
                  <a:srgbClr val="2FE6D6"/>
                </a:solidFill>
                <a:latin typeface="Calibri" pitchFamily="34" charset="0"/>
                <a:ea typeface="Calibri" pitchFamily="34" charset="-122"/>
                <a:cs typeface="Calibri" pitchFamily="34" charset="-120"/>
              </a:rPr>
              <a:t>DAY 1  ·  TRAINING PROGRAM</a:t>
            </a:r>
            <a:endParaRPr lang="en-US" sz="1400" dirty="0"/>
          </a:p>
        </p:txBody>
      </p:sp>
      <p:sp>
        <p:nvSpPr>
          <p:cNvPr id="18" name="Text 16"/>
          <p:cNvSpPr/>
          <p:nvPr/>
        </p:nvSpPr>
        <p:spPr>
          <a:xfrm>
            <a:off x="822960" y="1874520"/>
            <a:ext cx="10058400" cy="1188720"/>
          </a:xfrm>
          <a:prstGeom prst="rect">
            <a:avLst/>
          </a:prstGeom>
          <a:noFill/>
          <a:ln/>
        </p:spPr>
        <p:txBody>
          <a:bodyPr wrap="square"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ARTIFICIAL INTELLIGENCE</a:t>
            </a:r>
            <a:endParaRPr lang="en-US" sz="5000" dirty="0"/>
          </a:p>
        </p:txBody>
      </p:sp>
      <p:sp>
        <p:nvSpPr>
          <p:cNvPr id="19" name="Text 17"/>
          <p:cNvSpPr/>
          <p:nvPr/>
        </p:nvSpPr>
        <p:spPr>
          <a:xfrm>
            <a:off x="822960" y="2880360"/>
            <a:ext cx="9875520" cy="640080"/>
          </a:xfrm>
          <a:prstGeom prst="rect">
            <a:avLst/>
          </a:prstGeom>
          <a:noFill/>
          <a:ln/>
        </p:spPr>
        <p:txBody>
          <a:bodyPr wrap="square" rtlCol="0" anchor="ctr"/>
          <a:lstStyle/>
          <a:p>
            <a:pPr indent="0" marL="0">
              <a:buNone/>
            </a:pPr>
            <a:r>
              <a:rPr lang="en-US" sz="2000" dirty="0">
                <a:solidFill>
                  <a:srgbClr val="8B98AC"/>
                </a:solidFill>
                <a:latin typeface="Calibri" pitchFamily="34" charset="0"/>
                <a:ea typeface="Calibri" pitchFamily="34" charset="-122"/>
                <a:cs typeface="Calibri" pitchFamily="34" charset="-120"/>
              </a:rPr>
              <a:t>Applications, Tools, Real-World Impact &amp; Future Trends</a:t>
            </a:r>
            <a:endParaRPr lang="en-US" sz="2000" dirty="0"/>
          </a:p>
        </p:txBody>
      </p:sp>
      <p:sp>
        <p:nvSpPr>
          <p:cNvPr id="20" name="Shape 18"/>
          <p:cNvSpPr/>
          <p:nvPr/>
        </p:nvSpPr>
        <p:spPr>
          <a:xfrm>
            <a:off x="822960" y="3611880"/>
            <a:ext cx="1828800" cy="0"/>
          </a:xfrm>
          <a:prstGeom prst="line">
            <a:avLst/>
          </a:prstGeom>
          <a:noFill/>
          <a:ln w="31750">
            <a:solidFill>
              <a:srgbClr val="2FE6D6"/>
            </a:solidFill>
            <a:prstDash val="solid"/>
          </a:ln>
        </p:spPr>
      </p:sp>
      <p:sp>
        <p:nvSpPr>
          <p:cNvPr id="21" name="Text 19"/>
          <p:cNvSpPr/>
          <p:nvPr/>
        </p:nvSpPr>
        <p:spPr>
          <a:xfrm>
            <a:off x="822960" y="3794760"/>
            <a:ext cx="7315200" cy="457200"/>
          </a:xfrm>
          <a:prstGeom prst="rect">
            <a:avLst/>
          </a:prstGeom>
          <a:noFill/>
          <a:ln/>
        </p:spPr>
        <p:txBody>
          <a:bodyPr wrap="square" rtlCol="0" anchor="ctr"/>
          <a:lstStyle/>
          <a:p>
            <a:pPr indent="0" marL="0">
              <a:buNone/>
            </a:pPr>
            <a:r>
              <a:rPr lang="en-US" sz="1500" i="1" dirty="0">
                <a:solidFill>
                  <a:srgbClr val="8B98AC"/>
                </a:solidFill>
                <a:latin typeface="Calibri" pitchFamily="34" charset="0"/>
                <a:ea typeface="Calibri" pitchFamily="34" charset="-122"/>
                <a:cs typeface="Calibri" pitchFamily="34" charset="-120"/>
              </a:rPr>
              <a:t>From Concepts to Real-World Applications</a:t>
            </a:r>
            <a:endParaRPr lang="en-US" sz="1500" dirty="0"/>
          </a:p>
        </p:txBody>
      </p:sp>
      <p:sp>
        <p:nvSpPr>
          <p:cNvPr id="22" name="Text 20"/>
          <p:cNvSpPr/>
          <p:nvPr/>
        </p:nvSpPr>
        <p:spPr>
          <a:xfrm>
            <a:off x="822960" y="5989320"/>
            <a:ext cx="10515600" cy="365760"/>
          </a:xfrm>
          <a:prstGeom prst="rect">
            <a:avLst/>
          </a:prstGeom>
          <a:noFill/>
          <a:ln/>
        </p:spPr>
        <p:txBody>
          <a:bodyPr wrap="square" rtlCol="0" anchor="ctr"/>
          <a:lstStyle/>
          <a:p>
            <a:pPr indent="0" marL="0">
              <a:buNone/>
            </a:pPr>
            <a:r>
              <a:rPr lang="en-US" sz="1250" dirty="0">
                <a:solidFill>
                  <a:srgbClr val="8B98AC"/>
                </a:solidFill>
                <a:latin typeface="Calibri" pitchFamily="34" charset="0"/>
                <a:ea typeface="Calibri" pitchFamily="34" charset="-122"/>
                <a:cs typeface="Calibri" pitchFamily="34" charset="-120"/>
              </a:rPr>
              <a:t>University Students   </a:t>
            </a:r>
            <a:pPr indent="0" marL="0">
              <a:buNone/>
            </a:pPr>
            <a:r>
              <a:rPr lang="en-US" sz="1250" dirty="0">
                <a:solidFill>
                  <a:srgbClr val="0FBFAE"/>
                </a:solidFill>
                <a:latin typeface="Calibri" pitchFamily="34" charset="0"/>
                <a:ea typeface="Calibri" pitchFamily="34" charset="-122"/>
                <a:cs typeface="Calibri" pitchFamily="34" charset="-120"/>
              </a:rPr>
              <a:t>·   </a:t>
            </a:r>
            <a:pPr indent="0" marL="0">
              <a:buNone/>
            </a:pPr>
            <a:r>
              <a:rPr lang="en-US" sz="1250" dirty="0">
                <a:solidFill>
                  <a:srgbClr val="8B98AC"/>
                </a:solidFill>
                <a:latin typeface="Calibri" pitchFamily="34" charset="0"/>
                <a:ea typeface="Calibri" pitchFamily="34" charset="-122"/>
                <a:cs typeface="Calibri" pitchFamily="34" charset="-120"/>
              </a:rPr>
              <a:t>Teachers   </a:t>
            </a:r>
            <a:pPr indent="0" marL="0">
              <a:buNone/>
            </a:pPr>
            <a:r>
              <a:rPr lang="en-US" sz="1250" dirty="0">
                <a:solidFill>
                  <a:srgbClr val="0FBFAE"/>
                </a:solidFill>
                <a:latin typeface="Calibri" pitchFamily="34" charset="0"/>
                <a:ea typeface="Calibri" pitchFamily="34" charset="-122"/>
                <a:cs typeface="Calibri" pitchFamily="34" charset="-120"/>
              </a:rPr>
              <a:t>·   </a:t>
            </a:r>
            <a:pPr indent="0" marL="0">
              <a:buNone/>
            </a:pPr>
            <a:r>
              <a:rPr lang="en-US" sz="1250" dirty="0">
                <a:solidFill>
                  <a:srgbClr val="8B98AC"/>
                </a:solidFill>
                <a:latin typeface="Calibri" pitchFamily="34" charset="0"/>
                <a:ea typeface="Calibri" pitchFamily="34" charset="-122"/>
                <a:cs typeface="Calibri" pitchFamily="34" charset="-120"/>
              </a:rPr>
              <a:t>IT Professionals   </a:t>
            </a:r>
            <a:pPr indent="0" marL="0">
              <a:buNone/>
            </a:pPr>
            <a:r>
              <a:rPr lang="en-US" sz="1250" dirty="0">
                <a:solidFill>
                  <a:srgbClr val="0FBFAE"/>
                </a:solidFill>
                <a:latin typeface="Calibri" pitchFamily="34" charset="0"/>
                <a:ea typeface="Calibri" pitchFamily="34" charset="-122"/>
                <a:cs typeface="Calibri" pitchFamily="34" charset="-120"/>
              </a:rPr>
              <a:t>·   </a:t>
            </a:r>
            <a:pPr indent="0" marL="0">
              <a:buNone/>
            </a:pPr>
            <a:r>
              <a:rPr lang="en-US" sz="1250" dirty="0">
                <a:solidFill>
                  <a:srgbClr val="8B98AC"/>
                </a:solidFill>
                <a:latin typeface="Calibri" pitchFamily="34" charset="0"/>
                <a:ea typeface="Calibri" pitchFamily="34" charset="-122"/>
                <a:cs typeface="Calibri" pitchFamily="34" charset="-120"/>
              </a:rPr>
              <a:t>Trainers   </a:t>
            </a:r>
            <a:pPr indent="0" marL="0">
              <a:buNone/>
            </a:pPr>
            <a:r>
              <a:rPr lang="en-US" sz="1250" dirty="0">
                <a:solidFill>
                  <a:srgbClr val="0FBFAE"/>
                </a:solidFill>
                <a:latin typeface="Calibri" pitchFamily="34" charset="0"/>
                <a:ea typeface="Calibri" pitchFamily="34" charset="-122"/>
                <a:cs typeface="Calibri" pitchFamily="34" charset="-120"/>
              </a:rPr>
              <a:t>·   </a:t>
            </a:r>
            <a:pPr indent="0" marL="0">
              <a:buNone/>
            </a:pPr>
            <a:r>
              <a:rPr lang="en-US" sz="1250" dirty="0">
                <a:solidFill>
                  <a:srgbClr val="8B98AC"/>
                </a:solidFill>
                <a:latin typeface="Calibri" pitchFamily="34" charset="0"/>
                <a:ea typeface="Calibri" pitchFamily="34" charset="-122"/>
                <a:cs typeface="Calibri" pitchFamily="34" charset="-120"/>
              </a:rPr>
              <a:t>Early-Career Technologists</a:t>
            </a:r>
            <a:endParaRPr lang="en-US" sz="1250" dirty="0"/>
          </a:p>
        </p:txBody>
      </p:sp>
      <p:sp>
        <p:nvSpPr>
          <p:cNvPr id="23" name="Text 21"/>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01 / 30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SESSION ROADMAP</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Learning Objectives</a:t>
            </a:r>
            <a:endParaRPr lang="en-US" sz="3000" dirty="0"/>
          </a:p>
        </p:txBody>
      </p:sp>
      <p:sp>
        <p:nvSpPr>
          <p:cNvPr id="4" name="Text 2"/>
          <p:cNvSpPr/>
          <p:nvPr/>
        </p:nvSpPr>
        <p:spPr>
          <a:xfrm>
            <a:off x="548640" y="1417320"/>
            <a:ext cx="9144000" cy="365760"/>
          </a:xfrm>
          <a:prstGeom prst="rect">
            <a:avLst/>
          </a:prstGeom>
          <a:noFill/>
          <a:ln/>
        </p:spPr>
        <p:txBody>
          <a:bodyPr wrap="square" rtlCol="0" anchor="ctr"/>
          <a:lstStyle/>
          <a:p>
            <a:pPr indent="0" marL="0">
              <a:buNone/>
            </a:pPr>
            <a:r>
              <a:rPr lang="en-US" sz="1400" i="1" dirty="0">
                <a:solidFill>
                  <a:srgbClr val="5B6B82"/>
                </a:solidFill>
                <a:latin typeface="Calibri" pitchFamily="34" charset="0"/>
                <a:ea typeface="Calibri" pitchFamily="34" charset="-122"/>
                <a:cs typeface="Calibri" pitchFamily="34" charset="-120"/>
              </a:rPr>
              <a:t>By the end of Day 1, participants will be able to:</a:t>
            </a:r>
            <a:endParaRPr lang="en-US" sz="1400" dirty="0"/>
          </a:p>
        </p:txBody>
      </p:sp>
      <p:sp>
        <p:nvSpPr>
          <p:cNvPr id="5" name="Shape 3"/>
          <p:cNvSpPr/>
          <p:nvPr/>
        </p:nvSpPr>
        <p:spPr>
          <a:xfrm>
            <a:off x="548640" y="1965960"/>
            <a:ext cx="11064240" cy="768096"/>
          </a:xfrm>
          <a:prstGeom prst="roundRect">
            <a:avLst>
              <a:gd name="adj" fmla="val 9524"/>
            </a:avLst>
          </a:prstGeom>
          <a:solidFill>
            <a:srgbClr val="F4F6FA"/>
          </a:solidFill>
          <a:ln w="12700">
            <a:solidFill>
              <a:srgbClr val="D8DEE9"/>
            </a:solidFill>
            <a:prstDash val="solid"/>
          </a:ln>
        </p:spPr>
      </p:sp>
      <p:sp>
        <p:nvSpPr>
          <p:cNvPr id="6" name="Shape 4"/>
          <p:cNvSpPr/>
          <p:nvPr/>
        </p:nvSpPr>
        <p:spPr>
          <a:xfrm>
            <a:off x="850392" y="2057400"/>
            <a:ext cx="585216" cy="585216"/>
          </a:xfrm>
          <a:prstGeom prst="ellipse">
            <a:avLst/>
          </a:prstGeom>
          <a:solidFill>
            <a:srgbClr val="16213E"/>
          </a:solidFill>
          <a:ln/>
        </p:spPr>
      </p:sp>
      <p:sp>
        <p:nvSpPr>
          <p:cNvPr id="7" name="Text 5"/>
          <p:cNvSpPr/>
          <p:nvPr/>
        </p:nvSpPr>
        <p:spPr>
          <a:xfrm>
            <a:off x="850392" y="2057400"/>
            <a:ext cx="585216" cy="585216"/>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1691640" y="2039112"/>
            <a:ext cx="3749040" cy="621792"/>
          </a:xfrm>
          <a:prstGeom prst="rect">
            <a:avLst/>
          </a:prstGeom>
          <a:noFill/>
          <a:ln/>
        </p:spPr>
        <p:txBody>
          <a:bodyPr wrap="square"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Identify Real-World Applications</a:t>
            </a:r>
            <a:endParaRPr lang="en-US" sz="1400" dirty="0"/>
          </a:p>
        </p:txBody>
      </p:sp>
      <p:sp>
        <p:nvSpPr>
          <p:cNvPr id="9" name="Text 7"/>
          <p:cNvSpPr/>
          <p:nvPr/>
        </p:nvSpPr>
        <p:spPr>
          <a:xfrm>
            <a:off x="5577840" y="2039112"/>
            <a:ext cx="5852160" cy="621792"/>
          </a:xfrm>
          <a:prstGeom prst="rect">
            <a:avLst/>
          </a:prstGeom>
          <a:noFill/>
          <a:ln/>
        </p:spPr>
        <p:txBody>
          <a:bodyPr wrap="square" rtlCol="0" anchor="ctr"/>
          <a:lstStyle/>
          <a:p>
            <a:pPr indent="0" marL="0">
              <a:buNone/>
            </a:pPr>
            <a:r>
              <a:rPr lang="en-US" sz="1200" dirty="0">
                <a:solidFill>
                  <a:srgbClr val="5B6B82"/>
                </a:solidFill>
                <a:latin typeface="Calibri" pitchFamily="34" charset="0"/>
                <a:ea typeface="Calibri" pitchFamily="34" charset="-122"/>
                <a:cs typeface="Calibri" pitchFamily="34" charset="-120"/>
              </a:rPr>
              <a:t>Recognize where AI is deployed across education, healthcare, finance, business, agriculture, and software development.</a:t>
            </a:r>
            <a:endParaRPr lang="en-US" sz="1200" dirty="0"/>
          </a:p>
        </p:txBody>
      </p:sp>
      <p:sp>
        <p:nvSpPr>
          <p:cNvPr id="10" name="Shape 8"/>
          <p:cNvSpPr/>
          <p:nvPr/>
        </p:nvSpPr>
        <p:spPr>
          <a:xfrm>
            <a:off x="548640" y="2862072"/>
            <a:ext cx="11064240" cy="768096"/>
          </a:xfrm>
          <a:prstGeom prst="roundRect">
            <a:avLst>
              <a:gd name="adj" fmla="val 9524"/>
            </a:avLst>
          </a:prstGeom>
          <a:solidFill>
            <a:srgbClr val="FFFFFF"/>
          </a:solidFill>
          <a:ln w="12700">
            <a:solidFill>
              <a:srgbClr val="D8DEE9"/>
            </a:solidFill>
            <a:prstDash val="solid"/>
          </a:ln>
        </p:spPr>
      </p:sp>
      <p:sp>
        <p:nvSpPr>
          <p:cNvPr id="11" name="Shape 9"/>
          <p:cNvSpPr/>
          <p:nvPr/>
        </p:nvSpPr>
        <p:spPr>
          <a:xfrm>
            <a:off x="850392" y="2953512"/>
            <a:ext cx="585216" cy="585216"/>
          </a:xfrm>
          <a:prstGeom prst="ellipse">
            <a:avLst/>
          </a:prstGeom>
          <a:solidFill>
            <a:srgbClr val="16213E"/>
          </a:solidFill>
          <a:ln/>
        </p:spPr>
      </p:sp>
      <p:sp>
        <p:nvSpPr>
          <p:cNvPr id="12" name="Text 10"/>
          <p:cNvSpPr/>
          <p:nvPr/>
        </p:nvSpPr>
        <p:spPr>
          <a:xfrm>
            <a:off x="850392" y="2953512"/>
            <a:ext cx="585216" cy="585216"/>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02</a:t>
            </a:r>
            <a:endParaRPr lang="en-US" sz="1400" dirty="0"/>
          </a:p>
        </p:txBody>
      </p:sp>
      <p:sp>
        <p:nvSpPr>
          <p:cNvPr id="13" name="Text 11"/>
          <p:cNvSpPr/>
          <p:nvPr/>
        </p:nvSpPr>
        <p:spPr>
          <a:xfrm>
            <a:off x="1691640" y="2935224"/>
            <a:ext cx="3749040" cy="621792"/>
          </a:xfrm>
          <a:prstGeom prst="rect">
            <a:avLst/>
          </a:prstGeom>
          <a:noFill/>
          <a:ln/>
        </p:spPr>
        <p:txBody>
          <a:bodyPr wrap="square"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Use Modern AI Tools</a:t>
            </a:r>
            <a:endParaRPr lang="en-US" sz="1400" dirty="0"/>
          </a:p>
        </p:txBody>
      </p:sp>
      <p:sp>
        <p:nvSpPr>
          <p:cNvPr id="14" name="Text 12"/>
          <p:cNvSpPr/>
          <p:nvPr/>
        </p:nvSpPr>
        <p:spPr>
          <a:xfrm>
            <a:off x="5577840" y="2935224"/>
            <a:ext cx="5852160" cy="621792"/>
          </a:xfrm>
          <a:prstGeom prst="rect">
            <a:avLst/>
          </a:prstGeom>
          <a:noFill/>
          <a:ln/>
        </p:spPr>
        <p:txBody>
          <a:bodyPr wrap="square" rtlCol="0" anchor="ctr"/>
          <a:lstStyle/>
          <a:p>
            <a:pPr indent="0" marL="0">
              <a:buNone/>
            </a:pPr>
            <a:r>
              <a:rPr lang="en-US" sz="1200" dirty="0">
                <a:solidFill>
                  <a:srgbClr val="5B6B82"/>
                </a:solidFill>
                <a:latin typeface="Calibri" pitchFamily="34" charset="0"/>
                <a:ea typeface="Calibri" pitchFamily="34" charset="-122"/>
                <a:cs typeface="Calibri" pitchFamily="34" charset="-120"/>
              </a:rPr>
              <a:t>Set up and practically explore Microsoft Copilot, Claude, and Perplexity for real tasks.</a:t>
            </a:r>
            <a:endParaRPr lang="en-US" sz="1200" dirty="0"/>
          </a:p>
        </p:txBody>
      </p:sp>
      <p:sp>
        <p:nvSpPr>
          <p:cNvPr id="15" name="Shape 13"/>
          <p:cNvSpPr/>
          <p:nvPr/>
        </p:nvSpPr>
        <p:spPr>
          <a:xfrm>
            <a:off x="548640" y="3758184"/>
            <a:ext cx="11064240" cy="768096"/>
          </a:xfrm>
          <a:prstGeom prst="roundRect">
            <a:avLst>
              <a:gd name="adj" fmla="val 9524"/>
            </a:avLst>
          </a:prstGeom>
          <a:solidFill>
            <a:srgbClr val="F4F6FA"/>
          </a:solidFill>
          <a:ln w="12700">
            <a:solidFill>
              <a:srgbClr val="D8DEE9"/>
            </a:solidFill>
            <a:prstDash val="solid"/>
          </a:ln>
        </p:spPr>
      </p:sp>
      <p:sp>
        <p:nvSpPr>
          <p:cNvPr id="16" name="Shape 14"/>
          <p:cNvSpPr/>
          <p:nvPr/>
        </p:nvSpPr>
        <p:spPr>
          <a:xfrm>
            <a:off x="850392" y="3849624"/>
            <a:ext cx="585216" cy="585216"/>
          </a:xfrm>
          <a:prstGeom prst="ellipse">
            <a:avLst/>
          </a:prstGeom>
          <a:solidFill>
            <a:srgbClr val="16213E"/>
          </a:solidFill>
          <a:ln/>
        </p:spPr>
      </p:sp>
      <p:sp>
        <p:nvSpPr>
          <p:cNvPr id="17" name="Text 15"/>
          <p:cNvSpPr/>
          <p:nvPr/>
        </p:nvSpPr>
        <p:spPr>
          <a:xfrm>
            <a:off x="850392" y="3849624"/>
            <a:ext cx="585216" cy="585216"/>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03</a:t>
            </a:r>
            <a:endParaRPr lang="en-US" sz="1400" dirty="0"/>
          </a:p>
        </p:txBody>
      </p:sp>
      <p:sp>
        <p:nvSpPr>
          <p:cNvPr id="18" name="Text 16"/>
          <p:cNvSpPr/>
          <p:nvPr/>
        </p:nvSpPr>
        <p:spPr>
          <a:xfrm>
            <a:off x="1691640" y="3831336"/>
            <a:ext cx="3749040" cy="621792"/>
          </a:xfrm>
          <a:prstGeom prst="rect">
            <a:avLst/>
          </a:prstGeom>
          <a:noFill/>
          <a:ln/>
        </p:spPr>
        <p:txBody>
          <a:bodyPr wrap="square"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Critically Evaluate AI Output</a:t>
            </a:r>
            <a:endParaRPr lang="en-US" sz="1400" dirty="0"/>
          </a:p>
        </p:txBody>
      </p:sp>
      <p:sp>
        <p:nvSpPr>
          <p:cNvPr id="19" name="Text 17"/>
          <p:cNvSpPr/>
          <p:nvPr/>
        </p:nvSpPr>
        <p:spPr>
          <a:xfrm>
            <a:off x="5577840" y="3831336"/>
            <a:ext cx="5852160" cy="621792"/>
          </a:xfrm>
          <a:prstGeom prst="rect">
            <a:avLst/>
          </a:prstGeom>
          <a:noFill/>
          <a:ln/>
        </p:spPr>
        <p:txBody>
          <a:bodyPr wrap="square" rtlCol="0" anchor="ctr"/>
          <a:lstStyle/>
          <a:p>
            <a:pPr indent="0" marL="0">
              <a:buNone/>
            </a:pPr>
            <a:r>
              <a:rPr lang="en-US" sz="1200" dirty="0">
                <a:solidFill>
                  <a:srgbClr val="5B6B82"/>
                </a:solidFill>
                <a:latin typeface="Calibri" pitchFamily="34" charset="0"/>
                <a:ea typeface="Calibri" pitchFamily="34" charset="-122"/>
                <a:cs typeface="Calibri" pitchFamily="34" charset="-120"/>
              </a:rPr>
              <a:t>Apply a structured framework to judge accuracy, bias, and reliability of AI-generated content.</a:t>
            </a:r>
            <a:endParaRPr lang="en-US" sz="1200" dirty="0"/>
          </a:p>
        </p:txBody>
      </p:sp>
      <p:sp>
        <p:nvSpPr>
          <p:cNvPr id="20" name="Shape 18"/>
          <p:cNvSpPr/>
          <p:nvPr/>
        </p:nvSpPr>
        <p:spPr>
          <a:xfrm>
            <a:off x="548640" y="4654296"/>
            <a:ext cx="11064240" cy="768096"/>
          </a:xfrm>
          <a:prstGeom prst="roundRect">
            <a:avLst>
              <a:gd name="adj" fmla="val 9524"/>
            </a:avLst>
          </a:prstGeom>
          <a:solidFill>
            <a:srgbClr val="FFFFFF"/>
          </a:solidFill>
          <a:ln w="12700">
            <a:solidFill>
              <a:srgbClr val="D8DEE9"/>
            </a:solidFill>
            <a:prstDash val="solid"/>
          </a:ln>
        </p:spPr>
      </p:sp>
      <p:sp>
        <p:nvSpPr>
          <p:cNvPr id="21" name="Shape 19"/>
          <p:cNvSpPr/>
          <p:nvPr/>
        </p:nvSpPr>
        <p:spPr>
          <a:xfrm>
            <a:off x="850392" y="4745736"/>
            <a:ext cx="585216" cy="585216"/>
          </a:xfrm>
          <a:prstGeom prst="ellipse">
            <a:avLst/>
          </a:prstGeom>
          <a:solidFill>
            <a:srgbClr val="16213E"/>
          </a:solidFill>
          <a:ln/>
        </p:spPr>
      </p:sp>
      <p:sp>
        <p:nvSpPr>
          <p:cNvPr id="22" name="Text 20"/>
          <p:cNvSpPr/>
          <p:nvPr/>
        </p:nvSpPr>
        <p:spPr>
          <a:xfrm>
            <a:off x="850392" y="4745736"/>
            <a:ext cx="585216" cy="585216"/>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04</a:t>
            </a:r>
            <a:endParaRPr lang="en-US" sz="1400" dirty="0"/>
          </a:p>
        </p:txBody>
      </p:sp>
      <p:sp>
        <p:nvSpPr>
          <p:cNvPr id="23" name="Text 21"/>
          <p:cNvSpPr/>
          <p:nvPr/>
        </p:nvSpPr>
        <p:spPr>
          <a:xfrm>
            <a:off x="1691640" y="4727448"/>
            <a:ext cx="3749040" cy="621792"/>
          </a:xfrm>
          <a:prstGeom prst="rect">
            <a:avLst/>
          </a:prstGeom>
          <a:noFill/>
          <a:ln/>
        </p:spPr>
        <p:txBody>
          <a:bodyPr wrap="square"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Learn From Case Studies</a:t>
            </a:r>
            <a:endParaRPr lang="en-US" sz="1400" dirty="0"/>
          </a:p>
        </p:txBody>
      </p:sp>
      <p:sp>
        <p:nvSpPr>
          <p:cNvPr id="24" name="Text 22"/>
          <p:cNvSpPr/>
          <p:nvPr/>
        </p:nvSpPr>
        <p:spPr>
          <a:xfrm>
            <a:off x="5577840" y="4727448"/>
            <a:ext cx="5852160" cy="621792"/>
          </a:xfrm>
          <a:prstGeom prst="rect">
            <a:avLst/>
          </a:prstGeom>
          <a:noFill/>
          <a:ln/>
        </p:spPr>
        <p:txBody>
          <a:bodyPr wrap="square" rtlCol="0" anchor="ctr"/>
          <a:lstStyle/>
          <a:p>
            <a:pPr indent="0" marL="0">
              <a:buNone/>
            </a:pPr>
            <a:r>
              <a:rPr lang="en-US" sz="1200" dirty="0">
                <a:solidFill>
                  <a:srgbClr val="5B6B82"/>
                </a:solidFill>
                <a:latin typeface="Calibri" pitchFamily="34" charset="0"/>
                <a:ea typeface="Calibri" pitchFamily="34" charset="-122"/>
                <a:cs typeface="Calibri" pitchFamily="34" charset="-120"/>
              </a:rPr>
              <a:t>Analyze real implementation patterns, benefits, limitations, and ethical risks in three sectors.</a:t>
            </a:r>
            <a:endParaRPr lang="en-US" sz="1200" dirty="0"/>
          </a:p>
        </p:txBody>
      </p:sp>
      <p:sp>
        <p:nvSpPr>
          <p:cNvPr id="25" name="Shape 23"/>
          <p:cNvSpPr/>
          <p:nvPr/>
        </p:nvSpPr>
        <p:spPr>
          <a:xfrm>
            <a:off x="548640" y="5550408"/>
            <a:ext cx="11064240" cy="768096"/>
          </a:xfrm>
          <a:prstGeom prst="roundRect">
            <a:avLst>
              <a:gd name="adj" fmla="val 9524"/>
            </a:avLst>
          </a:prstGeom>
          <a:solidFill>
            <a:srgbClr val="F4F6FA"/>
          </a:solidFill>
          <a:ln w="12700">
            <a:solidFill>
              <a:srgbClr val="D8DEE9"/>
            </a:solidFill>
            <a:prstDash val="solid"/>
          </a:ln>
        </p:spPr>
      </p:sp>
      <p:sp>
        <p:nvSpPr>
          <p:cNvPr id="26" name="Shape 24"/>
          <p:cNvSpPr/>
          <p:nvPr/>
        </p:nvSpPr>
        <p:spPr>
          <a:xfrm>
            <a:off x="850392" y="5641848"/>
            <a:ext cx="585216" cy="585216"/>
          </a:xfrm>
          <a:prstGeom prst="ellipse">
            <a:avLst/>
          </a:prstGeom>
          <a:solidFill>
            <a:srgbClr val="16213E"/>
          </a:solidFill>
          <a:ln/>
        </p:spPr>
      </p:sp>
      <p:sp>
        <p:nvSpPr>
          <p:cNvPr id="27" name="Text 25"/>
          <p:cNvSpPr/>
          <p:nvPr/>
        </p:nvSpPr>
        <p:spPr>
          <a:xfrm>
            <a:off x="850392" y="5641848"/>
            <a:ext cx="585216" cy="585216"/>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05</a:t>
            </a:r>
            <a:endParaRPr lang="en-US" sz="1400" dirty="0"/>
          </a:p>
        </p:txBody>
      </p:sp>
      <p:sp>
        <p:nvSpPr>
          <p:cNvPr id="28" name="Text 26"/>
          <p:cNvSpPr/>
          <p:nvPr/>
        </p:nvSpPr>
        <p:spPr>
          <a:xfrm>
            <a:off x="1691640" y="5623560"/>
            <a:ext cx="3749040" cy="621792"/>
          </a:xfrm>
          <a:prstGeom prst="rect">
            <a:avLst/>
          </a:prstGeom>
          <a:noFill/>
          <a:ln/>
        </p:spPr>
        <p:txBody>
          <a:bodyPr wrap="square"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Analyze Emerging Trends</a:t>
            </a:r>
            <a:endParaRPr lang="en-US" sz="1400" dirty="0"/>
          </a:p>
        </p:txBody>
      </p:sp>
      <p:sp>
        <p:nvSpPr>
          <p:cNvPr id="29" name="Text 27"/>
          <p:cNvSpPr/>
          <p:nvPr/>
        </p:nvSpPr>
        <p:spPr>
          <a:xfrm>
            <a:off x="5577840" y="5623560"/>
            <a:ext cx="5852160" cy="621792"/>
          </a:xfrm>
          <a:prstGeom prst="rect">
            <a:avLst/>
          </a:prstGeom>
          <a:noFill/>
          <a:ln/>
        </p:spPr>
        <p:txBody>
          <a:bodyPr wrap="square" rtlCol="0" anchor="ctr"/>
          <a:lstStyle/>
          <a:p>
            <a:pPr indent="0" marL="0">
              <a:buNone/>
            </a:pPr>
            <a:r>
              <a:rPr lang="en-US" sz="1200" dirty="0">
                <a:solidFill>
                  <a:srgbClr val="5B6B82"/>
                </a:solidFill>
                <a:latin typeface="Calibri" pitchFamily="34" charset="0"/>
                <a:ea typeface="Calibri" pitchFamily="34" charset="-122"/>
                <a:cs typeface="Calibri" pitchFamily="34" charset="-120"/>
              </a:rPr>
              <a:t>Assess where AI is heading using maturity, adoption, workforce, cost, and governance dimensions.</a:t>
            </a:r>
            <a:endParaRPr lang="en-US" sz="1200" dirty="0"/>
          </a:p>
        </p:txBody>
      </p:sp>
      <p:sp>
        <p:nvSpPr>
          <p:cNvPr id="30" name="Text 28"/>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02 / 30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THE INFLECTION POINT</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Why Artificial Intelligence Matters Now</a:t>
            </a:r>
            <a:endParaRPr lang="en-US" sz="3000" dirty="0"/>
          </a:p>
        </p:txBody>
      </p:sp>
      <p:sp>
        <p:nvSpPr>
          <p:cNvPr id="4" name="Text 2"/>
          <p:cNvSpPr/>
          <p:nvPr/>
        </p:nvSpPr>
        <p:spPr>
          <a:xfrm>
            <a:off x="548640" y="1508760"/>
            <a:ext cx="6309360" cy="4663440"/>
          </a:xfrm>
          <a:prstGeom prst="rect">
            <a:avLst/>
          </a:prstGeom>
          <a:noFill/>
          <a:ln/>
        </p:spPr>
        <p:txBody>
          <a:bodyPr wrap="square" rtlCol="0" anchor="t"/>
          <a:lstStyle/>
          <a:p>
            <a:pPr marL="228600" indent="-2286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Generative AI models became broadly accessible to consumers and enterprises starting in 2022–2023, shifting AI from specialist tooling to mainstream software.</a:t>
            </a:r>
            <a:endParaRPr lang="en-US" sz="1350" dirty="0"/>
          </a:p>
          <a:p>
            <a:pPr marL="228600" indent="-2286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Large organizations across finance, healthcare, education, and technology are actively piloting or deploying AI-assisted workflows — adoption levels vary widely by sector and function.</a:t>
            </a:r>
            <a:endParaRPr lang="en-US" sz="1350" dirty="0"/>
          </a:p>
          <a:p>
            <a:pPr marL="228600" indent="-2286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AI literacy is increasingly expected as a baseline professional skill, similar to spreadsheet or internet literacy a generation ago.</a:t>
            </a:r>
            <a:endParaRPr lang="en-US" sz="1350" dirty="0"/>
          </a:p>
          <a:p>
            <a:pPr marL="228600" indent="-2286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Employers report using AI tools for drafting, coding assistance, research, and data analysis — though the extent of measurable productivity gains varies by task and is still an active area of study.</a:t>
            </a:r>
            <a:endParaRPr lang="en-US" sz="1350" dirty="0"/>
          </a:p>
          <a:p>
            <a:pPr marL="228600" indent="-2286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Understanding both capability and limitation is essential — uncritical adoption creates risk; uncritical rejection creates competitive disadvantage.</a:t>
            </a:r>
            <a:endParaRPr lang="en-US" sz="1350" dirty="0"/>
          </a:p>
        </p:txBody>
      </p:sp>
      <p:sp>
        <p:nvSpPr>
          <p:cNvPr id="5" name="Shape 3"/>
          <p:cNvSpPr/>
          <p:nvPr/>
        </p:nvSpPr>
        <p:spPr>
          <a:xfrm>
            <a:off x="7178040" y="1508760"/>
            <a:ext cx="4480560" cy="4663440"/>
          </a:xfrm>
          <a:prstGeom prst="roundRect">
            <a:avLst>
              <a:gd name="adj" fmla="val 1633"/>
            </a:avLst>
          </a:prstGeom>
          <a:solidFill>
            <a:srgbClr val="16213E"/>
          </a:solidFill>
          <a:ln w="12700">
            <a:solidFill>
              <a:srgbClr val="D8DEE9"/>
            </a:solidFill>
            <a:prstDash val="solid"/>
          </a:ln>
        </p:spPr>
      </p:sp>
      <p:sp>
        <p:nvSpPr>
          <p:cNvPr id="6" name="Text 4"/>
          <p:cNvSpPr/>
          <p:nvPr/>
        </p:nvSpPr>
        <p:spPr>
          <a:xfrm>
            <a:off x="7498080" y="1783080"/>
            <a:ext cx="3840480" cy="274320"/>
          </a:xfrm>
          <a:prstGeom prst="rect">
            <a:avLst/>
          </a:prstGeom>
          <a:noFill/>
          <a:ln/>
        </p:spPr>
        <p:txBody>
          <a:bodyPr wrap="square" rtlCol="0" anchor="ctr"/>
          <a:lstStyle/>
          <a:p>
            <a:pPr indent="0" marL="0">
              <a:buNone/>
            </a:pPr>
            <a:r>
              <a:rPr lang="en-US" sz="1100" b="1" spc="200" kern="0" dirty="0">
                <a:solidFill>
                  <a:srgbClr val="2FE6D6"/>
                </a:solidFill>
                <a:latin typeface="Calibri" pitchFamily="34" charset="0"/>
                <a:ea typeface="Calibri" pitchFamily="34" charset="-122"/>
                <a:cs typeface="Calibri" pitchFamily="34" charset="-120"/>
              </a:rPr>
              <a:t>ADOPTION SIGNAL</a:t>
            </a:r>
            <a:endParaRPr lang="en-US" sz="1100" dirty="0"/>
          </a:p>
        </p:txBody>
      </p:sp>
      <p:sp>
        <p:nvSpPr>
          <p:cNvPr id="7" name="Text 5"/>
          <p:cNvSpPr/>
          <p:nvPr/>
        </p:nvSpPr>
        <p:spPr>
          <a:xfrm>
            <a:off x="7498080" y="2084832"/>
            <a:ext cx="3840480" cy="548640"/>
          </a:xfrm>
          <a:prstGeom prst="rect">
            <a:avLst/>
          </a:prstGeom>
          <a:noFill/>
          <a:ln/>
        </p:spPr>
        <p:txBody>
          <a:bodyPr wrap="square" rtlCol="0" anchor="ctr"/>
          <a:lstStyle/>
          <a:p>
            <a:pPr indent="0" marL="0">
              <a:buNone/>
            </a:pPr>
            <a:r>
              <a:rPr lang="en-US" sz="1150" dirty="0">
                <a:solidFill>
                  <a:srgbClr val="C7D0E0"/>
                </a:solidFill>
                <a:latin typeface="Calibri" pitchFamily="34" charset="0"/>
                <a:ea typeface="Calibri" pitchFamily="34" charset="-122"/>
                <a:cs typeface="Calibri" pitchFamily="34" charset="-120"/>
              </a:rPr>
              <a:t>Organizations reporting use of AI in at least one business function</a:t>
            </a:r>
            <a:endParaRPr lang="en-US" sz="1150" dirty="0"/>
          </a:p>
        </p:txBody>
      </p:sp>
      <p:sp>
        <p:nvSpPr>
          <p:cNvPr id="8" name="Shape 6"/>
          <p:cNvSpPr/>
          <p:nvPr/>
        </p:nvSpPr>
        <p:spPr>
          <a:xfrm>
            <a:off x="7635240" y="4983480"/>
            <a:ext cx="502920" cy="822960"/>
          </a:xfrm>
          <a:prstGeom prst="roundRect">
            <a:avLst>
              <a:gd name="adj" fmla="val 5455"/>
            </a:avLst>
          </a:prstGeom>
          <a:solidFill>
            <a:srgbClr val="3A5580"/>
          </a:solidFill>
          <a:ln/>
        </p:spPr>
      </p:sp>
      <p:sp>
        <p:nvSpPr>
          <p:cNvPr id="9" name="Text 7"/>
          <p:cNvSpPr/>
          <p:nvPr/>
        </p:nvSpPr>
        <p:spPr>
          <a:xfrm>
            <a:off x="7589520" y="5852160"/>
            <a:ext cx="594360" cy="228600"/>
          </a:xfrm>
          <a:prstGeom prst="rect">
            <a:avLst/>
          </a:prstGeom>
          <a:noFill/>
          <a:ln/>
        </p:spPr>
        <p:txBody>
          <a:bodyPr wrap="square" rtlCol="0" anchor="ctr"/>
          <a:lstStyle/>
          <a:p>
            <a:pPr algn="ctr" indent="0" marL="0">
              <a:buNone/>
            </a:pPr>
            <a:r>
              <a:rPr lang="en-US" sz="900" dirty="0">
                <a:solidFill>
                  <a:srgbClr val="C7D0E0"/>
                </a:solidFill>
                <a:latin typeface="Calibri" pitchFamily="34" charset="0"/>
                <a:ea typeface="Calibri" pitchFamily="34" charset="-122"/>
                <a:cs typeface="Calibri" pitchFamily="34" charset="-120"/>
              </a:rPr>
              <a:t>'19</a:t>
            </a:r>
            <a:endParaRPr lang="en-US" sz="900" dirty="0"/>
          </a:p>
        </p:txBody>
      </p:sp>
      <p:sp>
        <p:nvSpPr>
          <p:cNvPr id="10" name="Shape 8"/>
          <p:cNvSpPr/>
          <p:nvPr/>
        </p:nvSpPr>
        <p:spPr>
          <a:xfrm>
            <a:off x="8394192" y="4617720"/>
            <a:ext cx="502920" cy="1188720"/>
          </a:xfrm>
          <a:prstGeom prst="roundRect">
            <a:avLst>
              <a:gd name="adj" fmla="val 5455"/>
            </a:avLst>
          </a:prstGeom>
          <a:solidFill>
            <a:srgbClr val="3A5580"/>
          </a:solidFill>
          <a:ln/>
        </p:spPr>
      </p:sp>
      <p:sp>
        <p:nvSpPr>
          <p:cNvPr id="11" name="Text 9"/>
          <p:cNvSpPr/>
          <p:nvPr/>
        </p:nvSpPr>
        <p:spPr>
          <a:xfrm>
            <a:off x="8348472" y="5852160"/>
            <a:ext cx="594360" cy="228600"/>
          </a:xfrm>
          <a:prstGeom prst="rect">
            <a:avLst/>
          </a:prstGeom>
          <a:noFill/>
          <a:ln/>
        </p:spPr>
        <p:txBody>
          <a:bodyPr wrap="square" rtlCol="0" anchor="ctr"/>
          <a:lstStyle/>
          <a:p>
            <a:pPr algn="ctr" indent="0" marL="0">
              <a:buNone/>
            </a:pPr>
            <a:r>
              <a:rPr lang="en-US" sz="900" dirty="0">
                <a:solidFill>
                  <a:srgbClr val="C7D0E0"/>
                </a:solidFill>
                <a:latin typeface="Calibri" pitchFamily="34" charset="0"/>
                <a:ea typeface="Calibri" pitchFamily="34" charset="-122"/>
                <a:cs typeface="Calibri" pitchFamily="34" charset="-120"/>
              </a:rPr>
              <a:t>'21</a:t>
            </a:r>
            <a:endParaRPr lang="en-US" sz="900" dirty="0"/>
          </a:p>
        </p:txBody>
      </p:sp>
      <p:sp>
        <p:nvSpPr>
          <p:cNvPr id="12" name="Shape 10"/>
          <p:cNvSpPr/>
          <p:nvPr/>
        </p:nvSpPr>
        <p:spPr>
          <a:xfrm>
            <a:off x="9153144" y="3977640"/>
            <a:ext cx="502920" cy="1828800"/>
          </a:xfrm>
          <a:prstGeom prst="roundRect">
            <a:avLst>
              <a:gd name="adj" fmla="val 5455"/>
            </a:avLst>
          </a:prstGeom>
          <a:solidFill>
            <a:srgbClr val="3A5580"/>
          </a:solidFill>
          <a:ln/>
        </p:spPr>
      </p:sp>
      <p:sp>
        <p:nvSpPr>
          <p:cNvPr id="13" name="Text 11"/>
          <p:cNvSpPr/>
          <p:nvPr/>
        </p:nvSpPr>
        <p:spPr>
          <a:xfrm>
            <a:off x="9107424" y="5852160"/>
            <a:ext cx="594360" cy="228600"/>
          </a:xfrm>
          <a:prstGeom prst="rect">
            <a:avLst/>
          </a:prstGeom>
          <a:noFill/>
          <a:ln/>
        </p:spPr>
        <p:txBody>
          <a:bodyPr wrap="square" rtlCol="0" anchor="ctr"/>
          <a:lstStyle/>
          <a:p>
            <a:pPr algn="ctr" indent="0" marL="0">
              <a:buNone/>
            </a:pPr>
            <a:r>
              <a:rPr lang="en-US" sz="900" dirty="0">
                <a:solidFill>
                  <a:srgbClr val="C7D0E0"/>
                </a:solidFill>
                <a:latin typeface="Calibri" pitchFamily="34" charset="0"/>
                <a:ea typeface="Calibri" pitchFamily="34" charset="-122"/>
                <a:cs typeface="Calibri" pitchFamily="34" charset="-120"/>
              </a:rPr>
              <a:t>'22</a:t>
            </a:r>
            <a:endParaRPr lang="en-US" sz="900" dirty="0"/>
          </a:p>
        </p:txBody>
      </p:sp>
      <p:sp>
        <p:nvSpPr>
          <p:cNvPr id="14" name="Shape 12"/>
          <p:cNvSpPr/>
          <p:nvPr/>
        </p:nvSpPr>
        <p:spPr>
          <a:xfrm>
            <a:off x="9912096" y="3154680"/>
            <a:ext cx="502920" cy="2651760"/>
          </a:xfrm>
          <a:prstGeom prst="roundRect">
            <a:avLst>
              <a:gd name="adj" fmla="val 5455"/>
            </a:avLst>
          </a:prstGeom>
          <a:solidFill>
            <a:srgbClr val="3A5580"/>
          </a:solidFill>
          <a:ln/>
        </p:spPr>
      </p:sp>
      <p:sp>
        <p:nvSpPr>
          <p:cNvPr id="15" name="Text 13"/>
          <p:cNvSpPr/>
          <p:nvPr/>
        </p:nvSpPr>
        <p:spPr>
          <a:xfrm>
            <a:off x="9866376" y="5852160"/>
            <a:ext cx="594360" cy="228600"/>
          </a:xfrm>
          <a:prstGeom prst="rect">
            <a:avLst/>
          </a:prstGeom>
          <a:noFill/>
          <a:ln/>
        </p:spPr>
        <p:txBody>
          <a:bodyPr wrap="square" rtlCol="0" anchor="ctr"/>
          <a:lstStyle/>
          <a:p>
            <a:pPr algn="ctr" indent="0" marL="0">
              <a:buNone/>
            </a:pPr>
            <a:r>
              <a:rPr lang="en-US" sz="900" dirty="0">
                <a:solidFill>
                  <a:srgbClr val="C7D0E0"/>
                </a:solidFill>
                <a:latin typeface="Calibri" pitchFamily="34" charset="0"/>
                <a:ea typeface="Calibri" pitchFamily="34" charset="-122"/>
                <a:cs typeface="Calibri" pitchFamily="34" charset="-120"/>
              </a:rPr>
              <a:t>'23</a:t>
            </a:r>
            <a:endParaRPr lang="en-US" sz="900" dirty="0"/>
          </a:p>
        </p:txBody>
      </p:sp>
      <p:sp>
        <p:nvSpPr>
          <p:cNvPr id="16" name="Shape 14"/>
          <p:cNvSpPr/>
          <p:nvPr/>
        </p:nvSpPr>
        <p:spPr>
          <a:xfrm>
            <a:off x="10671048" y="2514600"/>
            <a:ext cx="502920" cy="3291840"/>
          </a:xfrm>
          <a:prstGeom prst="roundRect">
            <a:avLst>
              <a:gd name="adj" fmla="val 5455"/>
            </a:avLst>
          </a:prstGeom>
          <a:solidFill>
            <a:srgbClr val="2FE6D6"/>
          </a:solidFill>
          <a:ln/>
        </p:spPr>
      </p:sp>
      <p:sp>
        <p:nvSpPr>
          <p:cNvPr id="17" name="Text 15"/>
          <p:cNvSpPr/>
          <p:nvPr/>
        </p:nvSpPr>
        <p:spPr>
          <a:xfrm>
            <a:off x="10625328" y="5852160"/>
            <a:ext cx="594360" cy="228600"/>
          </a:xfrm>
          <a:prstGeom prst="rect">
            <a:avLst/>
          </a:prstGeom>
          <a:noFill/>
          <a:ln/>
        </p:spPr>
        <p:txBody>
          <a:bodyPr wrap="square" rtlCol="0" anchor="ctr"/>
          <a:lstStyle/>
          <a:p>
            <a:pPr algn="ctr" indent="0" marL="0">
              <a:buNone/>
            </a:pPr>
            <a:r>
              <a:rPr lang="en-US" sz="900" dirty="0">
                <a:solidFill>
                  <a:srgbClr val="C7D0E0"/>
                </a:solidFill>
                <a:latin typeface="Calibri" pitchFamily="34" charset="0"/>
                <a:ea typeface="Calibri" pitchFamily="34" charset="-122"/>
                <a:cs typeface="Calibri" pitchFamily="34" charset="-120"/>
              </a:rPr>
              <a:t>'25</a:t>
            </a:r>
            <a:endParaRPr lang="en-US" sz="900" dirty="0"/>
          </a:p>
        </p:txBody>
      </p:sp>
      <p:sp>
        <p:nvSpPr>
          <p:cNvPr id="18" name="Text 16"/>
          <p:cNvSpPr/>
          <p:nvPr/>
        </p:nvSpPr>
        <p:spPr>
          <a:xfrm>
            <a:off x="7498080" y="6172200"/>
            <a:ext cx="3840480" cy="457200"/>
          </a:xfrm>
          <a:prstGeom prst="rect">
            <a:avLst/>
          </a:prstGeom>
          <a:noFill/>
          <a:ln/>
        </p:spPr>
        <p:txBody>
          <a:bodyPr wrap="square" rtlCol="0" anchor="ctr"/>
          <a:lstStyle/>
          <a:p>
            <a:pPr indent="0" marL="0">
              <a:buNone/>
            </a:pPr>
            <a:r>
              <a:rPr lang="en-US" sz="850" i="1" dirty="0">
                <a:solidFill>
                  <a:srgbClr val="8FA3C4"/>
                </a:solidFill>
                <a:latin typeface="Calibri" pitchFamily="34" charset="0"/>
                <a:ea typeface="Calibri" pitchFamily="34" charset="-122"/>
                <a:cs typeface="Calibri" pitchFamily="34" charset="-120"/>
              </a:rPr>
              <a:t>Illustrative trend, not a specific dataset — verify current figures via IMF, McKinsey, or Stanford HAI AI Index before citing.</a:t>
            </a:r>
            <a:endParaRPr lang="en-US" sz="850" dirty="0"/>
          </a:p>
        </p:txBody>
      </p:sp>
      <p:sp>
        <p:nvSpPr>
          <p:cNvPr id="19" name="Text 17"/>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03 / 30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FOUNDATIONAL CONCEPT</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What Is Artificial Intelligence?</a:t>
            </a:r>
            <a:endParaRPr lang="en-US" sz="3000" dirty="0"/>
          </a:p>
        </p:txBody>
      </p:sp>
      <p:sp>
        <p:nvSpPr>
          <p:cNvPr id="4" name="Text 2"/>
          <p:cNvSpPr/>
          <p:nvPr/>
        </p:nvSpPr>
        <p:spPr>
          <a:xfrm>
            <a:off x="548640" y="1417320"/>
            <a:ext cx="5486400" cy="274320"/>
          </a:xfrm>
          <a:prstGeom prst="rect">
            <a:avLst/>
          </a:prstGeom>
          <a:noFill/>
          <a:ln/>
        </p:spPr>
        <p:txBody>
          <a:bodyPr wrap="square" rtlCol="0" anchor="ctr"/>
          <a:lstStyle/>
          <a:p>
            <a:pPr indent="0" marL="0">
              <a:buNone/>
            </a:pPr>
            <a:r>
              <a:rPr lang="en-US" sz="1200" b="1" dirty="0">
                <a:solidFill>
                  <a:srgbClr val="5B6B82"/>
                </a:solidFill>
                <a:latin typeface="Calibri" pitchFamily="34" charset="0"/>
                <a:ea typeface="Calibri" pitchFamily="34" charset="-122"/>
                <a:cs typeface="Calibri" pitchFamily="34" charset="-120"/>
              </a:rPr>
              <a:t>A working definition:</a:t>
            </a:r>
            <a:endParaRPr lang="en-US" sz="1200" dirty="0"/>
          </a:p>
        </p:txBody>
      </p:sp>
      <p:sp>
        <p:nvSpPr>
          <p:cNvPr id="5" name="Shape 3"/>
          <p:cNvSpPr/>
          <p:nvPr/>
        </p:nvSpPr>
        <p:spPr>
          <a:xfrm>
            <a:off x="548640" y="1691640"/>
            <a:ext cx="6309360" cy="1280160"/>
          </a:xfrm>
          <a:prstGeom prst="roundRect">
            <a:avLst>
              <a:gd name="adj" fmla="val 5714"/>
            </a:avLst>
          </a:prstGeom>
          <a:solidFill>
            <a:srgbClr val="F4F6FA"/>
          </a:solidFill>
          <a:ln w="12700">
            <a:solidFill>
              <a:srgbClr val="D8DEE9"/>
            </a:solidFill>
            <a:prstDash val="solid"/>
          </a:ln>
        </p:spPr>
      </p:sp>
      <p:sp>
        <p:nvSpPr>
          <p:cNvPr id="6" name="Text 4"/>
          <p:cNvSpPr/>
          <p:nvPr/>
        </p:nvSpPr>
        <p:spPr>
          <a:xfrm>
            <a:off x="868680" y="1828800"/>
            <a:ext cx="5669280" cy="1005840"/>
          </a:xfrm>
          <a:prstGeom prst="rect">
            <a:avLst/>
          </a:prstGeom>
          <a:noFill/>
          <a:ln/>
        </p:spPr>
        <p:txBody>
          <a:bodyPr wrap="square" rtlCol="0" anchor="ctr"/>
          <a:lstStyle/>
          <a:p>
            <a:pPr indent="0" marL="0">
              <a:buNone/>
            </a:pPr>
            <a:r>
              <a:rPr lang="en-US" sz="1450" i="1" dirty="0">
                <a:solidFill>
                  <a:srgbClr val="16213E"/>
                </a:solidFill>
                <a:latin typeface="Cambria" pitchFamily="34" charset="0"/>
                <a:ea typeface="Cambria" pitchFamily="34" charset="-122"/>
                <a:cs typeface="Cambria" pitchFamily="34" charset="-120"/>
              </a:rPr>
              <a:t>Artificial Intelligence refers to computer systems designed to perform tasks that typically require human intelligence — such as recognizing patterns, understanding language, making predictions, or generating content.</a:t>
            </a:r>
            <a:endParaRPr lang="en-US" sz="1450" dirty="0"/>
          </a:p>
        </p:txBody>
      </p:sp>
      <p:sp>
        <p:nvSpPr>
          <p:cNvPr id="7" name="Text 5"/>
          <p:cNvSpPr/>
          <p:nvPr/>
        </p:nvSpPr>
        <p:spPr>
          <a:xfrm>
            <a:off x="548640" y="3154680"/>
            <a:ext cx="6309360" cy="2926080"/>
          </a:xfrm>
          <a:prstGeom prst="rect">
            <a:avLst/>
          </a:prstGeom>
          <a:noFill/>
          <a:ln/>
        </p:spPr>
        <p:txBody>
          <a:bodyPr wrap="square" rtlCol="0" anchor="t"/>
          <a:lstStyle/>
          <a:p>
            <a:pPr marL="228600" indent="-228600">
              <a:spcAft>
                <a:spcPts val="1200"/>
              </a:spcAft>
              <a:buSzPct val="100000"/>
              <a:buChar char="•"/>
            </a:pPr>
            <a:r>
              <a:rPr lang="en-US" sz="1300" dirty="0">
                <a:solidFill>
                  <a:srgbClr val="16213E"/>
                </a:solidFill>
                <a:latin typeface="Calibri" pitchFamily="34" charset="0"/>
                <a:ea typeface="Calibri" pitchFamily="34" charset="-122"/>
                <a:cs typeface="Calibri" pitchFamily="34" charset="-120"/>
              </a:rPr>
              <a:t>AI is not one technology — it is an umbrella term covering many distinct techniques and approaches.</a:t>
            </a:r>
            <a:endParaRPr lang="en-US" sz="1300" dirty="0"/>
          </a:p>
          <a:p>
            <a:pPr marL="228600" indent="-228600">
              <a:spcAft>
                <a:spcPts val="1200"/>
              </a:spcAft>
              <a:buSzPct val="100000"/>
              <a:buChar char="•"/>
            </a:pPr>
            <a:r>
              <a:rPr lang="en-US" sz="1300" dirty="0">
                <a:solidFill>
                  <a:srgbClr val="16213E"/>
                </a:solidFill>
                <a:latin typeface="Calibri" pitchFamily="34" charset="0"/>
                <a:ea typeface="Calibri" pitchFamily="34" charset="-122"/>
                <a:cs typeface="Calibri" pitchFamily="34" charset="-120"/>
              </a:rPr>
              <a:t>Modern AI systems learn statistical patterns from data rather than following explicitly hand-coded rules for every scenario.</a:t>
            </a:r>
            <a:endParaRPr lang="en-US" sz="1300" dirty="0"/>
          </a:p>
          <a:p>
            <a:pPr marL="228600" indent="-228600">
              <a:spcAft>
                <a:spcPts val="1200"/>
              </a:spcAft>
              <a:buSzPct val="100000"/>
              <a:buChar char="•"/>
            </a:pPr>
            <a:r>
              <a:rPr lang="en-US" sz="1300" dirty="0">
                <a:solidFill>
                  <a:srgbClr val="16213E"/>
                </a:solidFill>
                <a:latin typeface="Calibri" pitchFamily="34" charset="0"/>
                <a:ea typeface="Calibri" pitchFamily="34" charset="-122"/>
                <a:cs typeface="Calibri" pitchFamily="34" charset="-120"/>
              </a:rPr>
              <a:t>AI systems do not 'understand' in the human sense — they generate outputs based on learned patterns and probabilities.</a:t>
            </a:r>
            <a:endParaRPr lang="en-US" sz="1300" dirty="0"/>
          </a:p>
          <a:p>
            <a:pPr marL="228600" indent="-228600">
              <a:spcAft>
                <a:spcPts val="1200"/>
              </a:spcAft>
              <a:buSzPct val="100000"/>
              <a:buChar char="•"/>
            </a:pPr>
            <a:r>
              <a:rPr lang="en-US" sz="1300" dirty="0">
                <a:solidFill>
                  <a:srgbClr val="16213E"/>
                </a:solidFill>
                <a:latin typeface="Calibri" pitchFamily="34" charset="0"/>
                <a:ea typeface="Calibri" pitchFamily="34" charset="-122"/>
                <a:cs typeface="Calibri" pitchFamily="34" charset="-120"/>
              </a:rPr>
              <a:t>Capability varies enormously by task: AI may be highly reliable at one task and unreliable at another that seems similar.</a:t>
            </a:r>
            <a:endParaRPr lang="en-US" sz="1300" dirty="0"/>
          </a:p>
        </p:txBody>
      </p:sp>
      <p:sp>
        <p:nvSpPr>
          <p:cNvPr id="8" name="Shape 6"/>
          <p:cNvSpPr/>
          <p:nvPr/>
        </p:nvSpPr>
        <p:spPr>
          <a:xfrm>
            <a:off x="7360920" y="1645920"/>
            <a:ext cx="4663440" cy="4663440"/>
          </a:xfrm>
          <a:prstGeom prst="ellipse">
            <a:avLst/>
          </a:prstGeom>
          <a:solidFill>
            <a:srgbClr val="1F3A5F"/>
          </a:solidFill>
          <a:ln w="19050">
            <a:solidFill>
              <a:srgbClr val="FFFFFF"/>
            </a:solidFill>
            <a:prstDash val="solid"/>
          </a:ln>
        </p:spPr>
      </p:sp>
      <p:sp>
        <p:nvSpPr>
          <p:cNvPr id="9" name="Shape 7"/>
          <p:cNvSpPr/>
          <p:nvPr/>
        </p:nvSpPr>
        <p:spPr>
          <a:xfrm>
            <a:off x="7909560" y="2194560"/>
            <a:ext cx="3566160" cy="3566160"/>
          </a:xfrm>
          <a:prstGeom prst="ellipse">
            <a:avLst/>
          </a:prstGeom>
          <a:solidFill>
            <a:srgbClr val="2A4D7A"/>
          </a:solidFill>
          <a:ln w="19050">
            <a:solidFill>
              <a:srgbClr val="FFFFFF"/>
            </a:solidFill>
            <a:prstDash val="solid"/>
          </a:ln>
        </p:spPr>
      </p:sp>
      <p:sp>
        <p:nvSpPr>
          <p:cNvPr id="10" name="Shape 8"/>
          <p:cNvSpPr/>
          <p:nvPr/>
        </p:nvSpPr>
        <p:spPr>
          <a:xfrm>
            <a:off x="8458200" y="2743200"/>
            <a:ext cx="2468880" cy="2468880"/>
          </a:xfrm>
          <a:prstGeom prst="ellipse">
            <a:avLst/>
          </a:prstGeom>
          <a:solidFill>
            <a:srgbClr val="356494"/>
          </a:solidFill>
          <a:ln w="19050">
            <a:solidFill>
              <a:srgbClr val="FFFFFF"/>
            </a:solidFill>
            <a:prstDash val="solid"/>
          </a:ln>
        </p:spPr>
      </p:sp>
      <p:sp>
        <p:nvSpPr>
          <p:cNvPr id="11" name="Shape 9"/>
          <p:cNvSpPr/>
          <p:nvPr/>
        </p:nvSpPr>
        <p:spPr>
          <a:xfrm>
            <a:off x="9034272" y="3319272"/>
            <a:ext cx="1316736" cy="1316736"/>
          </a:xfrm>
          <a:prstGeom prst="ellipse">
            <a:avLst/>
          </a:prstGeom>
          <a:solidFill>
            <a:srgbClr val="0FBFAE"/>
          </a:solidFill>
          <a:ln w="19050">
            <a:solidFill>
              <a:srgbClr val="FFFFFF"/>
            </a:solidFill>
            <a:prstDash val="solid"/>
          </a:ln>
        </p:spPr>
      </p:sp>
      <p:sp>
        <p:nvSpPr>
          <p:cNvPr id="12" name="Text 10"/>
          <p:cNvSpPr/>
          <p:nvPr/>
        </p:nvSpPr>
        <p:spPr>
          <a:xfrm>
            <a:off x="7360920" y="2011680"/>
            <a:ext cx="466344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Artificial Intelligence</a:t>
            </a:r>
            <a:endParaRPr lang="en-US" sz="1050" dirty="0"/>
          </a:p>
        </p:txBody>
      </p:sp>
      <p:sp>
        <p:nvSpPr>
          <p:cNvPr id="13" name="Text 11"/>
          <p:cNvSpPr/>
          <p:nvPr/>
        </p:nvSpPr>
        <p:spPr>
          <a:xfrm>
            <a:off x="7909560" y="2560320"/>
            <a:ext cx="356616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Machine Learning</a:t>
            </a:r>
            <a:endParaRPr lang="en-US" sz="1050" dirty="0"/>
          </a:p>
        </p:txBody>
      </p:sp>
      <p:sp>
        <p:nvSpPr>
          <p:cNvPr id="14" name="Text 12"/>
          <p:cNvSpPr/>
          <p:nvPr/>
        </p:nvSpPr>
        <p:spPr>
          <a:xfrm>
            <a:off x="8458200" y="3108960"/>
            <a:ext cx="2468880" cy="320040"/>
          </a:xfrm>
          <a:prstGeom prst="rect">
            <a:avLst/>
          </a:prstGeom>
          <a:noFill/>
          <a:ln/>
        </p:spPr>
        <p:txBody>
          <a:bodyPr wrap="square"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Deep Learning</a:t>
            </a:r>
            <a:endParaRPr lang="en-US" sz="1050" dirty="0"/>
          </a:p>
        </p:txBody>
      </p:sp>
      <p:sp>
        <p:nvSpPr>
          <p:cNvPr id="15" name="Text 13"/>
          <p:cNvSpPr/>
          <p:nvPr/>
        </p:nvSpPr>
        <p:spPr>
          <a:xfrm>
            <a:off x="9034272" y="3840480"/>
            <a:ext cx="1316736" cy="320040"/>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Generative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AI</a:t>
            </a:r>
            <a:endParaRPr lang="en-US" sz="1000" dirty="0"/>
          </a:p>
        </p:txBody>
      </p:sp>
      <p:sp>
        <p:nvSpPr>
          <p:cNvPr id="16" name="Text 14"/>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04 / 30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THE BUILDING BLOCKS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Technology Landscape</a:t>
            </a:r>
            <a:endParaRPr lang="en-US" sz="3000" dirty="0"/>
          </a:p>
        </p:txBody>
      </p:sp>
      <p:sp>
        <p:nvSpPr>
          <p:cNvPr id="4" name="Shape 2"/>
          <p:cNvSpPr/>
          <p:nvPr/>
        </p:nvSpPr>
        <p:spPr>
          <a:xfrm>
            <a:off x="548640" y="1600200"/>
            <a:ext cx="3611880" cy="2148840"/>
          </a:xfrm>
          <a:prstGeom prst="roundRect">
            <a:avLst>
              <a:gd name="adj" fmla="val 3404"/>
            </a:avLst>
          </a:prstGeom>
          <a:solidFill>
            <a:srgbClr val="F4F6FA"/>
          </a:solidFill>
          <a:ln w="12700">
            <a:solidFill>
              <a:srgbClr val="D8DEE9"/>
            </a:solidFill>
            <a:prstDash val="solid"/>
          </a:ln>
        </p:spPr>
      </p:sp>
      <p:sp>
        <p:nvSpPr>
          <p:cNvPr id="5" name="Shape 3"/>
          <p:cNvSpPr/>
          <p:nvPr/>
        </p:nvSpPr>
        <p:spPr>
          <a:xfrm>
            <a:off x="749808" y="1801368"/>
            <a:ext cx="512064" cy="512064"/>
          </a:xfrm>
          <a:prstGeom prst="ellipse">
            <a:avLst/>
          </a:prstGeom>
          <a:solidFill>
            <a:srgbClr val="16213E"/>
          </a:solidFill>
          <a:ln/>
        </p:spPr>
      </p:sp>
      <p:sp>
        <p:nvSpPr>
          <p:cNvPr id="6" name="Text 4"/>
          <p:cNvSpPr/>
          <p:nvPr/>
        </p:nvSpPr>
        <p:spPr>
          <a:xfrm>
            <a:off x="749808" y="1801368"/>
            <a:ext cx="512064" cy="512064"/>
          </a:xfrm>
          <a:prstGeom prst="rect">
            <a:avLst/>
          </a:prstGeom>
          <a:noFill/>
          <a:ln/>
        </p:spPr>
        <p:txBody>
          <a:bodyPr wrap="square" rtlCol="0" anchor="ctr"/>
          <a:lstStyle/>
          <a:p>
            <a:pPr algn="ctr" indent="0" marL="0">
              <a:buNone/>
            </a:pPr>
            <a:r>
              <a:rPr lang="en-US" sz="1200" b="1" dirty="0">
                <a:solidFill>
                  <a:srgbClr val="2FE6D6"/>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777240" y="2377440"/>
            <a:ext cx="3154680" cy="502920"/>
          </a:xfrm>
          <a:prstGeom prst="rect">
            <a:avLst/>
          </a:prstGeom>
          <a:noFill/>
          <a:ln/>
        </p:spPr>
        <p:txBody>
          <a:bodyPr wrap="square" rtlCol="0" anchor="ctr"/>
          <a:lstStyle/>
          <a:p>
            <a:pPr indent="0" marL="0">
              <a:buNone/>
            </a:pPr>
            <a:r>
              <a:rPr lang="en-US" sz="1300" b="1" dirty="0">
                <a:solidFill>
                  <a:srgbClr val="16213E"/>
                </a:solidFill>
                <a:latin typeface="Cambria" pitchFamily="34" charset="0"/>
                <a:ea typeface="Cambria" pitchFamily="34" charset="-122"/>
                <a:cs typeface="Cambria" pitchFamily="34" charset="-120"/>
              </a:rPr>
              <a:t>Machine Learning (ML)</a:t>
            </a:r>
            <a:endParaRPr lang="en-US" sz="1300" dirty="0"/>
          </a:p>
        </p:txBody>
      </p:sp>
      <p:sp>
        <p:nvSpPr>
          <p:cNvPr id="8" name="Text 6"/>
          <p:cNvSpPr/>
          <p:nvPr/>
        </p:nvSpPr>
        <p:spPr>
          <a:xfrm>
            <a:off x="777240" y="2834640"/>
            <a:ext cx="3154680" cy="82296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Systems that learn patterns from data to make predictions or decisions (e.g., fraud detection, recommendation engines).</a:t>
            </a:r>
            <a:endParaRPr lang="en-US" sz="1050" dirty="0"/>
          </a:p>
        </p:txBody>
      </p:sp>
      <p:sp>
        <p:nvSpPr>
          <p:cNvPr id="9" name="Shape 7"/>
          <p:cNvSpPr/>
          <p:nvPr/>
        </p:nvSpPr>
        <p:spPr>
          <a:xfrm>
            <a:off x="4343400" y="1600200"/>
            <a:ext cx="3611880" cy="2148840"/>
          </a:xfrm>
          <a:prstGeom prst="roundRect">
            <a:avLst>
              <a:gd name="adj" fmla="val 3404"/>
            </a:avLst>
          </a:prstGeom>
          <a:solidFill>
            <a:srgbClr val="F4F6FA"/>
          </a:solidFill>
          <a:ln w="12700">
            <a:solidFill>
              <a:srgbClr val="D8DEE9"/>
            </a:solidFill>
            <a:prstDash val="solid"/>
          </a:ln>
        </p:spPr>
      </p:sp>
      <p:sp>
        <p:nvSpPr>
          <p:cNvPr id="10" name="Shape 8"/>
          <p:cNvSpPr/>
          <p:nvPr/>
        </p:nvSpPr>
        <p:spPr>
          <a:xfrm>
            <a:off x="4544568" y="1801368"/>
            <a:ext cx="512064" cy="512064"/>
          </a:xfrm>
          <a:prstGeom prst="ellipse">
            <a:avLst/>
          </a:prstGeom>
          <a:solidFill>
            <a:srgbClr val="16213E"/>
          </a:solidFill>
          <a:ln/>
        </p:spPr>
      </p:sp>
      <p:sp>
        <p:nvSpPr>
          <p:cNvPr id="11" name="Text 9"/>
          <p:cNvSpPr/>
          <p:nvPr/>
        </p:nvSpPr>
        <p:spPr>
          <a:xfrm>
            <a:off x="4544568" y="1801368"/>
            <a:ext cx="512064" cy="512064"/>
          </a:xfrm>
          <a:prstGeom prst="rect">
            <a:avLst/>
          </a:prstGeom>
          <a:noFill/>
          <a:ln/>
        </p:spPr>
        <p:txBody>
          <a:bodyPr wrap="square" rtlCol="0" anchor="ctr"/>
          <a:lstStyle/>
          <a:p>
            <a:pPr algn="ctr" indent="0" marL="0">
              <a:buNone/>
            </a:pPr>
            <a:r>
              <a:rPr lang="en-US" sz="1200" b="1" dirty="0">
                <a:solidFill>
                  <a:srgbClr val="2FE6D6"/>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4572000" y="2377440"/>
            <a:ext cx="3154680" cy="502920"/>
          </a:xfrm>
          <a:prstGeom prst="rect">
            <a:avLst/>
          </a:prstGeom>
          <a:noFill/>
          <a:ln/>
        </p:spPr>
        <p:txBody>
          <a:bodyPr wrap="square" rtlCol="0" anchor="ctr"/>
          <a:lstStyle/>
          <a:p>
            <a:pPr indent="0" marL="0">
              <a:buNone/>
            </a:pPr>
            <a:r>
              <a:rPr lang="en-US" sz="1300" b="1" dirty="0">
                <a:solidFill>
                  <a:srgbClr val="16213E"/>
                </a:solidFill>
                <a:latin typeface="Cambria" pitchFamily="34" charset="0"/>
                <a:ea typeface="Cambria" pitchFamily="34" charset="-122"/>
                <a:cs typeface="Cambria" pitchFamily="34" charset="-120"/>
              </a:rPr>
              <a:t>Deep Learning (DL)</a:t>
            </a:r>
            <a:endParaRPr lang="en-US" sz="1300" dirty="0"/>
          </a:p>
        </p:txBody>
      </p:sp>
      <p:sp>
        <p:nvSpPr>
          <p:cNvPr id="13" name="Text 11"/>
          <p:cNvSpPr/>
          <p:nvPr/>
        </p:nvSpPr>
        <p:spPr>
          <a:xfrm>
            <a:off x="4572000" y="2834640"/>
            <a:ext cx="3154680" cy="82296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Neural-network-based ML using many layers; powers image recognition, speech processing, and modern language models.</a:t>
            </a:r>
            <a:endParaRPr lang="en-US" sz="1050" dirty="0"/>
          </a:p>
        </p:txBody>
      </p:sp>
      <p:sp>
        <p:nvSpPr>
          <p:cNvPr id="14" name="Shape 12"/>
          <p:cNvSpPr/>
          <p:nvPr/>
        </p:nvSpPr>
        <p:spPr>
          <a:xfrm>
            <a:off x="8138160" y="1600200"/>
            <a:ext cx="3611880" cy="2148840"/>
          </a:xfrm>
          <a:prstGeom prst="roundRect">
            <a:avLst>
              <a:gd name="adj" fmla="val 3404"/>
            </a:avLst>
          </a:prstGeom>
          <a:solidFill>
            <a:srgbClr val="F4F6FA"/>
          </a:solidFill>
          <a:ln w="12700">
            <a:solidFill>
              <a:srgbClr val="D8DEE9"/>
            </a:solidFill>
            <a:prstDash val="solid"/>
          </a:ln>
        </p:spPr>
      </p:sp>
      <p:sp>
        <p:nvSpPr>
          <p:cNvPr id="15" name="Shape 13"/>
          <p:cNvSpPr/>
          <p:nvPr/>
        </p:nvSpPr>
        <p:spPr>
          <a:xfrm>
            <a:off x="8339328" y="1801368"/>
            <a:ext cx="512064" cy="512064"/>
          </a:xfrm>
          <a:prstGeom prst="ellipse">
            <a:avLst/>
          </a:prstGeom>
          <a:solidFill>
            <a:srgbClr val="16213E"/>
          </a:solidFill>
          <a:ln/>
        </p:spPr>
      </p:sp>
      <p:sp>
        <p:nvSpPr>
          <p:cNvPr id="16" name="Text 14"/>
          <p:cNvSpPr/>
          <p:nvPr/>
        </p:nvSpPr>
        <p:spPr>
          <a:xfrm>
            <a:off x="8339328" y="1801368"/>
            <a:ext cx="512064" cy="512064"/>
          </a:xfrm>
          <a:prstGeom prst="rect">
            <a:avLst/>
          </a:prstGeom>
          <a:noFill/>
          <a:ln/>
        </p:spPr>
        <p:txBody>
          <a:bodyPr wrap="square" rtlCol="0" anchor="ctr"/>
          <a:lstStyle/>
          <a:p>
            <a:pPr algn="ctr" indent="0" marL="0">
              <a:buNone/>
            </a:pPr>
            <a:r>
              <a:rPr lang="en-US" sz="1200" b="1" dirty="0">
                <a:solidFill>
                  <a:srgbClr val="2FE6D6"/>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366760" y="2377440"/>
            <a:ext cx="3154680" cy="502920"/>
          </a:xfrm>
          <a:prstGeom prst="rect">
            <a:avLst/>
          </a:prstGeom>
          <a:noFill/>
          <a:ln/>
        </p:spPr>
        <p:txBody>
          <a:bodyPr wrap="square" rtlCol="0" anchor="ctr"/>
          <a:lstStyle/>
          <a:p>
            <a:pPr indent="0" marL="0">
              <a:buNone/>
            </a:pPr>
            <a:r>
              <a:rPr lang="en-US" sz="1300" b="1" dirty="0">
                <a:solidFill>
                  <a:srgbClr val="16213E"/>
                </a:solidFill>
                <a:latin typeface="Cambria" pitchFamily="34" charset="0"/>
                <a:ea typeface="Cambria" pitchFamily="34" charset="-122"/>
                <a:cs typeface="Cambria" pitchFamily="34" charset="-120"/>
              </a:rPr>
              <a:t>Natural Language Processing (NLP)</a:t>
            </a:r>
            <a:endParaRPr lang="en-US" sz="1300" dirty="0"/>
          </a:p>
        </p:txBody>
      </p:sp>
      <p:sp>
        <p:nvSpPr>
          <p:cNvPr id="18" name="Text 16"/>
          <p:cNvSpPr/>
          <p:nvPr/>
        </p:nvSpPr>
        <p:spPr>
          <a:xfrm>
            <a:off x="8366760" y="2834640"/>
            <a:ext cx="3154680" cy="82296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Techniques enabling computers to process, interpret, and generate human language.</a:t>
            </a:r>
            <a:endParaRPr lang="en-US" sz="1050" dirty="0"/>
          </a:p>
        </p:txBody>
      </p:sp>
      <p:sp>
        <p:nvSpPr>
          <p:cNvPr id="19" name="Shape 17"/>
          <p:cNvSpPr/>
          <p:nvPr/>
        </p:nvSpPr>
        <p:spPr>
          <a:xfrm>
            <a:off x="548640" y="3977640"/>
            <a:ext cx="3611880" cy="2148840"/>
          </a:xfrm>
          <a:prstGeom prst="roundRect">
            <a:avLst>
              <a:gd name="adj" fmla="val 3404"/>
            </a:avLst>
          </a:prstGeom>
          <a:solidFill>
            <a:srgbClr val="F4F6FA"/>
          </a:solidFill>
          <a:ln w="12700">
            <a:solidFill>
              <a:srgbClr val="D8DEE9"/>
            </a:solidFill>
            <a:prstDash val="solid"/>
          </a:ln>
        </p:spPr>
      </p:sp>
      <p:sp>
        <p:nvSpPr>
          <p:cNvPr id="20" name="Shape 18"/>
          <p:cNvSpPr/>
          <p:nvPr/>
        </p:nvSpPr>
        <p:spPr>
          <a:xfrm>
            <a:off x="749808" y="4178808"/>
            <a:ext cx="512064" cy="512064"/>
          </a:xfrm>
          <a:prstGeom prst="ellipse">
            <a:avLst/>
          </a:prstGeom>
          <a:solidFill>
            <a:srgbClr val="16213E"/>
          </a:solidFill>
          <a:ln/>
        </p:spPr>
      </p:sp>
      <p:sp>
        <p:nvSpPr>
          <p:cNvPr id="21" name="Text 19"/>
          <p:cNvSpPr/>
          <p:nvPr/>
        </p:nvSpPr>
        <p:spPr>
          <a:xfrm>
            <a:off x="749808" y="4178808"/>
            <a:ext cx="512064" cy="512064"/>
          </a:xfrm>
          <a:prstGeom prst="rect">
            <a:avLst/>
          </a:prstGeom>
          <a:noFill/>
          <a:ln/>
        </p:spPr>
        <p:txBody>
          <a:bodyPr wrap="square" rtlCol="0" anchor="ctr"/>
          <a:lstStyle/>
          <a:p>
            <a:pPr algn="ctr" indent="0" marL="0">
              <a:buNone/>
            </a:pPr>
            <a:r>
              <a:rPr lang="en-US" sz="1200" b="1" dirty="0">
                <a:solidFill>
                  <a:srgbClr val="2FE6D6"/>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777240" y="4754880"/>
            <a:ext cx="3154680" cy="502920"/>
          </a:xfrm>
          <a:prstGeom prst="rect">
            <a:avLst/>
          </a:prstGeom>
          <a:noFill/>
          <a:ln/>
        </p:spPr>
        <p:txBody>
          <a:bodyPr wrap="square" rtlCol="0" anchor="ctr"/>
          <a:lstStyle/>
          <a:p>
            <a:pPr indent="0" marL="0">
              <a:buNone/>
            </a:pPr>
            <a:r>
              <a:rPr lang="en-US" sz="1300" b="1" dirty="0">
                <a:solidFill>
                  <a:srgbClr val="16213E"/>
                </a:solidFill>
                <a:latin typeface="Cambria" pitchFamily="34" charset="0"/>
                <a:ea typeface="Cambria" pitchFamily="34" charset="-122"/>
                <a:cs typeface="Cambria" pitchFamily="34" charset="-120"/>
              </a:rPr>
              <a:t>Computer Vision (CV)</a:t>
            </a:r>
            <a:endParaRPr lang="en-US" sz="1300" dirty="0"/>
          </a:p>
        </p:txBody>
      </p:sp>
      <p:sp>
        <p:nvSpPr>
          <p:cNvPr id="23" name="Text 21"/>
          <p:cNvSpPr/>
          <p:nvPr/>
        </p:nvSpPr>
        <p:spPr>
          <a:xfrm>
            <a:off x="777240" y="5212080"/>
            <a:ext cx="3154680" cy="82296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Enables systems to interpret images and video — used in medical imaging, quality inspection, and autonomous systems.</a:t>
            </a:r>
            <a:endParaRPr lang="en-US" sz="1050" dirty="0"/>
          </a:p>
        </p:txBody>
      </p:sp>
      <p:sp>
        <p:nvSpPr>
          <p:cNvPr id="24" name="Shape 22"/>
          <p:cNvSpPr/>
          <p:nvPr/>
        </p:nvSpPr>
        <p:spPr>
          <a:xfrm>
            <a:off x="4343400" y="3977640"/>
            <a:ext cx="3611880" cy="2148840"/>
          </a:xfrm>
          <a:prstGeom prst="roundRect">
            <a:avLst>
              <a:gd name="adj" fmla="val 3404"/>
            </a:avLst>
          </a:prstGeom>
          <a:solidFill>
            <a:srgbClr val="F4F6FA"/>
          </a:solidFill>
          <a:ln w="12700">
            <a:solidFill>
              <a:srgbClr val="D8DEE9"/>
            </a:solidFill>
            <a:prstDash val="solid"/>
          </a:ln>
        </p:spPr>
      </p:sp>
      <p:sp>
        <p:nvSpPr>
          <p:cNvPr id="25" name="Shape 23"/>
          <p:cNvSpPr/>
          <p:nvPr/>
        </p:nvSpPr>
        <p:spPr>
          <a:xfrm>
            <a:off x="4544568" y="4178808"/>
            <a:ext cx="512064" cy="512064"/>
          </a:xfrm>
          <a:prstGeom prst="ellipse">
            <a:avLst/>
          </a:prstGeom>
          <a:solidFill>
            <a:srgbClr val="16213E"/>
          </a:solidFill>
          <a:ln/>
        </p:spPr>
      </p:sp>
      <p:sp>
        <p:nvSpPr>
          <p:cNvPr id="26" name="Text 24"/>
          <p:cNvSpPr/>
          <p:nvPr/>
        </p:nvSpPr>
        <p:spPr>
          <a:xfrm>
            <a:off x="4544568" y="4178808"/>
            <a:ext cx="512064" cy="512064"/>
          </a:xfrm>
          <a:prstGeom prst="rect">
            <a:avLst/>
          </a:prstGeom>
          <a:noFill/>
          <a:ln/>
        </p:spPr>
        <p:txBody>
          <a:bodyPr wrap="square" rtlCol="0" anchor="ctr"/>
          <a:lstStyle/>
          <a:p>
            <a:pPr algn="ctr" indent="0" marL="0">
              <a:buNone/>
            </a:pPr>
            <a:r>
              <a:rPr lang="en-US" sz="1200" b="1" dirty="0">
                <a:solidFill>
                  <a:srgbClr val="2FE6D6"/>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4572000" y="4754880"/>
            <a:ext cx="3154680" cy="502920"/>
          </a:xfrm>
          <a:prstGeom prst="rect">
            <a:avLst/>
          </a:prstGeom>
          <a:noFill/>
          <a:ln/>
        </p:spPr>
        <p:txBody>
          <a:bodyPr wrap="square" rtlCol="0" anchor="ctr"/>
          <a:lstStyle/>
          <a:p>
            <a:pPr indent="0" marL="0">
              <a:buNone/>
            </a:pPr>
            <a:r>
              <a:rPr lang="en-US" sz="1300" b="1" dirty="0">
                <a:solidFill>
                  <a:srgbClr val="16213E"/>
                </a:solidFill>
                <a:latin typeface="Cambria" pitchFamily="34" charset="0"/>
                <a:ea typeface="Cambria" pitchFamily="34" charset="-122"/>
                <a:cs typeface="Cambria" pitchFamily="34" charset="-120"/>
              </a:rPr>
              <a:t>Generative AI</a:t>
            </a:r>
            <a:endParaRPr lang="en-US" sz="1300" dirty="0"/>
          </a:p>
        </p:txBody>
      </p:sp>
      <p:sp>
        <p:nvSpPr>
          <p:cNvPr id="28" name="Text 26"/>
          <p:cNvSpPr/>
          <p:nvPr/>
        </p:nvSpPr>
        <p:spPr>
          <a:xfrm>
            <a:off x="4572000" y="5212080"/>
            <a:ext cx="3154680" cy="82296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Models that produce new text, images, audio, code, or video based on learned patterns (e.g., large language models).</a:t>
            </a:r>
            <a:endParaRPr lang="en-US" sz="1050" dirty="0"/>
          </a:p>
        </p:txBody>
      </p:sp>
      <p:sp>
        <p:nvSpPr>
          <p:cNvPr id="29" name="Shape 27"/>
          <p:cNvSpPr/>
          <p:nvPr/>
        </p:nvSpPr>
        <p:spPr>
          <a:xfrm>
            <a:off x="8138160" y="3977640"/>
            <a:ext cx="3611880" cy="2148840"/>
          </a:xfrm>
          <a:prstGeom prst="roundRect">
            <a:avLst>
              <a:gd name="adj" fmla="val 3404"/>
            </a:avLst>
          </a:prstGeom>
          <a:solidFill>
            <a:srgbClr val="F4F6FA"/>
          </a:solidFill>
          <a:ln w="12700">
            <a:solidFill>
              <a:srgbClr val="D8DEE9"/>
            </a:solidFill>
            <a:prstDash val="solid"/>
          </a:ln>
        </p:spPr>
      </p:sp>
      <p:sp>
        <p:nvSpPr>
          <p:cNvPr id="30" name="Shape 28"/>
          <p:cNvSpPr/>
          <p:nvPr/>
        </p:nvSpPr>
        <p:spPr>
          <a:xfrm>
            <a:off x="8339328" y="4178808"/>
            <a:ext cx="512064" cy="512064"/>
          </a:xfrm>
          <a:prstGeom prst="ellipse">
            <a:avLst/>
          </a:prstGeom>
          <a:solidFill>
            <a:srgbClr val="16213E"/>
          </a:solidFill>
          <a:ln/>
        </p:spPr>
      </p:sp>
      <p:sp>
        <p:nvSpPr>
          <p:cNvPr id="31" name="Text 29"/>
          <p:cNvSpPr/>
          <p:nvPr/>
        </p:nvSpPr>
        <p:spPr>
          <a:xfrm>
            <a:off x="8339328" y="4178808"/>
            <a:ext cx="512064" cy="512064"/>
          </a:xfrm>
          <a:prstGeom prst="rect">
            <a:avLst/>
          </a:prstGeom>
          <a:noFill/>
          <a:ln/>
        </p:spPr>
        <p:txBody>
          <a:bodyPr wrap="square" rtlCol="0" anchor="ctr"/>
          <a:lstStyle/>
          <a:p>
            <a:pPr algn="ctr" indent="0" marL="0">
              <a:buNone/>
            </a:pPr>
            <a:r>
              <a:rPr lang="en-US" sz="1200" b="1" dirty="0">
                <a:solidFill>
                  <a:srgbClr val="2FE6D6"/>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8366760" y="4754880"/>
            <a:ext cx="3154680" cy="502920"/>
          </a:xfrm>
          <a:prstGeom prst="rect">
            <a:avLst/>
          </a:prstGeom>
          <a:noFill/>
          <a:ln/>
        </p:spPr>
        <p:txBody>
          <a:bodyPr wrap="square" rtlCol="0" anchor="ctr"/>
          <a:lstStyle/>
          <a:p>
            <a:pPr indent="0" marL="0">
              <a:buNone/>
            </a:pPr>
            <a:r>
              <a:rPr lang="en-US" sz="1300" b="1" dirty="0">
                <a:solidFill>
                  <a:srgbClr val="16213E"/>
                </a:solidFill>
                <a:latin typeface="Cambria" pitchFamily="34" charset="0"/>
                <a:ea typeface="Cambria" pitchFamily="34" charset="-122"/>
                <a:cs typeface="Cambria" pitchFamily="34" charset="-120"/>
              </a:rPr>
              <a:t>Robotics &amp; Autonomous Systems</a:t>
            </a:r>
            <a:endParaRPr lang="en-US" sz="1300" dirty="0"/>
          </a:p>
        </p:txBody>
      </p:sp>
      <p:sp>
        <p:nvSpPr>
          <p:cNvPr id="33" name="Text 31"/>
          <p:cNvSpPr/>
          <p:nvPr/>
        </p:nvSpPr>
        <p:spPr>
          <a:xfrm>
            <a:off x="8366760" y="5212080"/>
            <a:ext cx="3154680" cy="82296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Physical or embodied AI combining perception, planning, and control — from warehouse robots to autonomous vehicles.</a:t>
            </a:r>
            <a:endParaRPr lang="en-US" sz="1050" dirty="0"/>
          </a:p>
        </p:txBody>
      </p:sp>
      <p:sp>
        <p:nvSpPr>
          <p:cNvPr id="34" name="Text 32"/>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05 / 30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APPLICATION TAXONOMY</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Major Categories of AI Applications</a:t>
            </a:r>
            <a:endParaRPr lang="en-US" sz="3000" dirty="0"/>
          </a:p>
        </p:txBody>
      </p:sp>
      <p:sp>
        <p:nvSpPr>
          <p:cNvPr id="4" name="Shape 2"/>
          <p:cNvSpPr/>
          <p:nvPr/>
        </p:nvSpPr>
        <p:spPr>
          <a:xfrm>
            <a:off x="548640" y="1600200"/>
            <a:ext cx="3611880" cy="2148840"/>
          </a:xfrm>
          <a:prstGeom prst="roundRect">
            <a:avLst>
              <a:gd name="adj" fmla="val 3404"/>
            </a:avLst>
          </a:prstGeom>
          <a:solidFill>
            <a:srgbClr val="FFFFFF"/>
          </a:solidFill>
          <a:ln w="12700">
            <a:solidFill>
              <a:srgbClr val="D8DEE9"/>
            </a:solidFill>
            <a:prstDash val="solid"/>
          </a:ln>
          <a:effectLst>
            <a:outerShdw sx="100000" sy="100000" kx="0" ky="0" algn="bl" rotWithShape="0" blurRad="101600" dist="38100" dir="5400000">
              <a:srgbClr val="0D1B2A">
                <a:alpha val="12000"/>
              </a:srgbClr>
            </a:outerShdw>
          </a:effectLst>
        </p:spPr>
      </p:sp>
      <p:sp>
        <p:nvSpPr>
          <p:cNvPr id="5" name="Shape 3"/>
          <p:cNvSpPr/>
          <p:nvPr/>
        </p:nvSpPr>
        <p:spPr>
          <a:xfrm>
            <a:off x="548640" y="1600200"/>
            <a:ext cx="73152" cy="2148840"/>
          </a:xfrm>
          <a:prstGeom prst="rect">
            <a:avLst/>
          </a:prstGeom>
          <a:solidFill>
            <a:srgbClr val="2FE6D6"/>
          </a:solidFill>
          <a:ln/>
        </p:spPr>
      </p:sp>
      <p:sp>
        <p:nvSpPr>
          <p:cNvPr id="6" name="Text 4"/>
          <p:cNvSpPr/>
          <p:nvPr/>
        </p:nvSpPr>
        <p:spPr>
          <a:xfrm>
            <a:off x="868680" y="1856232"/>
            <a:ext cx="3063240" cy="548640"/>
          </a:xfrm>
          <a:prstGeom prst="rect">
            <a:avLst/>
          </a:prstGeom>
          <a:noFill/>
          <a:ln/>
        </p:spPr>
        <p:txBody>
          <a:bodyPr wrap="square" rtlCol="0" anchor="ctr"/>
          <a:lstStyle/>
          <a:p>
            <a:pPr indent="0" marL="0">
              <a:buNone/>
            </a:pPr>
            <a:r>
              <a:rPr lang="en-US" sz="1450" b="1" dirty="0">
                <a:solidFill>
                  <a:srgbClr val="16213E"/>
                </a:solidFill>
                <a:latin typeface="Cambria" pitchFamily="34" charset="0"/>
                <a:ea typeface="Cambria" pitchFamily="34" charset="-122"/>
                <a:cs typeface="Cambria" pitchFamily="34" charset="-120"/>
              </a:rPr>
              <a:t>Content Generation</a:t>
            </a:r>
            <a:endParaRPr lang="en-US" sz="1450" dirty="0"/>
          </a:p>
        </p:txBody>
      </p:sp>
      <p:sp>
        <p:nvSpPr>
          <p:cNvPr id="7" name="Text 5"/>
          <p:cNvSpPr/>
          <p:nvPr/>
        </p:nvSpPr>
        <p:spPr>
          <a:xfrm>
            <a:off x="868680" y="2468880"/>
            <a:ext cx="3063240" cy="1097280"/>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Text, image, audio, video, and code creation</a:t>
            </a:r>
            <a:endParaRPr lang="en-US" sz="1150" dirty="0"/>
          </a:p>
        </p:txBody>
      </p:sp>
      <p:sp>
        <p:nvSpPr>
          <p:cNvPr id="8" name="Shape 6"/>
          <p:cNvSpPr/>
          <p:nvPr/>
        </p:nvSpPr>
        <p:spPr>
          <a:xfrm>
            <a:off x="4343400" y="1600200"/>
            <a:ext cx="3611880" cy="2148840"/>
          </a:xfrm>
          <a:prstGeom prst="roundRect">
            <a:avLst>
              <a:gd name="adj" fmla="val 3404"/>
            </a:avLst>
          </a:prstGeom>
          <a:solidFill>
            <a:srgbClr val="FFFFFF"/>
          </a:solidFill>
          <a:ln w="12700">
            <a:solidFill>
              <a:srgbClr val="D8DEE9"/>
            </a:solidFill>
            <a:prstDash val="solid"/>
          </a:ln>
          <a:effectLst>
            <a:outerShdw sx="100000" sy="100000" kx="0" ky="0" algn="bl" rotWithShape="0" blurRad="101600" dist="38100" dir="5400000">
              <a:srgbClr val="0D1B2A">
                <a:alpha val="12000"/>
              </a:srgbClr>
            </a:outerShdw>
          </a:effectLst>
        </p:spPr>
      </p:sp>
      <p:sp>
        <p:nvSpPr>
          <p:cNvPr id="9" name="Shape 7"/>
          <p:cNvSpPr/>
          <p:nvPr/>
        </p:nvSpPr>
        <p:spPr>
          <a:xfrm>
            <a:off x="4343400" y="1600200"/>
            <a:ext cx="73152" cy="2148840"/>
          </a:xfrm>
          <a:prstGeom prst="rect">
            <a:avLst/>
          </a:prstGeom>
          <a:solidFill>
            <a:srgbClr val="2FE6D6"/>
          </a:solidFill>
          <a:ln/>
        </p:spPr>
      </p:sp>
      <p:sp>
        <p:nvSpPr>
          <p:cNvPr id="10" name="Text 8"/>
          <p:cNvSpPr/>
          <p:nvPr/>
        </p:nvSpPr>
        <p:spPr>
          <a:xfrm>
            <a:off x="4663440" y="1856232"/>
            <a:ext cx="3063240" cy="548640"/>
          </a:xfrm>
          <a:prstGeom prst="rect">
            <a:avLst/>
          </a:prstGeom>
          <a:noFill/>
          <a:ln/>
        </p:spPr>
        <p:txBody>
          <a:bodyPr wrap="square" rtlCol="0" anchor="ctr"/>
          <a:lstStyle/>
          <a:p>
            <a:pPr indent="0" marL="0">
              <a:buNone/>
            </a:pPr>
            <a:r>
              <a:rPr lang="en-US" sz="1450" b="1" dirty="0">
                <a:solidFill>
                  <a:srgbClr val="16213E"/>
                </a:solidFill>
                <a:latin typeface="Cambria" pitchFamily="34" charset="0"/>
                <a:ea typeface="Cambria" pitchFamily="34" charset="-122"/>
                <a:cs typeface="Cambria" pitchFamily="34" charset="-120"/>
              </a:rPr>
              <a:t>Prediction &amp; Forecasting</a:t>
            </a:r>
            <a:endParaRPr lang="en-US" sz="1450" dirty="0"/>
          </a:p>
        </p:txBody>
      </p:sp>
      <p:sp>
        <p:nvSpPr>
          <p:cNvPr id="11" name="Text 9"/>
          <p:cNvSpPr/>
          <p:nvPr/>
        </p:nvSpPr>
        <p:spPr>
          <a:xfrm>
            <a:off x="4663440" y="2468880"/>
            <a:ext cx="3063240" cy="1097280"/>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Demand forecasting, risk scoring, predictive maintenance</a:t>
            </a:r>
            <a:endParaRPr lang="en-US" sz="1150" dirty="0"/>
          </a:p>
        </p:txBody>
      </p:sp>
      <p:sp>
        <p:nvSpPr>
          <p:cNvPr id="12" name="Shape 10"/>
          <p:cNvSpPr/>
          <p:nvPr/>
        </p:nvSpPr>
        <p:spPr>
          <a:xfrm>
            <a:off x="8138160" y="1600200"/>
            <a:ext cx="3611880" cy="2148840"/>
          </a:xfrm>
          <a:prstGeom prst="roundRect">
            <a:avLst>
              <a:gd name="adj" fmla="val 3404"/>
            </a:avLst>
          </a:prstGeom>
          <a:solidFill>
            <a:srgbClr val="FFFFFF"/>
          </a:solidFill>
          <a:ln w="12700">
            <a:solidFill>
              <a:srgbClr val="D8DEE9"/>
            </a:solidFill>
            <a:prstDash val="solid"/>
          </a:ln>
          <a:effectLst>
            <a:outerShdw sx="100000" sy="100000" kx="0" ky="0" algn="bl" rotWithShape="0" blurRad="101600" dist="38100" dir="5400000">
              <a:srgbClr val="0D1B2A">
                <a:alpha val="12000"/>
              </a:srgbClr>
            </a:outerShdw>
          </a:effectLst>
        </p:spPr>
      </p:sp>
      <p:sp>
        <p:nvSpPr>
          <p:cNvPr id="13" name="Shape 11"/>
          <p:cNvSpPr/>
          <p:nvPr/>
        </p:nvSpPr>
        <p:spPr>
          <a:xfrm>
            <a:off x="8138160" y="1600200"/>
            <a:ext cx="73152" cy="2148840"/>
          </a:xfrm>
          <a:prstGeom prst="rect">
            <a:avLst/>
          </a:prstGeom>
          <a:solidFill>
            <a:srgbClr val="2FE6D6"/>
          </a:solidFill>
          <a:ln/>
        </p:spPr>
      </p:sp>
      <p:sp>
        <p:nvSpPr>
          <p:cNvPr id="14" name="Text 12"/>
          <p:cNvSpPr/>
          <p:nvPr/>
        </p:nvSpPr>
        <p:spPr>
          <a:xfrm>
            <a:off x="8458200" y="1856232"/>
            <a:ext cx="3063240" cy="548640"/>
          </a:xfrm>
          <a:prstGeom prst="rect">
            <a:avLst/>
          </a:prstGeom>
          <a:noFill/>
          <a:ln/>
        </p:spPr>
        <p:txBody>
          <a:bodyPr wrap="square" rtlCol="0" anchor="ctr"/>
          <a:lstStyle/>
          <a:p>
            <a:pPr indent="0" marL="0">
              <a:buNone/>
            </a:pPr>
            <a:r>
              <a:rPr lang="en-US" sz="1450" b="1" dirty="0">
                <a:solidFill>
                  <a:srgbClr val="16213E"/>
                </a:solidFill>
                <a:latin typeface="Cambria" pitchFamily="34" charset="0"/>
                <a:ea typeface="Cambria" pitchFamily="34" charset="-122"/>
                <a:cs typeface="Cambria" pitchFamily="34" charset="-120"/>
              </a:rPr>
              <a:t>Classification &amp; Detection</a:t>
            </a:r>
            <a:endParaRPr lang="en-US" sz="1450" dirty="0"/>
          </a:p>
        </p:txBody>
      </p:sp>
      <p:sp>
        <p:nvSpPr>
          <p:cNvPr id="15" name="Text 13"/>
          <p:cNvSpPr/>
          <p:nvPr/>
        </p:nvSpPr>
        <p:spPr>
          <a:xfrm>
            <a:off x="8458200" y="2468880"/>
            <a:ext cx="3063240" cy="1097280"/>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Fraud detection, spam filtering, medical image triage</a:t>
            </a:r>
            <a:endParaRPr lang="en-US" sz="1150" dirty="0"/>
          </a:p>
        </p:txBody>
      </p:sp>
      <p:sp>
        <p:nvSpPr>
          <p:cNvPr id="16" name="Shape 14"/>
          <p:cNvSpPr/>
          <p:nvPr/>
        </p:nvSpPr>
        <p:spPr>
          <a:xfrm>
            <a:off x="548640" y="3977640"/>
            <a:ext cx="3611880" cy="2148840"/>
          </a:xfrm>
          <a:prstGeom prst="roundRect">
            <a:avLst>
              <a:gd name="adj" fmla="val 3404"/>
            </a:avLst>
          </a:prstGeom>
          <a:solidFill>
            <a:srgbClr val="FFFFFF"/>
          </a:solidFill>
          <a:ln w="12700">
            <a:solidFill>
              <a:srgbClr val="D8DEE9"/>
            </a:solidFill>
            <a:prstDash val="solid"/>
          </a:ln>
          <a:effectLst>
            <a:outerShdw sx="100000" sy="100000" kx="0" ky="0" algn="bl" rotWithShape="0" blurRad="101600" dist="38100" dir="5400000">
              <a:srgbClr val="0D1B2A">
                <a:alpha val="12000"/>
              </a:srgbClr>
            </a:outerShdw>
          </a:effectLst>
        </p:spPr>
      </p:sp>
      <p:sp>
        <p:nvSpPr>
          <p:cNvPr id="17" name="Shape 15"/>
          <p:cNvSpPr/>
          <p:nvPr/>
        </p:nvSpPr>
        <p:spPr>
          <a:xfrm>
            <a:off x="548640" y="3977640"/>
            <a:ext cx="73152" cy="2148840"/>
          </a:xfrm>
          <a:prstGeom prst="rect">
            <a:avLst/>
          </a:prstGeom>
          <a:solidFill>
            <a:srgbClr val="2FE6D6"/>
          </a:solidFill>
          <a:ln/>
        </p:spPr>
      </p:sp>
      <p:sp>
        <p:nvSpPr>
          <p:cNvPr id="18" name="Text 16"/>
          <p:cNvSpPr/>
          <p:nvPr/>
        </p:nvSpPr>
        <p:spPr>
          <a:xfrm>
            <a:off x="868680" y="4233672"/>
            <a:ext cx="3063240" cy="548640"/>
          </a:xfrm>
          <a:prstGeom prst="rect">
            <a:avLst/>
          </a:prstGeom>
          <a:noFill/>
          <a:ln/>
        </p:spPr>
        <p:txBody>
          <a:bodyPr wrap="square" rtlCol="0" anchor="ctr"/>
          <a:lstStyle/>
          <a:p>
            <a:pPr indent="0" marL="0">
              <a:buNone/>
            </a:pPr>
            <a:r>
              <a:rPr lang="en-US" sz="1450" b="1" dirty="0">
                <a:solidFill>
                  <a:srgbClr val="16213E"/>
                </a:solidFill>
                <a:latin typeface="Cambria" pitchFamily="34" charset="0"/>
                <a:ea typeface="Cambria" pitchFamily="34" charset="-122"/>
                <a:cs typeface="Cambria" pitchFamily="34" charset="-120"/>
              </a:rPr>
              <a:t>Personalization</a:t>
            </a:r>
            <a:endParaRPr lang="en-US" sz="1450" dirty="0"/>
          </a:p>
        </p:txBody>
      </p:sp>
      <p:sp>
        <p:nvSpPr>
          <p:cNvPr id="19" name="Text 17"/>
          <p:cNvSpPr/>
          <p:nvPr/>
        </p:nvSpPr>
        <p:spPr>
          <a:xfrm>
            <a:off x="868680" y="4846320"/>
            <a:ext cx="3063240" cy="1097280"/>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Recommendation engines, adaptive learning, targeted content</a:t>
            </a:r>
            <a:endParaRPr lang="en-US" sz="1150" dirty="0"/>
          </a:p>
        </p:txBody>
      </p:sp>
      <p:sp>
        <p:nvSpPr>
          <p:cNvPr id="20" name="Shape 18"/>
          <p:cNvSpPr/>
          <p:nvPr/>
        </p:nvSpPr>
        <p:spPr>
          <a:xfrm>
            <a:off x="4343400" y="3977640"/>
            <a:ext cx="3611880" cy="2148840"/>
          </a:xfrm>
          <a:prstGeom prst="roundRect">
            <a:avLst>
              <a:gd name="adj" fmla="val 3404"/>
            </a:avLst>
          </a:prstGeom>
          <a:solidFill>
            <a:srgbClr val="FFFFFF"/>
          </a:solidFill>
          <a:ln w="12700">
            <a:solidFill>
              <a:srgbClr val="D8DEE9"/>
            </a:solidFill>
            <a:prstDash val="solid"/>
          </a:ln>
          <a:effectLst>
            <a:outerShdw sx="100000" sy="100000" kx="0" ky="0" algn="bl" rotWithShape="0" blurRad="101600" dist="38100" dir="5400000">
              <a:srgbClr val="0D1B2A">
                <a:alpha val="12000"/>
              </a:srgbClr>
            </a:outerShdw>
          </a:effectLst>
        </p:spPr>
      </p:sp>
      <p:sp>
        <p:nvSpPr>
          <p:cNvPr id="21" name="Shape 19"/>
          <p:cNvSpPr/>
          <p:nvPr/>
        </p:nvSpPr>
        <p:spPr>
          <a:xfrm>
            <a:off x="4343400" y="3977640"/>
            <a:ext cx="73152" cy="2148840"/>
          </a:xfrm>
          <a:prstGeom prst="rect">
            <a:avLst/>
          </a:prstGeom>
          <a:solidFill>
            <a:srgbClr val="2FE6D6"/>
          </a:solidFill>
          <a:ln/>
        </p:spPr>
      </p:sp>
      <p:sp>
        <p:nvSpPr>
          <p:cNvPr id="22" name="Text 20"/>
          <p:cNvSpPr/>
          <p:nvPr/>
        </p:nvSpPr>
        <p:spPr>
          <a:xfrm>
            <a:off x="4663440" y="4233672"/>
            <a:ext cx="3063240" cy="548640"/>
          </a:xfrm>
          <a:prstGeom prst="rect">
            <a:avLst/>
          </a:prstGeom>
          <a:noFill/>
          <a:ln/>
        </p:spPr>
        <p:txBody>
          <a:bodyPr wrap="square" rtlCol="0" anchor="ctr"/>
          <a:lstStyle/>
          <a:p>
            <a:pPr indent="0" marL="0">
              <a:buNone/>
            </a:pPr>
            <a:r>
              <a:rPr lang="en-US" sz="1450" b="1" dirty="0">
                <a:solidFill>
                  <a:srgbClr val="16213E"/>
                </a:solidFill>
                <a:latin typeface="Cambria" pitchFamily="34" charset="0"/>
                <a:ea typeface="Cambria" pitchFamily="34" charset="-122"/>
                <a:cs typeface="Cambria" pitchFamily="34" charset="-120"/>
              </a:rPr>
              <a:t>Automation &amp; Agents</a:t>
            </a:r>
            <a:endParaRPr lang="en-US" sz="1450" dirty="0"/>
          </a:p>
        </p:txBody>
      </p:sp>
      <p:sp>
        <p:nvSpPr>
          <p:cNvPr id="23" name="Text 21"/>
          <p:cNvSpPr/>
          <p:nvPr/>
        </p:nvSpPr>
        <p:spPr>
          <a:xfrm>
            <a:off x="4663440" y="4846320"/>
            <a:ext cx="3063240" cy="1097280"/>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Workflow automation, task-executing AI agents, chatbots</a:t>
            </a:r>
            <a:endParaRPr lang="en-US" sz="1150" dirty="0"/>
          </a:p>
        </p:txBody>
      </p:sp>
      <p:sp>
        <p:nvSpPr>
          <p:cNvPr id="24" name="Shape 22"/>
          <p:cNvSpPr/>
          <p:nvPr/>
        </p:nvSpPr>
        <p:spPr>
          <a:xfrm>
            <a:off x="8138160" y="3977640"/>
            <a:ext cx="3611880" cy="2148840"/>
          </a:xfrm>
          <a:prstGeom prst="roundRect">
            <a:avLst>
              <a:gd name="adj" fmla="val 3404"/>
            </a:avLst>
          </a:prstGeom>
          <a:solidFill>
            <a:srgbClr val="FFFFFF"/>
          </a:solidFill>
          <a:ln w="12700">
            <a:solidFill>
              <a:srgbClr val="D8DEE9"/>
            </a:solidFill>
            <a:prstDash val="solid"/>
          </a:ln>
          <a:effectLst>
            <a:outerShdw sx="100000" sy="100000" kx="0" ky="0" algn="bl" rotWithShape="0" blurRad="101600" dist="38100" dir="5400000">
              <a:srgbClr val="0D1B2A">
                <a:alpha val="12000"/>
              </a:srgbClr>
            </a:outerShdw>
          </a:effectLst>
        </p:spPr>
      </p:sp>
      <p:sp>
        <p:nvSpPr>
          <p:cNvPr id="25" name="Shape 23"/>
          <p:cNvSpPr/>
          <p:nvPr/>
        </p:nvSpPr>
        <p:spPr>
          <a:xfrm>
            <a:off x="8138160" y="3977640"/>
            <a:ext cx="73152" cy="2148840"/>
          </a:xfrm>
          <a:prstGeom prst="rect">
            <a:avLst/>
          </a:prstGeom>
          <a:solidFill>
            <a:srgbClr val="2FE6D6"/>
          </a:solidFill>
          <a:ln/>
        </p:spPr>
      </p:sp>
      <p:sp>
        <p:nvSpPr>
          <p:cNvPr id="26" name="Text 24"/>
          <p:cNvSpPr/>
          <p:nvPr/>
        </p:nvSpPr>
        <p:spPr>
          <a:xfrm>
            <a:off x="8458200" y="4233672"/>
            <a:ext cx="3063240" cy="548640"/>
          </a:xfrm>
          <a:prstGeom prst="rect">
            <a:avLst/>
          </a:prstGeom>
          <a:noFill/>
          <a:ln/>
        </p:spPr>
        <p:txBody>
          <a:bodyPr wrap="square" rtlCol="0" anchor="ctr"/>
          <a:lstStyle/>
          <a:p>
            <a:pPr indent="0" marL="0">
              <a:buNone/>
            </a:pPr>
            <a:r>
              <a:rPr lang="en-US" sz="1450" b="1" dirty="0">
                <a:solidFill>
                  <a:srgbClr val="16213E"/>
                </a:solidFill>
                <a:latin typeface="Cambria" pitchFamily="34" charset="0"/>
                <a:ea typeface="Cambria" pitchFamily="34" charset="-122"/>
                <a:cs typeface="Cambria" pitchFamily="34" charset="-120"/>
              </a:rPr>
              <a:t>Search &amp; Retrieval</a:t>
            </a:r>
            <a:endParaRPr lang="en-US" sz="1450" dirty="0"/>
          </a:p>
        </p:txBody>
      </p:sp>
      <p:sp>
        <p:nvSpPr>
          <p:cNvPr id="27" name="Text 25"/>
          <p:cNvSpPr/>
          <p:nvPr/>
        </p:nvSpPr>
        <p:spPr>
          <a:xfrm>
            <a:off x="8458200" y="4846320"/>
            <a:ext cx="3063240" cy="1097280"/>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Semantic search, question answering, knowledge retrieval</a:t>
            </a:r>
            <a:endParaRPr lang="en-US" sz="1150" dirty="0"/>
          </a:p>
        </p:txBody>
      </p:sp>
      <p:sp>
        <p:nvSpPr>
          <p:cNvPr id="28" name="Text 26"/>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06 / 30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SECTOR APPLICATION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in Education</a:t>
            </a:r>
            <a:endParaRPr lang="en-US" sz="3000" dirty="0"/>
          </a:p>
        </p:txBody>
      </p:sp>
      <p:sp>
        <p:nvSpPr>
          <p:cNvPr id="4" name="Shape 2"/>
          <p:cNvSpPr/>
          <p:nvPr/>
        </p:nvSpPr>
        <p:spPr>
          <a:xfrm>
            <a:off x="548640" y="1508760"/>
            <a:ext cx="3200400" cy="4663440"/>
          </a:xfrm>
          <a:prstGeom prst="roundRect">
            <a:avLst>
              <a:gd name="adj" fmla="val 2286"/>
            </a:avLst>
          </a:prstGeom>
          <a:solidFill>
            <a:srgbClr val="16213E"/>
          </a:solidFill>
          <a:ln w="12700">
            <a:solidFill>
              <a:srgbClr val="D8DEE9"/>
            </a:solidFill>
            <a:prstDash val="solid"/>
          </a:ln>
        </p:spPr>
      </p:sp>
      <p:sp>
        <p:nvSpPr>
          <p:cNvPr id="5" name="Shape 3"/>
          <p:cNvSpPr/>
          <p:nvPr/>
        </p:nvSpPr>
        <p:spPr>
          <a:xfrm>
            <a:off x="1645920" y="2011680"/>
            <a:ext cx="1005840" cy="1005840"/>
          </a:xfrm>
          <a:prstGeom prst="ellipse">
            <a:avLst/>
          </a:prstGeom>
          <a:solidFill>
            <a:srgbClr val="2FE6D6"/>
          </a:solidFill>
          <a:ln/>
        </p:spPr>
      </p:sp>
      <p:sp>
        <p:nvSpPr>
          <p:cNvPr id="6" name="Text 4"/>
          <p:cNvSpPr/>
          <p:nvPr/>
        </p:nvSpPr>
        <p:spPr>
          <a:xfrm>
            <a:off x="1645920" y="2011680"/>
            <a:ext cx="1005840" cy="1005840"/>
          </a:xfrm>
          <a:prstGeom prst="rect">
            <a:avLst/>
          </a:prstGeom>
          <a:noFill/>
          <a:ln/>
        </p:spPr>
        <p:txBody>
          <a:bodyPr wrap="square" rtlCol="0" anchor="ctr"/>
          <a:lstStyle/>
          <a:p>
            <a:pPr algn="ctr" indent="0" marL="0">
              <a:buNone/>
            </a:pPr>
            <a:r>
              <a:rPr lang="en-US" sz="2600" b="1" dirty="0">
                <a:solidFill>
                  <a:srgbClr val="16213E"/>
                </a:solidFill>
                <a:latin typeface="Calibri" pitchFamily="34" charset="0"/>
                <a:ea typeface="Calibri" pitchFamily="34" charset="-122"/>
                <a:cs typeface="Calibri" pitchFamily="34" charset="-120"/>
              </a:rPr>
              <a:t>ED</a:t>
            </a:r>
            <a:endParaRPr lang="en-US" sz="2600" dirty="0"/>
          </a:p>
        </p:txBody>
      </p:sp>
      <p:sp>
        <p:nvSpPr>
          <p:cNvPr id="7" name="Text 5"/>
          <p:cNvSpPr/>
          <p:nvPr/>
        </p:nvSpPr>
        <p:spPr>
          <a:xfrm>
            <a:off x="822960" y="3246120"/>
            <a:ext cx="2651760" cy="274320"/>
          </a:xfrm>
          <a:prstGeom prst="rect">
            <a:avLst/>
          </a:prstGeom>
          <a:noFill/>
          <a:ln/>
        </p:spPr>
        <p:txBody>
          <a:bodyPr wrap="square" rtlCol="0" anchor="ctr"/>
          <a:lstStyle/>
          <a:p>
            <a:pPr algn="ctr" indent="0" marL="0">
              <a:buNone/>
            </a:pPr>
            <a:r>
              <a:rPr lang="en-US" sz="1100" b="1" spc="150" kern="0" dirty="0">
                <a:solidFill>
                  <a:srgbClr val="2FE6D6"/>
                </a:solidFill>
                <a:latin typeface="Calibri" pitchFamily="34" charset="0"/>
                <a:ea typeface="Calibri" pitchFamily="34" charset="-122"/>
                <a:cs typeface="Calibri" pitchFamily="34" charset="-120"/>
              </a:rPr>
              <a:t>Sector Focus</a:t>
            </a:r>
            <a:endParaRPr lang="en-US" sz="1100" dirty="0"/>
          </a:p>
        </p:txBody>
      </p:sp>
      <p:sp>
        <p:nvSpPr>
          <p:cNvPr id="8" name="Shape 6"/>
          <p:cNvSpPr/>
          <p:nvPr/>
        </p:nvSpPr>
        <p:spPr>
          <a:xfrm>
            <a:off x="868680" y="3703320"/>
            <a:ext cx="2560320" cy="0"/>
          </a:xfrm>
          <a:prstGeom prst="line">
            <a:avLst/>
          </a:prstGeom>
          <a:noFill/>
          <a:ln w="12700">
            <a:solidFill>
              <a:srgbClr val="3A5580"/>
            </a:solidFill>
            <a:prstDash val="solid"/>
          </a:ln>
        </p:spPr>
      </p:sp>
      <p:sp>
        <p:nvSpPr>
          <p:cNvPr id="9" name="Text 7"/>
          <p:cNvSpPr/>
          <p:nvPr/>
        </p:nvSpPr>
        <p:spPr>
          <a:xfrm>
            <a:off x="822960" y="3886200"/>
            <a:ext cx="2651760" cy="274320"/>
          </a:xfrm>
          <a:prstGeom prst="rect">
            <a:avLst/>
          </a:prstGeom>
          <a:noFill/>
          <a:ln/>
        </p:spPr>
        <p:txBody>
          <a:bodyPr wrap="square" rtlCol="0" anchor="ctr"/>
          <a:lstStyle/>
          <a:p>
            <a:pPr algn="ctr" indent="0" marL="0">
              <a:buNone/>
            </a:pPr>
            <a:r>
              <a:rPr lang="en-US" sz="1000" b="1" dirty="0">
                <a:solidFill>
                  <a:srgbClr val="2FE6D6"/>
                </a:solidFill>
                <a:latin typeface="Calibri" pitchFamily="34" charset="0"/>
                <a:ea typeface="Calibri" pitchFamily="34" charset="-122"/>
                <a:cs typeface="Calibri" pitchFamily="34" charset="-120"/>
              </a:rPr>
              <a:t>DISCUSSION</a:t>
            </a:r>
            <a:endParaRPr lang="en-US" sz="1000" dirty="0"/>
          </a:p>
        </p:txBody>
      </p:sp>
      <p:sp>
        <p:nvSpPr>
          <p:cNvPr id="10" name="Text 8"/>
          <p:cNvSpPr/>
          <p:nvPr/>
        </p:nvSpPr>
        <p:spPr>
          <a:xfrm>
            <a:off x="822960" y="4206240"/>
            <a:ext cx="2651760" cy="1737360"/>
          </a:xfrm>
          <a:prstGeom prst="rect">
            <a:avLst/>
          </a:prstGeom>
          <a:noFill/>
          <a:ln/>
        </p:spPr>
        <p:txBody>
          <a:bodyPr wrap="square" rtlCol="0" anchor="t"/>
          <a:lstStyle/>
          <a:p>
            <a:pPr algn="ctr" indent="0" marL="0">
              <a:buNone/>
            </a:pPr>
            <a:r>
              <a:rPr lang="en-US" sz="1100" i="1" dirty="0">
                <a:solidFill>
                  <a:srgbClr val="D6DEEC"/>
                </a:solidFill>
                <a:latin typeface="Calibri" pitchFamily="34" charset="0"/>
                <a:ea typeface="Calibri" pitchFamily="34" charset="-122"/>
                <a:cs typeface="Calibri" pitchFamily="34" charset="-120"/>
              </a:rPr>
              <a:t>How should academic integrity policy differ between using AI to explain a concept versus using it to write an assignment?</a:t>
            </a:r>
            <a:endParaRPr lang="en-US" sz="1100" dirty="0"/>
          </a:p>
        </p:txBody>
      </p:sp>
      <p:sp>
        <p:nvSpPr>
          <p:cNvPr id="11" name="Shape 9"/>
          <p:cNvSpPr/>
          <p:nvPr/>
        </p:nvSpPr>
        <p:spPr>
          <a:xfrm>
            <a:off x="3977640" y="1508760"/>
            <a:ext cx="7635240" cy="1051560"/>
          </a:xfrm>
          <a:prstGeom prst="roundRect">
            <a:avLst>
              <a:gd name="adj" fmla="val 6957"/>
            </a:avLst>
          </a:prstGeom>
          <a:solidFill>
            <a:srgbClr val="F4F6FA"/>
          </a:solidFill>
          <a:ln w="12700">
            <a:solidFill>
              <a:srgbClr val="D8DEE9"/>
            </a:solidFill>
            <a:prstDash val="solid"/>
          </a:ln>
        </p:spPr>
      </p:sp>
      <p:sp>
        <p:nvSpPr>
          <p:cNvPr id="12" name="Text 10"/>
          <p:cNvSpPr/>
          <p:nvPr/>
        </p:nvSpPr>
        <p:spPr>
          <a:xfrm>
            <a:off x="4206240" y="1600200"/>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Adaptive Learning Platforms</a:t>
            </a:r>
            <a:endParaRPr lang="en-US" sz="1350" dirty="0"/>
          </a:p>
        </p:txBody>
      </p:sp>
      <p:sp>
        <p:nvSpPr>
          <p:cNvPr id="13" name="Text 11"/>
          <p:cNvSpPr/>
          <p:nvPr/>
        </p:nvSpPr>
        <p:spPr>
          <a:xfrm>
            <a:off x="4206240" y="1947672"/>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Adjust content difficulty and pacing based on individual student performance data.</a:t>
            </a:r>
            <a:endParaRPr lang="en-US" sz="1100" dirty="0"/>
          </a:p>
        </p:txBody>
      </p:sp>
      <p:sp>
        <p:nvSpPr>
          <p:cNvPr id="14" name="Shape 12"/>
          <p:cNvSpPr/>
          <p:nvPr/>
        </p:nvSpPr>
        <p:spPr>
          <a:xfrm>
            <a:off x="3977640" y="2670048"/>
            <a:ext cx="7635240" cy="1051560"/>
          </a:xfrm>
          <a:prstGeom prst="roundRect">
            <a:avLst>
              <a:gd name="adj" fmla="val 6957"/>
            </a:avLst>
          </a:prstGeom>
          <a:solidFill>
            <a:srgbClr val="FFFFFF"/>
          </a:solidFill>
          <a:ln w="12700">
            <a:solidFill>
              <a:srgbClr val="D8DEE9"/>
            </a:solidFill>
            <a:prstDash val="solid"/>
          </a:ln>
        </p:spPr>
      </p:sp>
      <p:sp>
        <p:nvSpPr>
          <p:cNvPr id="15" name="Text 13"/>
          <p:cNvSpPr/>
          <p:nvPr/>
        </p:nvSpPr>
        <p:spPr>
          <a:xfrm>
            <a:off x="4206240" y="2761488"/>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AI Tutoring &amp; Homework Support</a:t>
            </a:r>
            <a:endParaRPr lang="en-US" sz="1350" dirty="0"/>
          </a:p>
        </p:txBody>
      </p:sp>
      <p:sp>
        <p:nvSpPr>
          <p:cNvPr id="16" name="Text 14"/>
          <p:cNvSpPr/>
          <p:nvPr/>
        </p:nvSpPr>
        <p:spPr>
          <a:xfrm>
            <a:off x="4206240" y="3108960"/>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Conversational tools that explain concepts and provide practice, subject to accuracy limitations.</a:t>
            </a:r>
            <a:endParaRPr lang="en-US" sz="1100" dirty="0"/>
          </a:p>
        </p:txBody>
      </p:sp>
      <p:sp>
        <p:nvSpPr>
          <p:cNvPr id="17" name="Shape 15"/>
          <p:cNvSpPr/>
          <p:nvPr/>
        </p:nvSpPr>
        <p:spPr>
          <a:xfrm>
            <a:off x="3977640" y="3831336"/>
            <a:ext cx="7635240" cy="1051560"/>
          </a:xfrm>
          <a:prstGeom prst="roundRect">
            <a:avLst>
              <a:gd name="adj" fmla="val 6957"/>
            </a:avLst>
          </a:prstGeom>
          <a:solidFill>
            <a:srgbClr val="F4F6FA"/>
          </a:solidFill>
          <a:ln w="12700">
            <a:solidFill>
              <a:srgbClr val="D8DEE9"/>
            </a:solidFill>
            <a:prstDash val="solid"/>
          </a:ln>
        </p:spPr>
      </p:sp>
      <p:sp>
        <p:nvSpPr>
          <p:cNvPr id="18" name="Text 16"/>
          <p:cNvSpPr/>
          <p:nvPr/>
        </p:nvSpPr>
        <p:spPr>
          <a:xfrm>
            <a:off x="4206240" y="3922776"/>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Administrative Automation</a:t>
            </a:r>
            <a:endParaRPr lang="en-US" sz="1350" dirty="0"/>
          </a:p>
        </p:txBody>
      </p:sp>
      <p:sp>
        <p:nvSpPr>
          <p:cNvPr id="19" name="Text 17"/>
          <p:cNvSpPr/>
          <p:nvPr/>
        </p:nvSpPr>
        <p:spPr>
          <a:xfrm>
            <a:off x="4206240" y="4270248"/>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Grading assistance, scheduling, and drafting routine communications for teachers.</a:t>
            </a:r>
            <a:endParaRPr lang="en-US" sz="1100" dirty="0"/>
          </a:p>
        </p:txBody>
      </p:sp>
      <p:sp>
        <p:nvSpPr>
          <p:cNvPr id="20" name="Shape 18"/>
          <p:cNvSpPr/>
          <p:nvPr/>
        </p:nvSpPr>
        <p:spPr>
          <a:xfrm>
            <a:off x="3977640" y="4992624"/>
            <a:ext cx="7635240" cy="1051560"/>
          </a:xfrm>
          <a:prstGeom prst="roundRect">
            <a:avLst>
              <a:gd name="adj" fmla="val 6957"/>
            </a:avLst>
          </a:prstGeom>
          <a:solidFill>
            <a:srgbClr val="FFFFFF"/>
          </a:solidFill>
          <a:ln w="12700">
            <a:solidFill>
              <a:srgbClr val="D8DEE9"/>
            </a:solidFill>
            <a:prstDash val="solid"/>
          </a:ln>
        </p:spPr>
      </p:sp>
      <p:sp>
        <p:nvSpPr>
          <p:cNvPr id="21" name="Text 19"/>
          <p:cNvSpPr/>
          <p:nvPr/>
        </p:nvSpPr>
        <p:spPr>
          <a:xfrm>
            <a:off x="4206240" y="5084064"/>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Accessibility Tools</a:t>
            </a:r>
            <a:endParaRPr lang="en-US" sz="1350" dirty="0"/>
          </a:p>
        </p:txBody>
      </p:sp>
      <p:sp>
        <p:nvSpPr>
          <p:cNvPr id="22" name="Text 20"/>
          <p:cNvSpPr/>
          <p:nvPr/>
        </p:nvSpPr>
        <p:spPr>
          <a:xfrm>
            <a:off x="4206240" y="5431536"/>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Text-to-speech, real-time translation, and captioning supporting diverse learners.</a:t>
            </a:r>
            <a:endParaRPr lang="en-US" sz="1100" dirty="0"/>
          </a:p>
        </p:txBody>
      </p:sp>
      <p:sp>
        <p:nvSpPr>
          <p:cNvPr id="23" name="Text 21"/>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07 / 30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SECTOR APPLICATION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in Healthcare</a:t>
            </a:r>
            <a:endParaRPr lang="en-US" sz="3000" dirty="0"/>
          </a:p>
        </p:txBody>
      </p:sp>
      <p:sp>
        <p:nvSpPr>
          <p:cNvPr id="4" name="Shape 2"/>
          <p:cNvSpPr/>
          <p:nvPr/>
        </p:nvSpPr>
        <p:spPr>
          <a:xfrm>
            <a:off x="548640" y="1508760"/>
            <a:ext cx="3200400" cy="4663440"/>
          </a:xfrm>
          <a:prstGeom prst="roundRect">
            <a:avLst>
              <a:gd name="adj" fmla="val 2286"/>
            </a:avLst>
          </a:prstGeom>
          <a:solidFill>
            <a:srgbClr val="16213E"/>
          </a:solidFill>
          <a:ln w="12700">
            <a:solidFill>
              <a:srgbClr val="D8DEE9"/>
            </a:solidFill>
            <a:prstDash val="solid"/>
          </a:ln>
        </p:spPr>
      </p:sp>
      <p:sp>
        <p:nvSpPr>
          <p:cNvPr id="5" name="Shape 3"/>
          <p:cNvSpPr/>
          <p:nvPr/>
        </p:nvSpPr>
        <p:spPr>
          <a:xfrm>
            <a:off x="1645920" y="2011680"/>
            <a:ext cx="1005840" cy="1005840"/>
          </a:xfrm>
          <a:prstGeom prst="ellipse">
            <a:avLst/>
          </a:prstGeom>
          <a:solidFill>
            <a:srgbClr val="2FE6D6"/>
          </a:solidFill>
          <a:ln/>
        </p:spPr>
      </p:sp>
      <p:sp>
        <p:nvSpPr>
          <p:cNvPr id="6" name="Text 4"/>
          <p:cNvSpPr/>
          <p:nvPr/>
        </p:nvSpPr>
        <p:spPr>
          <a:xfrm>
            <a:off x="1645920" y="2011680"/>
            <a:ext cx="1005840" cy="1005840"/>
          </a:xfrm>
          <a:prstGeom prst="rect">
            <a:avLst/>
          </a:prstGeom>
          <a:noFill/>
          <a:ln/>
        </p:spPr>
        <p:txBody>
          <a:bodyPr wrap="square" rtlCol="0" anchor="ctr"/>
          <a:lstStyle/>
          <a:p>
            <a:pPr algn="ctr" indent="0" marL="0">
              <a:buNone/>
            </a:pPr>
            <a:r>
              <a:rPr lang="en-US" sz="2600" b="1" dirty="0">
                <a:solidFill>
                  <a:srgbClr val="16213E"/>
                </a:solidFill>
                <a:latin typeface="Calibri" pitchFamily="34" charset="0"/>
                <a:ea typeface="Calibri" pitchFamily="34" charset="-122"/>
                <a:cs typeface="Calibri" pitchFamily="34" charset="-120"/>
              </a:rPr>
              <a:t>HC</a:t>
            </a:r>
            <a:endParaRPr lang="en-US" sz="2600" dirty="0"/>
          </a:p>
        </p:txBody>
      </p:sp>
      <p:sp>
        <p:nvSpPr>
          <p:cNvPr id="7" name="Text 5"/>
          <p:cNvSpPr/>
          <p:nvPr/>
        </p:nvSpPr>
        <p:spPr>
          <a:xfrm>
            <a:off x="822960" y="3246120"/>
            <a:ext cx="2651760" cy="274320"/>
          </a:xfrm>
          <a:prstGeom prst="rect">
            <a:avLst/>
          </a:prstGeom>
          <a:noFill/>
          <a:ln/>
        </p:spPr>
        <p:txBody>
          <a:bodyPr wrap="square" rtlCol="0" anchor="ctr"/>
          <a:lstStyle/>
          <a:p>
            <a:pPr algn="ctr" indent="0" marL="0">
              <a:buNone/>
            </a:pPr>
            <a:r>
              <a:rPr lang="en-US" sz="1100" b="1" spc="150" kern="0" dirty="0">
                <a:solidFill>
                  <a:srgbClr val="2FE6D6"/>
                </a:solidFill>
                <a:latin typeface="Calibri" pitchFamily="34" charset="0"/>
                <a:ea typeface="Calibri" pitchFamily="34" charset="-122"/>
                <a:cs typeface="Calibri" pitchFamily="34" charset="-120"/>
              </a:rPr>
              <a:t>Sector Focus</a:t>
            </a:r>
            <a:endParaRPr lang="en-US" sz="1100" dirty="0"/>
          </a:p>
        </p:txBody>
      </p:sp>
      <p:sp>
        <p:nvSpPr>
          <p:cNvPr id="8" name="Shape 6"/>
          <p:cNvSpPr/>
          <p:nvPr/>
        </p:nvSpPr>
        <p:spPr>
          <a:xfrm>
            <a:off x="868680" y="3703320"/>
            <a:ext cx="2560320" cy="0"/>
          </a:xfrm>
          <a:prstGeom prst="line">
            <a:avLst/>
          </a:prstGeom>
          <a:noFill/>
          <a:ln w="12700">
            <a:solidFill>
              <a:srgbClr val="3A5580"/>
            </a:solidFill>
            <a:prstDash val="solid"/>
          </a:ln>
        </p:spPr>
      </p:sp>
      <p:sp>
        <p:nvSpPr>
          <p:cNvPr id="9" name="Text 7"/>
          <p:cNvSpPr/>
          <p:nvPr/>
        </p:nvSpPr>
        <p:spPr>
          <a:xfrm>
            <a:off x="822960" y="3886200"/>
            <a:ext cx="2651760" cy="274320"/>
          </a:xfrm>
          <a:prstGeom prst="rect">
            <a:avLst/>
          </a:prstGeom>
          <a:noFill/>
          <a:ln/>
        </p:spPr>
        <p:txBody>
          <a:bodyPr wrap="square" rtlCol="0" anchor="ctr"/>
          <a:lstStyle/>
          <a:p>
            <a:pPr algn="ctr" indent="0" marL="0">
              <a:buNone/>
            </a:pPr>
            <a:r>
              <a:rPr lang="en-US" sz="1000" b="1" dirty="0">
                <a:solidFill>
                  <a:srgbClr val="2FE6D6"/>
                </a:solidFill>
                <a:latin typeface="Calibri" pitchFamily="34" charset="0"/>
                <a:ea typeface="Calibri" pitchFamily="34" charset="-122"/>
                <a:cs typeface="Calibri" pitchFamily="34" charset="-120"/>
              </a:rPr>
              <a:t>DISCUSSION</a:t>
            </a:r>
            <a:endParaRPr lang="en-US" sz="1000" dirty="0"/>
          </a:p>
        </p:txBody>
      </p:sp>
      <p:sp>
        <p:nvSpPr>
          <p:cNvPr id="10" name="Text 8"/>
          <p:cNvSpPr/>
          <p:nvPr/>
        </p:nvSpPr>
        <p:spPr>
          <a:xfrm>
            <a:off x="822960" y="4206240"/>
            <a:ext cx="2651760" cy="1737360"/>
          </a:xfrm>
          <a:prstGeom prst="rect">
            <a:avLst/>
          </a:prstGeom>
          <a:noFill/>
          <a:ln/>
        </p:spPr>
        <p:txBody>
          <a:bodyPr wrap="square" rtlCol="0" anchor="t"/>
          <a:lstStyle/>
          <a:p>
            <a:pPr algn="ctr" indent="0" marL="0">
              <a:buNone/>
            </a:pPr>
            <a:r>
              <a:rPr lang="en-US" sz="1100" i="1" dirty="0">
                <a:solidFill>
                  <a:srgbClr val="D6DEEC"/>
                </a:solidFill>
                <a:latin typeface="Calibri" pitchFamily="34" charset="0"/>
                <a:ea typeface="Calibri" pitchFamily="34" charset="-122"/>
                <a:cs typeface="Calibri" pitchFamily="34" charset="-120"/>
              </a:rPr>
              <a:t>What level of human review should be mandatory before an AI-suggested diagnosis or note becomes part of a patient's official record?</a:t>
            </a:r>
            <a:endParaRPr lang="en-US" sz="1100" dirty="0"/>
          </a:p>
        </p:txBody>
      </p:sp>
      <p:sp>
        <p:nvSpPr>
          <p:cNvPr id="11" name="Shape 9"/>
          <p:cNvSpPr/>
          <p:nvPr/>
        </p:nvSpPr>
        <p:spPr>
          <a:xfrm>
            <a:off x="3977640" y="1508760"/>
            <a:ext cx="7635240" cy="1051560"/>
          </a:xfrm>
          <a:prstGeom prst="roundRect">
            <a:avLst>
              <a:gd name="adj" fmla="val 6957"/>
            </a:avLst>
          </a:prstGeom>
          <a:solidFill>
            <a:srgbClr val="F4F6FA"/>
          </a:solidFill>
          <a:ln w="12700">
            <a:solidFill>
              <a:srgbClr val="D8DEE9"/>
            </a:solidFill>
            <a:prstDash val="solid"/>
          </a:ln>
        </p:spPr>
      </p:sp>
      <p:sp>
        <p:nvSpPr>
          <p:cNvPr id="12" name="Text 10"/>
          <p:cNvSpPr/>
          <p:nvPr/>
        </p:nvSpPr>
        <p:spPr>
          <a:xfrm>
            <a:off x="4206240" y="1600200"/>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Medical Imaging Analysis</a:t>
            </a:r>
            <a:endParaRPr lang="en-US" sz="1350" dirty="0"/>
          </a:p>
        </p:txBody>
      </p:sp>
      <p:sp>
        <p:nvSpPr>
          <p:cNvPr id="13" name="Text 11"/>
          <p:cNvSpPr/>
          <p:nvPr/>
        </p:nvSpPr>
        <p:spPr>
          <a:xfrm>
            <a:off x="4206240" y="1947672"/>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AI-assisted detection support in radiology, pathology, and dermatology imaging workflows.</a:t>
            </a:r>
            <a:endParaRPr lang="en-US" sz="1100" dirty="0"/>
          </a:p>
        </p:txBody>
      </p:sp>
      <p:sp>
        <p:nvSpPr>
          <p:cNvPr id="14" name="Shape 12"/>
          <p:cNvSpPr/>
          <p:nvPr/>
        </p:nvSpPr>
        <p:spPr>
          <a:xfrm>
            <a:off x="3977640" y="2670048"/>
            <a:ext cx="7635240" cy="1051560"/>
          </a:xfrm>
          <a:prstGeom prst="roundRect">
            <a:avLst>
              <a:gd name="adj" fmla="val 6957"/>
            </a:avLst>
          </a:prstGeom>
          <a:solidFill>
            <a:srgbClr val="FFFFFF"/>
          </a:solidFill>
          <a:ln w="12700">
            <a:solidFill>
              <a:srgbClr val="D8DEE9"/>
            </a:solidFill>
            <a:prstDash val="solid"/>
          </a:ln>
        </p:spPr>
      </p:sp>
      <p:sp>
        <p:nvSpPr>
          <p:cNvPr id="15" name="Text 13"/>
          <p:cNvSpPr/>
          <p:nvPr/>
        </p:nvSpPr>
        <p:spPr>
          <a:xfrm>
            <a:off x="4206240" y="2761488"/>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Clinical Documentation</a:t>
            </a:r>
            <a:endParaRPr lang="en-US" sz="1350" dirty="0"/>
          </a:p>
        </p:txBody>
      </p:sp>
      <p:sp>
        <p:nvSpPr>
          <p:cNvPr id="16" name="Text 14"/>
          <p:cNvSpPr/>
          <p:nvPr/>
        </p:nvSpPr>
        <p:spPr>
          <a:xfrm>
            <a:off x="4206240" y="3108960"/>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Ambient scribing and summarization tools that draft clinical notes for physician review.</a:t>
            </a:r>
            <a:endParaRPr lang="en-US" sz="1100" dirty="0"/>
          </a:p>
        </p:txBody>
      </p:sp>
      <p:sp>
        <p:nvSpPr>
          <p:cNvPr id="17" name="Shape 15"/>
          <p:cNvSpPr/>
          <p:nvPr/>
        </p:nvSpPr>
        <p:spPr>
          <a:xfrm>
            <a:off x="3977640" y="3831336"/>
            <a:ext cx="7635240" cy="1051560"/>
          </a:xfrm>
          <a:prstGeom prst="roundRect">
            <a:avLst>
              <a:gd name="adj" fmla="val 6957"/>
            </a:avLst>
          </a:prstGeom>
          <a:solidFill>
            <a:srgbClr val="F4F6FA"/>
          </a:solidFill>
          <a:ln w="12700">
            <a:solidFill>
              <a:srgbClr val="D8DEE9"/>
            </a:solidFill>
            <a:prstDash val="solid"/>
          </a:ln>
        </p:spPr>
      </p:sp>
      <p:sp>
        <p:nvSpPr>
          <p:cNvPr id="18" name="Text 16"/>
          <p:cNvSpPr/>
          <p:nvPr/>
        </p:nvSpPr>
        <p:spPr>
          <a:xfrm>
            <a:off x="4206240" y="3922776"/>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Drug Discovery Support</a:t>
            </a:r>
            <a:endParaRPr lang="en-US" sz="1350" dirty="0"/>
          </a:p>
        </p:txBody>
      </p:sp>
      <p:sp>
        <p:nvSpPr>
          <p:cNvPr id="19" name="Text 17"/>
          <p:cNvSpPr/>
          <p:nvPr/>
        </p:nvSpPr>
        <p:spPr>
          <a:xfrm>
            <a:off x="4206240" y="4270248"/>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Accelerating candidate molecule screening and research hypothesis generation.</a:t>
            </a:r>
            <a:endParaRPr lang="en-US" sz="1100" dirty="0"/>
          </a:p>
        </p:txBody>
      </p:sp>
      <p:sp>
        <p:nvSpPr>
          <p:cNvPr id="20" name="Shape 18"/>
          <p:cNvSpPr/>
          <p:nvPr/>
        </p:nvSpPr>
        <p:spPr>
          <a:xfrm>
            <a:off x="3977640" y="4992624"/>
            <a:ext cx="7635240" cy="1051560"/>
          </a:xfrm>
          <a:prstGeom prst="roundRect">
            <a:avLst>
              <a:gd name="adj" fmla="val 6957"/>
            </a:avLst>
          </a:prstGeom>
          <a:solidFill>
            <a:srgbClr val="FFFFFF"/>
          </a:solidFill>
          <a:ln w="12700">
            <a:solidFill>
              <a:srgbClr val="D8DEE9"/>
            </a:solidFill>
            <a:prstDash val="solid"/>
          </a:ln>
        </p:spPr>
      </p:sp>
      <p:sp>
        <p:nvSpPr>
          <p:cNvPr id="21" name="Text 19"/>
          <p:cNvSpPr/>
          <p:nvPr/>
        </p:nvSpPr>
        <p:spPr>
          <a:xfrm>
            <a:off x="4206240" y="5084064"/>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Administrative &amp; Triage Support</a:t>
            </a:r>
            <a:endParaRPr lang="en-US" sz="1350" dirty="0"/>
          </a:p>
        </p:txBody>
      </p:sp>
      <p:sp>
        <p:nvSpPr>
          <p:cNvPr id="22" name="Text 20"/>
          <p:cNvSpPr/>
          <p:nvPr/>
        </p:nvSpPr>
        <p:spPr>
          <a:xfrm>
            <a:off x="4206240" y="5431536"/>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Scheduling, insurance processing, and symptom-checking chat interfaces.</a:t>
            </a:r>
            <a:endParaRPr lang="en-US" sz="1100" dirty="0"/>
          </a:p>
        </p:txBody>
      </p:sp>
      <p:sp>
        <p:nvSpPr>
          <p:cNvPr id="23" name="Text 21"/>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08 / 30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SECTOR APPLICATION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in Banking &amp; Finance</a:t>
            </a:r>
            <a:endParaRPr lang="en-US" sz="3000" dirty="0"/>
          </a:p>
        </p:txBody>
      </p:sp>
      <p:sp>
        <p:nvSpPr>
          <p:cNvPr id="4" name="Shape 2"/>
          <p:cNvSpPr/>
          <p:nvPr/>
        </p:nvSpPr>
        <p:spPr>
          <a:xfrm>
            <a:off x="548640" y="1508760"/>
            <a:ext cx="3200400" cy="4663440"/>
          </a:xfrm>
          <a:prstGeom prst="roundRect">
            <a:avLst>
              <a:gd name="adj" fmla="val 2286"/>
            </a:avLst>
          </a:prstGeom>
          <a:solidFill>
            <a:srgbClr val="16213E"/>
          </a:solidFill>
          <a:ln w="12700">
            <a:solidFill>
              <a:srgbClr val="D8DEE9"/>
            </a:solidFill>
            <a:prstDash val="solid"/>
          </a:ln>
        </p:spPr>
      </p:sp>
      <p:sp>
        <p:nvSpPr>
          <p:cNvPr id="5" name="Shape 3"/>
          <p:cNvSpPr/>
          <p:nvPr/>
        </p:nvSpPr>
        <p:spPr>
          <a:xfrm>
            <a:off x="1645920" y="2011680"/>
            <a:ext cx="1005840" cy="1005840"/>
          </a:xfrm>
          <a:prstGeom prst="ellipse">
            <a:avLst/>
          </a:prstGeom>
          <a:solidFill>
            <a:srgbClr val="2FE6D6"/>
          </a:solidFill>
          <a:ln/>
        </p:spPr>
      </p:sp>
      <p:sp>
        <p:nvSpPr>
          <p:cNvPr id="6" name="Text 4"/>
          <p:cNvSpPr/>
          <p:nvPr/>
        </p:nvSpPr>
        <p:spPr>
          <a:xfrm>
            <a:off x="1645920" y="2011680"/>
            <a:ext cx="1005840" cy="1005840"/>
          </a:xfrm>
          <a:prstGeom prst="rect">
            <a:avLst/>
          </a:prstGeom>
          <a:noFill/>
          <a:ln/>
        </p:spPr>
        <p:txBody>
          <a:bodyPr wrap="square" rtlCol="0" anchor="ctr"/>
          <a:lstStyle/>
          <a:p>
            <a:pPr algn="ctr" indent="0" marL="0">
              <a:buNone/>
            </a:pPr>
            <a:r>
              <a:rPr lang="en-US" sz="2600" b="1" dirty="0">
                <a:solidFill>
                  <a:srgbClr val="16213E"/>
                </a:solidFill>
                <a:latin typeface="Calibri" pitchFamily="34" charset="0"/>
                <a:ea typeface="Calibri" pitchFamily="34" charset="-122"/>
                <a:cs typeface="Calibri" pitchFamily="34" charset="-120"/>
              </a:rPr>
              <a:t>FN</a:t>
            </a:r>
            <a:endParaRPr lang="en-US" sz="2600" dirty="0"/>
          </a:p>
        </p:txBody>
      </p:sp>
      <p:sp>
        <p:nvSpPr>
          <p:cNvPr id="7" name="Text 5"/>
          <p:cNvSpPr/>
          <p:nvPr/>
        </p:nvSpPr>
        <p:spPr>
          <a:xfrm>
            <a:off x="822960" y="3246120"/>
            <a:ext cx="2651760" cy="274320"/>
          </a:xfrm>
          <a:prstGeom prst="rect">
            <a:avLst/>
          </a:prstGeom>
          <a:noFill/>
          <a:ln/>
        </p:spPr>
        <p:txBody>
          <a:bodyPr wrap="square" rtlCol="0" anchor="ctr"/>
          <a:lstStyle/>
          <a:p>
            <a:pPr algn="ctr" indent="0" marL="0">
              <a:buNone/>
            </a:pPr>
            <a:r>
              <a:rPr lang="en-US" sz="1100" b="1" spc="150" kern="0" dirty="0">
                <a:solidFill>
                  <a:srgbClr val="2FE6D6"/>
                </a:solidFill>
                <a:latin typeface="Calibri" pitchFamily="34" charset="0"/>
                <a:ea typeface="Calibri" pitchFamily="34" charset="-122"/>
                <a:cs typeface="Calibri" pitchFamily="34" charset="-120"/>
              </a:rPr>
              <a:t>Sector Focus</a:t>
            </a:r>
            <a:endParaRPr lang="en-US" sz="1100" dirty="0"/>
          </a:p>
        </p:txBody>
      </p:sp>
      <p:sp>
        <p:nvSpPr>
          <p:cNvPr id="8" name="Shape 6"/>
          <p:cNvSpPr/>
          <p:nvPr/>
        </p:nvSpPr>
        <p:spPr>
          <a:xfrm>
            <a:off x="868680" y="3703320"/>
            <a:ext cx="2560320" cy="0"/>
          </a:xfrm>
          <a:prstGeom prst="line">
            <a:avLst/>
          </a:prstGeom>
          <a:noFill/>
          <a:ln w="12700">
            <a:solidFill>
              <a:srgbClr val="3A5580"/>
            </a:solidFill>
            <a:prstDash val="solid"/>
          </a:ln>
        </p:spPr>
      </p:sp>
      <p:sp>
        <p:nvSpPr>
          <p:cNvPr id="9" name="Text 7"/>
          <p:cNvSpPr/>
          <p:nvPr/>
        </p:nvSpPr>
        <p:spPr>
          <a:xfrm>
            <a:off x="822960" y="3886200"/>
            <a:ext cx="2651760" cy="274320"/>
          </a:xfrm>
          <a:prstGeom prst="rect">
            <a:avLst/>
          </a:prstGeom>
          <a:noFill/>
          <a:ln/>
        </p:spPr>
        <p:txBody>
          <a:bodyPr wrap="square" rtlCol="0" anchor="ctr"/>
          <a:lstStyle/>
          <a:p>
            <a:pPr algn="ctr" indent="0" marL="0">
              <a:buNone/>
            </a:pPr>
            <a:r>
              <a:rPr lang="en-US" sz="1000" b="1" dirty="0">
                <a:solidFill>
                  <a:srgbClr val="2FE6D6"/>
                </a:solidFill>
                <a:latin typeface="Calibri" pitchFamily="34" charset="0"/>
                <a:ea typeface="Calibri" pitchFamily="34" charset="-122"/>
                <a:cs typeface="Calibri" pitchFamily="34" charset="-120"/>
              </a:rPr>
              <a:t>DISCUSSION</a:t>
            </a:r>
            <a:endParaRPr lang="en-US" sz="1000" dirty="0"/>
          </a:p>
        </p:txBody>
      </p:sp>
      <p:sp>
        <p:nvSpPr>
          <p:cNvPr id="10" name="Text 8"/>
          <p:cNvSpPr/>
          <p:nvPr/>
        </p:nvSpPr>
        <p:spPr>
          <a:xfrm>
            <a:off x="822960" y="4206240"/>
            <a:ext cx="2651760" cy="1737360"/>
          </a:xfrm>
          <a:prstGeom prst="rect">
            <a:avLst/>
          </a:prstGeom>
          <a:noFill/>
          <a:ln/>
        </p:spPr>
        <p:txBody>
          <a:bodyPr wrap="square" rtlCol="0" anchor="t"/>
          <a:lstStyle/>
          <a:p>
            <a:pPr algn="ctr" indent="0" marL="0">
              <a:buNone/>
            </a:pPr>
            <a:r>
              <a:rPr lang="en-US" sz="1100" i="1" dirty="0">
                <a:solidFill>
                  <a:srgbClr val="D6DEEC"/>
                </a:solidFill>
                <a:latin typeface="Calibri" pitchFamily="34" charset="0"/>
                <a:ea typeface="Calibri" pitchFamily="34" charset="-122"/>
                <a:cs typeface="Calibri" pitchFamily="34" charset="-120"/>
              </a:rPr>
              <a:t>How should a bank explain an AI-driven loan denial to a customer in a way that is both honest and legally compliant?</a:t>
            </a:r>
            <a:endParaRPr lang="en-US" sz="1100" dirty="0"/>
          </a:p>
        </p:txBody>
      </p:sp>
      <p:sp>
        <p:nvSpPr>
          <p:cNvPr id="11" name="Shape 9"/>
          <p:cNvSpPr/>
          <p:nvPr/>
        </p:nvSpPr>
        <p:spPr>
          <a:xfrm>
            <a:off x="3977640" y="1508760"/>
            <a:ext cx="7635240" cy="1051560"/>
          </a:xfrm>
          <a:prstGeom prst="roundRect">
            <a:avLst>
              <a:gd name="adj" fmla="val 6957"/>
            </a:avLst>
          </a:prstGeom>
          <a:solidFill>
            <a:srgbClr val="F4F6FA"/>
          </a:solidFill>
          <a:ln w="12700">
            <a:solidFill>
              <a:srgbClr val="D8DEE9"/>
            </a:solidFill>
            <a:prstDash val="solid"/>
          </a:ln>
        </p:spPr>
      </p:sp>
      <p:sp>
        <p:nvSpPr>
          <p:cNvPr id="12" name="Text 10"/>
          <p:cNvSpPr/>
          <p:nvPr/>
        </p:nvSpPr>
        <p:spPr>
          <a:xfrm>
            <a:off x="4206240" y="1600200"/>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Fraud Detection</a:t>
            </a:r>
            <a:endParaRPr lang="en-US" sz="1350" dirty="0"/>
          </a:p>
        </p:txBody>
      </p:sp>
      <p:sp>
        <p:nvSpPr>
          <p:cNvPr id="13" name="Text 11"/>
          <p:cNvSpPr/>
          <p:nvPr/>
        </p:nvSpPr>
        <p:spPr>
          <a:xfrm>
            <a:off x="4206240" y="1947672"/>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Real-time transaction pattern analysis to flag anomalous or potentially fraudulent activity.</a:t>
            </a:r>
            <a:endParaRPr lang="en-US" sz="1100" dirty="0"/>
          </a:p>
        </p:txBody>
      </p:sp>
      <p:sp>
        <p:nvSpPr>
          <p:cNvPr id="14" name="Shape 12"/>
          <p:cNvSpPr/>
          <p:nvPr/>
        </p:nvSpPr>
        <p:spPr>
          <a:xfrm>
            <a:off x="3977640" y="2670048"/>
            <a:ext cx="7635240" cy="1051560"/>
          </a:xfrm>
          <a:prstGeom prst="roundRect">
            <a:avLst>
              <a:gd name="adj" fmla="val 6957"/>
            </a:avLst>
          </a:prstGeom>
          <a:solidFill>
            <a:srgbClr val="FFFFFF"/>
          </a:solidFill>
          <a:ln w="12700">
            <a:solidFill>
              <a:srgbClr val="D8DEE9"/>
            </a:solidFill>
            <a:prstDash val="solid"/>
          </a:ln>
        </p:spPr>
      </p:sp>
      <p:sp>
        <p:nvSpPr>
          <p:cNvPr id="15" name="Text 13"/>
          <p:cNvSpPr/>
          <p:nvPr/>
        </p:nvSpPr>
        <p:spPr>
          <a:xfrm>
            <a:off x="4206240" y="2761488"/>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Credit Risk Scoring</a:t>
            </a:r>
            <a:endParaRPr lang="en-US" sz="1350" dirty="0"/>
          </a:p>
        </p:txBody>
      </p:sp>
      <p:sp>
        <p:nvSpPr>
          <p:cNvPr id="16" name="Text 14"/>
          <p:cNvSpPr/>
          <p:nvPr/>
        </p:nvSpPr>
        <p:spPr>
          <a:xfrm>
            <a:off x="4206240" y="3108960"/>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Predictive models supporting lending decisions, subject to fair-lending regulatory oversight.</a:t>
            </a:r>
            <a:endParaRPr lang="en-US" sz="1100" dirty="0"/>
          </a:p>
        </p:txBody>
      </p:sp>
      <p:sp>
        <p:nvSpPr>
          <p:cNvPr id="17" name="Shape 15"/>
          <p:cNvSpPr/>
          <p:nvPr/>
        </p:nvSpPr>
        <p:spPr>
          <a:xfrm>
            <a:off x="3977640" y="3831336"/>
            <a:ext cx="7635240" cy="1051560"/>
          </a:xfrm>
          <a:prstGeom prst="roundRect">
            <a:avLst>
              <a:gd name="adj" fmla="val 6957"/>
            </a:avLst>
          </a:prstGeom>
          <a:solidFill>
            <a:srgbClr val="F4F6FA"/>
          </a:solidFill>
          <a:ln w="12700">
            <a:solidFill>
              <a:srgbClr val="D8DEE9"/>
            </a:solidFill>
            <a:prstDash val="solid"/>
          </a:ln>
        </p:spPr>
      </p:sp>
      <p:sp>
        <p:nvSpPr>
          <p:cNvPr id="18" name="Text 16"/>
          <p:cNvSpPr/>
          <p:nvPr/>
        </p:nvSpPr>
        <p:spPr>
          <a:xfrm>
            <a:off x="4206240" y="3922776"/>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Algorithmic Trading &amp; Forecasting</a:t>
            </a:r>
            <a:endParaRPr lang="en-US" sz="1350" dirty="0"/>
          </a:p>
        </p:txBody>
      </p:sp>
      <p:sp>
        <p:nvSpPr>
          <p:cNvPr id="19" name="Text 17"/>
          <p:cNvSpPr/>
          <p:nvPr/>
        </p:nvSpPr>
        <p:spPr>
          <a:xfrm>
            <a:off x="4206240" y="4270248"/>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Pattern-based models used in trading strategy support and market analysis.</a:t>
            </a:r>
            <a:endParaRPr lang="en-US" sz="1100" dirty="0"/>
          </a:p>
        </p:txBody>
      </p:sp>
      <p:sp>
        <p:nvSpPr>
          <p:cNvPr id="20" name="Shape 18"/>
          <p:cNvSpPr/>
          <p:nvPr/>
        </p:nvSpPr>
        <p:spPr>
          <a:xfrm>
            <a:off x="3977640" y="4992624"/>
            <a:ext cx="7635240" cy="1051560"/>
          </a:xfrm>
          <a:prstGeom prst="roundRect">
            <a:avLst>
              <a:gd name="adj" fmla="val 6957"/>
            </a:avLst>
          </a:prstGeom>
          <a:solidFill>
            <a:srgbClr val="FFFFFF"/>
          </a:solidFill>
          <a:ln w="12700">
            <a:solidFill>
              <a:srgbClr val="D8DEE9"/>
            </a:solidFill>
            <a:prstDash val="solid"/>
          </a:ln>
        </p:spPr>
      </p:sp>
      <p:sp>
        <p:nvSpPr>
          <p:cNvPr id="21" name="Text 19"/>
          <p:cNvSpPr/>
          <p:nvPr/>
        </p:nvSpPr>
        <p:spPr>
          <a:xfrm>
            <a:off x="4206240" y="5084064"/>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Customer Service Automation</a:t>
            </a:r>
            <a:endParaRPr lang="en-US" sz="1350" dirty="0"/>
          </a:p>
        </p:txBody>
      </p:sp>
      <p:sp>
        <p:nvSpPr>
          <p:cNvPr id="22" name="Text 20"/>
          <p:cNvSpPr/>
          <p:nvPr/>
        </p:nvSpPr>
        <p:spPr>
          <a:xfrm>
            <a:off x="4206240" y="5431536"/>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AI chat assistants for account queries, subject to escalation paths for complex cases.</a:t>
            </a:r>
            <a:endParaRPr lang="en-US" sz="1100" dirty="0"/>
          </a:p>
        </p:txBody>
      </p:sp>
      <p:sp>
        <p:nvSpPr>
          <p:cNvPr id="23" name="Text 21"/>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09 / 30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SECTOR APPLICATION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in Business &amp; Marketing</a:t>
            </a:r>
            <a:endParaRPr lang="en-US" sz="3000" dirty="0"/>
          </a:p>
        </p:txBody>
      </p:sp>
      <p:sp>
        <p:nvSpPr>
          <p:cNvPr id="4" name="Shape 2"/>
          <p:cNvSpPr/>
          <p:nvPr/>
        </p:nvSpPr>
        <p:spPr>
          <a:xfrm>
            <a:off x="548640" y="1508760"/>
            <a:ext cx="3200400" cy="4663440"/>
          </a:xfrm>
          <a:prstGeom prst="roundRect">
            <a:avLst>
              <a:gd name="adj" fmla="val 2286"/>
            </a:avLst>
          </a:prstGeom>
          <a:solidFill>
            <a:srgbClr val="16213E"/>
          </a:solidFill>
          <a:ln w="12700">
            <a:solidFill>
              <a:srgbClr val="D8DEE9"/>
            </a:solidFill>
            <a:prstDash val="solid"/>
          </a:ln>
        </p:spPr>
      </p:sp>
      <p:sp>
        <p:nvSpPr>
          <p:cNvPr id="5" name="Shape 3"/>
          <p:cNvSpPr/>
          <p:nvPr/>
        </p:nvSpPr>
        <p:spPr>
          <a:xfrm>
            <a:off x="1645920" y="2011680"/>
            <a:ext cx="1005840" cy="1005840"/>
          </a:xfrm>
          <a:prstGeom prst="ellipse">
            <a:avLst/>
          </a:prstGeom>
          <a:solidFill>
            <a:srgbClr val="2FE6D6"/>
          </a:solidFill>
          <a:ln/>
        </p:spPr>
      </p:sp>
      <p:sp>
        <p:nvSpPr>
          <p:cNvPr id="6" name="Text 4"/>
          <p:cNvSpPr/>
          <p:nvPr/>
        </p:nvSpPr>
        <p:spPr>
          <a:xfrm>
            <a:off x="1645920" y="2011680"/>
            <a:ext cx="1005840" cy="1005840"/>
          </a:xfrm>
          <a:prstGeom prst="rect">
            <a:avLst/>
          </a:prstGeom>
          <a:noFill/>
          <a:ln/>
        </p:spPr>
        <p:txBody>
          <a:bodyPr wrap="square" rtlCol="0" anchor="ctr"/>
          <a:lstStyle/>
          <a:p>
            <a:pPr algn="ctr" indent="0" marL="0">
              <a:buNone/>
            </a:pPr>
            <a:r>
              <a:rPr lang="en-US" sz="2600" b="1" dirty="0">
                <a:solidFill>
                  <a:srgbClr val="16213E"/>
                </a:solidFill>
                <a:latin typeface="Calibri" pitchFamily="34" charset="0"/>
                <a:ea typeface="Calibri" pitchFamily="34" charset="-122"/>
                <a:cs typeface="Calibri" pitchFamily="34" charset="-120"/>
              </a:rPr>
              <a:t>BM</a:t>
            </a:r>
            <a:endParaRPr lang="en-US" sz="2600" dirty="0"/>
          </a:p>
        </p:txBody>
      </p:sp>
      <p:sp>
        <p:nvSpPr>
          <p:cNvPr id="7" name="Text 5"/>
          <p:cNvSpPr/>
          <p:nvPr/>
        </p:nvSpPr>
        <p:spPr>
          <a:xfrm>
            <a:off x="822960" y="3246120"/>
            <a:ext cx="2651760" cy="274320"/>
          </a:xfrm>
          <a:prstGeom prst="rect">
            <a:avLst/>
          </a:prstGeom>
          <a:noFill/>
          <a:ln/>
        </p:spPr>
        <p:txBody>
          <a:bodyPr wrap="square" rtlCol="0" anchor="ctr"/>
          <a:lstStyle/>
          <a:p>
            <a:pPr algn="ctr" indent="0" marL="0">
              <a:buNone/>
            </a:pPr>
            <a:r>
              <a:rPr lang="en-US" sz="1100" b="1" spc="150" kern="0" dirty="0">
                <a:solidFill>
                  <a:srgbClr val="2FE6D6"/>
                </a:solidFill>
                <a:latin typeface="Calibri" pitchFamily="34" charset="0"/>
                <a:ea typeface="Calibri" pitchFamily="34" charset="-122"/>
                <a:cs typeface="Calibri" pitchFamily="34" charset="-120"/>
              </a:rPr>
              <a:t>Sector Focus</a:t>
            </a:r>
            <a:endParaRPr lang="en-US" sz="1100" dirty="0"/>
          </a:p>
        </p:txBody>
      </p:sp>
      <p:sp>
        <p:nvSpPr>
          <p:cNvPr id="8" name="Shape 6"/>
          <p:cNvSpPr/>
          <p:nvPr/>
        </p:nvSpPr>
        <p:spPr>
          <a:xfrm>
            <a:off x="868680" y="3703320"/>
            <a:ext cx="2560320" cy="0"/>
          </a:xfrm>
          <a:prstGeom prst="line">
            <a:avLst/>
          </a:prstGeom>
          <a:noFill/>
          <a:ln w="12700">
            <a:solidFill>
              <a:srgbClr val="3A5580"/>
            </a:solidFill>
            <a:prstDash val="solid"/>
          </a:ln>
        </p:spPr>
      </p:sp>
      <p:sp>
        <p:nvSpPr>
          <p:cNvPr id="9" name="Text 7"/>
          <p:cNvSpPr/>
          <p:nvPr/>
        </p:nvSpPr>
        <p:spPr>
          <a:xfrm>
            <a:off x="822960" y="3886200"/>
            <a:ext cx="2651760" cy="274320"/>
          </a:xfrm>
          <a:prstGeom prst="rect">
            <a:avLst/>
          </a:prstGeom>
          <a:noFill/>
          <a:ln/>
        </p:spPr>
        <p:txBody>
          <a:bodyPr wrap="square" rtlCol="0" anchor="ctr"/>
          <a:lstStyle/>
          <a:p>
            <a:pPr algn="ctr" indent="0" marL="0">
              <a:buNone/>
            </a:pPr>
            <a:r>
              <a:rPr lang="en-US" sz="1000" b="1" dirty="0">
                <a:solidFill>
                  <a:srgbClr val="2FE6D6"/>
                </a:solidFill>
                <a:latin typeface="Calibri" pitchFamily="34" charset="0"/>
                <a:ea typeface="Calibri" pitchFamily="34" charset="-122"/>
                <a:cs typeface="Calibri" pitchFamily="34" charset="-120"/>
              </a:rPr>
              <a:t>DISCUSSION</a:t>
            </a:r>
            <a:endParaRPr lang="en-US" sz="1000" dirty="0"/>
          </a:p>
        </p:txBody>
      </p:sp>
      <p:sp>
        <p:nvSpPr>
          <p:cNvPr id="10" name="Text 8"/>
          <p:cNvSpPr/>
          <p:nvPr/>
        </p:nvSpPr>
        <p:spPr>
          <a:xfrm>
            <a:off x="822960" y="4206240"/>
            <a:ext cx="2651760" cy="1737360"/>
          </a:xfrm>
          <a:prstGeom prst="rect">
            <a:avLst/>
          </a:prstGeom>
          <a:noFill/>
          <a:ln/>
        </p:spPr>
        <p:txBody>
          <a:bodyPr wrap="square" rtlCol="0" anchor="t"/>
          <a:lstStyle/>
          <a:p>
            <a:pPr algn="ctr" indent="0" marL="0">
              <a:buNone/>
            </a:pPr>
            <a:r>
              <a:rPr lang="en-US" sz="1100" i="1" dirty="0">
                <a:solidFill>
                  <a:srgbClr val="D6DEEC"/>
                </a:solidFill>
                <a:latin typeface="Calibri" pitchFamily="34" charset="0"/>
                <a:ea typeface="Calibri" pitchFamily="34" charset="-122"/>
                <a:cs typeface="Calibri" pitchFamily="34" charset="-120"/>
              </a:rPr>
              <a:t>Where is the line between using AI to speed up marketing work and losing authentic brand voice?</a:t>
            </a:r>
            <a:endParaRPr lang="en-US" sz="1100" dirty="0"/>
          </a:p>
        </p:txBody>
      </p:sp>
      <p:sp>
        <p:nvSpPr>
          <p:cNvPr id="11" name="Shape 9"/>
          <p:cNvSpPr/>
          <p:nvPr/>
        </p:nvSpPr>
        <p:spPr>
          <a:xfrm>
            <a:off x="3977640" y="1508760"/>
            <a:ext cx="7635240" cy="1051560"/>
          </a:xfrm>
          <a:prstGeom prst="roundRect">
            <a:avLst>
              <a:gd name="adj" fmla="val 6957"/>
            </a:avLst>
          </a:prstGeom>
          <a:solidFill>
            <a:srgbClr val="F4F6FA"/>
          </a:solidFill>
          <a:ln w="12700">
            <a:solidFill>
              <a:srgbClr val="D8DEE9"/>
            </a:solidFill>
            <a:prstDash val="solid"/>
          </a:ln>
        </p:spPr>
      </p:sp>
      <p:sp>
        <p:nvSpPr>
          <p:cNvPr id="12" name="Text 10"/>
          <p:cNvSpPr/>
          <p:nvPr/>
        </p:nvSpPr>
        <p:spPr>
          <a:xfrm>
            <a:off x="4206240" y="1600200"/>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Content &amp; Copy Generation</a:t>
            </a:r>
            <a:endParaRPr lang="en-US" sz="1350" dirty="0"/>
          </a:p>
        </p:txBody>
      </p:sp>
      <p:sp>
        <p:nvSpPr>
          <p:cNvPr id="13" name="Text 11"/>
          <p:cNvSpPr/>
          <p:nvPr/>
        </p:nvSpPr>
        <p:spPr>
          <a:xfrm>
            <a:off x="4206240" y="1947672"/>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Drafting marketing copy, product descriptions, and campaign variations at speed.</a:t>
            </a:r>
            <a:endParaRPr lang="en-US" sz="1100" dirty="0"/>
          </a:p>
        </p:txBody>
      </p:sp>
      <p:sp>
        <p:nvSpPr>
          <p:cNvPr id="14" name="Shape 12"/>
          <p:cNvSpPr/>
          <p:nvPr/>
        </p:nvSpPr>
        <p:spPr>
          <a:xfrm>
            <a:off x="3977640" y="2670048"/>
            <a:ext cx="7635240" cy="1051560"/>
          </a:xfrm>
          <a:prstGeom prst="roundRect">
            <a:avLst>
              <a:gd name="adj" fmla="val 6957"/>
            </a:avLst>
          </a:prstGeom>
          <a:solidFill>
            <a:srgbClr val="FFFFFF"/>
          </a:solidFill>
          <a:ln w="12700">
            <a:solidFill>
              <a:srgbClr val="D8DEE9"/>
            </a:solidFill>
            <a:prstDash val="solid"/>
          </a:ln>
        </p:spPr>
      </p:sp>
      <p:sp>
        <p:nvSpPr>
          <p:cNvPr id="15" name="Text 13"/>
          <p:cNvSpPr/>
          <p:nvPr/>
        </p:nvSpPr>
        <p:spPr>
          <a:xfrm>
            <a:off x="4206240" y="2761488"/>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Customer Segmentation &amp; Targeting</a:t>
            </a:r>
            <a:endParaRPr lang="en-US" sz="1350" dirty="0"/>
          </a:p>
        </p:txBody>
      </p:sp>
      <p:sp>
        <p:nvSpPr>
          <p:cNvPr id="16" name="Text 14"/>
          <p:cNvSpPr/>
          <p:nvPr/>
        </p:nvSpPr>
        <p:spPr>
          <a:xfrm>
            <a:off x="4206240" y="3108960"/>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Pattern-based audience segmentation and predictive customer lifetime value models.</a:t>
            </a:r>
            <a:endParaRPr lang="en-US" sz="1100" dirty="0"/>
          </a:p>
        </p:txBody>
      </p:sp>
      <p:sp>
        <p:nvSpPr>
          <p:cNvPr id="17" name="Shape 15"/>
          <p:cNvSpPr/>
          <p:nvPr/>
        </p:nvSpPr>
        <p:spPr>
          <a:xfrm>
            <a:off x="3977640" y="3831336"/>
            <a:ext cx="7635240" cy="1051560"/>
          </a:xfrm>
          <a:prstGeom prst="roundRect">
            <a:avLst>
              <a:gd name="adj" fmla="val 6957"/>
            </a:avLst>
          </a:prstGeom>
          <a:solidFill>
            <a:srgbClr val="F4F6FA"/>
          </a:solidFill>
          <a:ln w="12700">
            <a:solidFill>
              <a:srgbClr val="D8DEE9"/>
            </a:solidFill>
            <a:prstDash val="solid"/>
          </a:ln>
        </p:spPr>
      </p:sp>
      <p:sp>
        <p:nvSpPr>
          <p:cNvPr id="18" name="Text 16"/>
          <p:cNvSpPr/>
          <p:nvPr/>
        </p:nvSpPr>
        <p:spPr>
          <a:xfrm>
            <a:off x="4206240" y="3922776"/>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Sentiment &amp; Market Analysis</a:t>
            </a:r>
            <a:endParaRPr lang="en-US" sz="1350" dirty="0"/>
          </a:p>
        </p:txBody>
      </p:sp>
      <p:sp>
        <p:nvSpPr>
          <p:cNvPr id="19" name="Text 17"/>
          <p:cNvSpPr/>
          <p:nvPr/>
        </p:nvSpPr>
        <p:spPr>
          <a:xfrm>
            <a:off x="4206240" y="4270248"/>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Analyzing reviews, social listening data, and support tickets at scale.</a:t>
            </a:r>
            <a:endParaRPr lang="en-US" sz="1100" dirty="0"/>
          </a:p>
        </p:txBody>
      </p:sp>
      <p:sp>
        <p:nvSpPr>
          <p:cNvPr id="20" name="Shape 18"/>
          <p:cNvSpPr/>
          <p:nvPr/>
        </p:nvSpPr>
        <p:spPr>
          <a:xfrm>
            <a:off x="3977640" y="4992624"/>
            <a:ext cx="7635240" cy="1051560"/>
          </a:xfrm>
          <a:prstGeom prst="roundRect">
            <a:avLst>
              <a:gd name="adj" fmla="val 6957"/>
            </a:avLst>
          </a:prstGeom>
          <a:solidFill>
            <a:srgbClr val="FFFFFF"/>
          </a:solidFill>
          <a:ln w="12700">
            <a:solidFill>
              <a:srgbClr val="D8DEE9"/>
            </a:solidFill>
            <a:prstDash val="solid"/>
          </a:ln>
        </p:spPr>
      </p:sp>
      <p:sp>
        <p:nvSpPr>
          <p:cNvPr id="21" name="Text 19"/>
          <p:cNvSpPr/>
          <p:nvPr/>
        </p:nvSpPr>
        <p:spPr>
          <a:xfrm>
            <a:off x="4206240" y="5084064"/>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Sales &amp; CRM Automation</a:t>
            </a:r>
            <a:endParaRPr lang="en-US" sz="1350" dirty="0"/>
          </a:p>
        </p:txBody>
      </p:sp>
      <p:sp>
        <p:nvSpPr>
          <p:cNvPr id="22" name="Text 20"/>
          <p:cNvSpPr/>
          <p:nvPr/>
        </p:nvSpPr>
        <p:spPr>
          <a:xfrm>
            <a:off x="4206240" y="5431536"/>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Lead scoring, meeting summarization, and automated follow-up drafting.</a:t>
            </a:r>
            <a:endParaRPr lang="en-US" sz="1100" dirty="0"/>
          </a:p>
        </p:txBody>
      </p:sp>
      <p:sp>
        <p:nvSpPr>
          <p:cNvPr id="23" name="Text 21"/>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10 / 30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SECTOR APPLICATION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in Software Development</a:t>
            </a:r>
            <a:endParaRPr lang="en-US" sz="3000" dirty="0"/>
          </a:p>
        </p:txBody>
      </p:sp>
      <p:sp>
        <p:nvSpPr>
          <p:cNvPr id="4" name="Shape 2"/>
          <p:cNvSpPr/>
          <p:nvPr/>
        </p:nvSpPr>
        <p:spPr>
          <a:xfrm>
            <a:off x="548640" y="1508760"/>
            <a:ext cx="3200400" cy="4663440"/>
          </a:xfrm>
          <a:prstGeom prst="roundRect">
            <a:avLst>
              <a:gd name="adj" fmla="val 2286"/>
            </a:avLst>
          </a:prstGeom>
          <a:solidFill>
            <a:srgbClr val="16213E"/>
          </a:solidFill>
          <a:ln w="12700">
            <a:solidFill>
              <a:srgbClr val="D8DEE9"/>
            </a:solidFill>
            <a:prstDash val="solid"/>
          </a:ln>
        </p:spPr>
      </p:sp>
      <p:sp>
        <p:nvSpPr>
          <p:cNvPr id="5" name="Shape 3"/>
          <p:cNvSpPr/>
          <p:nvPr/>
        </p:nvSpPr>
        <p:spPr>
          <a:xfrm>
            <a:off x="1645920" y="2011680"/>
            <a:ext cx="1005840" cy="1005840"/>
          </a:xfrm>
          <a:prstGeom prst="ellipse">
            <a:avLst/>
          </a:prstGeom>
          <a:solidFill>
            <a:srgbClr val="2FE6D6"/>
          </a:solidFill>
          <a:ln/>
        </p:spPr>
      </p:sp>
      <p:sp>
        <p:nvSpPr>
          <p:cNvPr id="6" name="Text 4"/>
          <p:cNvSpPr/>
          <p:nvPr/>
        </p:nvSpPr>
        <p:spPr>
          <a:xfrm>
            <a:off x="1645920" y="2011680"/>
            <a:ext cx="1005840" cy="1005840"/>
          </a:xfrm>
          <a:prstGeom prst="rect">
            <a:avLst/>
          </a:prstGeom>
          <a:noFill/>
          <a:ln/>
        </p:spPr>
        <p:txBody>
          <a:bodyPr wrap="square" rtlCol="0" anchor="ctr"/>
          <a:lstStyle/>
          <a:p>
            <a:pPr algn="ctr" indent="0" marL="0">
              <a:buNone/>
            </a:pPr>
            <a:r>
              <a:rPr lang="en-US" sz="2600" b="1" dirty="0">
                <a:solidFill>
                  <a:srgbClr val="16213E"/>
                </a:solidFill>
                <a:latin typeface="Calibri" pitchFamily="34" charset="0"/>
                <a:ea typeface="Calibri" pitchFamily="34" charset="-122"/>
                <a:cs typeface="Calibri" pitchFamily="34" charset="-120"/>
              </a:rPr>
              <a:t>SD</a:t>
            </a:r>
            <a:endParaRPr lang="en-US" sz="2600" dirty="0"/>
          </a:p>
        </p:txBody>
      </p:sp>
      <p:sp>
        <p:nvSpPr>
          <p:cNvPr id="7" name="Text 5"/>
          <p:cNvSpPr/>
          <p:nvPr/>
        </p:nvSpPr>
        <p:spPr>
          <a:xfrm>
            <a:off x="822960" y="3246120"/>
            <a:ext cx="2651760" cy="274320"/>
          </a:xfrm>
          <a:prstGeom prst="rect">
            <a:avLst/>
          </a:prstGeom>
          <a:noFill/>
          <a:ln/>
        </p:spPr>
        <p:txBody>
          <a:bodyPr wrap="square" rtlCol="0" anchor="ctr"/>
          <a:lstStyle/>
          <a:p>
            <a:pPr algn="ctr" indent="0" marL="0">
              <a:buNone/>
            </a:pPr>
            <a:r>
              <a:rPr lang="en-US" sz="1100" b="1" spc="150" kern="0" dirty="0">
                <a:solidFill>
                  <a:srgbClr val="2FE6D6"/>
                </a:solidFill>
                <a:latin typeface="Calibri" pitchFamily="34" charset="0"/>
                <a:ea typeface="Calibri" pitchFamily="34" charset="-122"/>
                <a:cs typeface="Calibri" pitchFamily="34" charset="-120"/>
              </a:rPr>
              <a:t>Sector Focus</a:t>
            </a:r>
            <a:endParaRPr lang="en-US" sz="1100" dirty="0"/>
          </a:p>
        </p:txBody>
      </p:sp>
      <p:sp>
        <p:nvSpPr>
          <p:cNvPr id="8" name="Shape 6"/>
          <p:cNvSpPr/>
          <p:nvPr/>
        </p:nvSpPr>
        <p:spPr>
          <a:xfrm>
            <a:off x="868680" y="3703320"/>
            <a:ext cx="2560320" cy="0"/>
          </a:xfrm>
          <a:prstGeom prst="line">
            <a:avLst/>
          </a:prstGeom>
          <a:noFill/>
          <a:ln w="12700">
            <a:solidFill>
              <a:srgbClr val="3A5580"/>
            </a:solidFill>
            <a:prstDash val="solid"/>
          </a:ln>
        </p:spPr>
      </p:sp>
      <p:sp>
        <p:nvSpPr>
          <p:cNvPr id="9" name="Text 7"/>
          <p:cNvSpPr/>
          <p:nvPr/>
        </p:nvSpPr>
        <p:spPr>
          <a:xfrm>
            <a:off x="822960" y="3886200"/>
            <a:ext cx="2651760" cy="274320"/>
          </a:xfrm>
          <a:prstGeom prst="rect">
            <a:avLst/>
          </a:prstGeom>
          <a:noFill/>
          <a:ln/>
        </p:spPr>
        <p:txBody>
          <a:bodyPr wrap="square" rtlCol="0" anchor="ctr"/>
          <a:lstStyle/>
          <a:p>
            <a:pPr algn="ctr" indent="0" marL="0">
              <a:buNone/>
            </a:pPr>
            <a:r>
              <a:rPr lang="en-US" sz="1000" b="1" dirty="0">
                <a:solidFill>
                  <a:srgbClr val="2FE6D6"/>
                </a:solidFill>
                <a:latin typeface="Calibri" pitchFamily="34" charset="0"/>
                <a:ea typeface="Calibri" pitchFamily="34" charset="-122"/>
                <a:cs typeface="Calibri" pitchFamily="34" charset="-120"/>
              </a:rPr>
              <a:t>DISCUSSION</a:t>
            </a:r>
            <a:endParaRPr lang="en-US" sz="1000" dirty="0"/>
          </a:p>
        </p:txBody>
      </p:sp>
      <p:sp>
        <p:nvSpPr>
          <p:cNvPr id="10" name="Text 8"/>
          <p:cNvSpPr/>
          <p:nvPr/>
        </p:nvSpPr>
        <p:spPr>
          <a:xfrm>
            <a:off x="822960" y="4206240"/>
            <a:ext cx="2651760" cy="1737360"/>
          </a:xfrm>
          <a:prstGeom prst="rect">
            <a:avLst/>
          </a:prstGeom>
          <a:noFill/>
          <a:ln/>
        </p:spPr>
        <p:txBody>
          <a:bodyPr wrap="square" rtlCol="0" anchor="t"/>
          <a:lstStyle/>
          <a:p>
            <a:pPr algn="ctr" indent="0" marL="0">
              <a:buNone/>
            </a:pPr>
            <a:r>
              <a:rPr lang="en-US" sz="1100" i="1" dirty="0">
                <a:solidFill>
                  <a:srgbClr val="D6DEEC"/>
                </a:solidFill>
                <a:latin typeface="Calibri" pitchFamily="34" charset="0"/>
                <a:ea typeface="Calibri" pitchFamily="34" charset="-122"/>
                <a:cs typeface="Calibri" pitchFamily="34" charset="-120"/>
              </a:rPr>
              <a:t>Should a junior developer be allowed to submit AI-generated code they don't fully understand? Why or why not?</a:t>
            </a:r>
            <a:endParaRPr lang="en-US" sz="1100" dirty="0"/>
          </a:p>
        </p:txBody>
      </p:sp>
      <p:sp>
        <p:nvSpPr>
          <p:cNvPr id="11" name="Shape 9"/>
          <p:cNvSpPr/>
          <p:nvPr/>
        </p:nvSpPr>
        <p:spPr>
          <a:xfrm>
            <a:off x="3977640" y="1508760"/>
            <a:ext cx="7635240" cy="1051560"/>
          </a:xfrm>
          <a:prstGeom prst="roundRect">
            <a:avLst>
              <a:gd name="adj" fmla="val 6957"/>
            </a:avLst>
          </a:prstGeom>
          <a:solidFill>
            <a:srgbClr val="F4F6FA"/>
          </a:solidFill>
          <a:ln w="12700">
            <a:solidFill>
              <a:srgbClr val="D8DEE9"/>
            </a:solidFill>
            <a:prstDash val="solid"/>
          </a:ln>
        </p:spPr>
      </p:sp>
      <p:sp>
        <p:nvSpPr>
          <p:cNvPr id="12" name="Text 10"/>
          <p:cNvSpPr/>
          <p:nvPr/>
        </p:nvSpPr>
        <p:spPr>
          <a:xfrm>
            <a:off x="4206240" y="1600200"/>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Code Completion &amp; Generation</a:t>
            </a:r>
            <a:endParaRPr lang="en-US" sz="1350" dirty="0"/>
          </a:p>
        </p:txBody>
      </p:sp>
      <p:sp>
        <p:nvSpPr>
          <p:cNvPr id="13" name="Text 11"/>
          <p:cNvSpPr/>
          <p:nvPr/>
        </p:nvSpPr>
        <p:spPr>
          <a:xfrm>
            <a:off x="4206240" y="1947672"/>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AI pair-programming assistants suggesting code, functions, and boilerplate.</a:t>
            </a:r>
            <a:endParaRPr lang="en-US" sz="1100" dirty="0"/>
          </a:p>
        </p:txBody>
      </p:sp>
      <p:sp>
        <p:nvSpPr>
          <p:cNvPr id="14" name="Shape 12"/>
          <p:cNvSpPr/>
          <p:nvPr/>
        </p:nvSpPr>
        <p:spPr>
          <a:xfrm>
            <a:off x="3977640" y="2670048"/>
            <a:ext cx="7635240" cy="1051560"/>
          </a:xfrm>
          <a:prstGeom prst="roundRect">
            <a:avLst>
              <a:gd name="adj" fmla="val 6957"/>
            </a:avLst>
          </a:prstGeom>
          <a:solidFill>
            <a:srgbClr val="FFFFFF"/>
          </a:solidFill>
          <a:ln w="12700">
            <a:solidFill>
              <a:srgbClr val="D8DEE9"/>
            </a:solidFill>
            <a:prstDash val="solid"/>
          </a:ln>
        </p:spPr>
      </p:sp>
      <p:sp>
        <p:nvSpPr>
          <p:cNvPr id="15" name="Text 13"/>
          <p:cNvSpPr/>
          <p:nvPr/>
        </p:nvSpPr>
        <p:spPr>
          <a:xfrm>
            <a:off x="4206240" y="2761488"/>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Code Review &amp; Bug Detection</a:t>
            </a:r>
            <a:endParaRPr lang="en-US" sz="1350" dirty="0"/>
          </a:p>
        </p:txBody>
      </p:sp>
      <p:sp>
        <p:nvSpPr>
          <p:cNvPr id="16" name="Text 14"/>
          <p:cNvSpPr/>
          <p:nvPr/>
        </p:nvSpPr>
        <p:spPr>
          <a:xfrm>
            <a:off x="4206240" y="3108960"/>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AI-assisted static analysis and review support flagging potential issues.</a:t>
            </a:r>
            <a:endParaRPr lang="en-US" sz="1100" dirty="0"/>
          </a:p>
        </p:txBody>
      </p:sp>
      <p:sp>
        <p:nvSpPr>
          <p:cNvPr id="17" name="Shape 15"/>
          <p:cNvSpPr/>
          <p:nvPr/>
        </p:nvSpPr>
        <p:spPr>
          <a:xfrm>
            <a:off x="3977640" y="3831336"/>
            <a:ext cx="7635240" cy="1051560"/>
          </a:xfrm>
          <a:prstGeom prst="roundRect">
            <a:avLst>
              <a:gd name="adj" fmla="val 6957"/>
            </a:avLst>
          </a:prstGeom>
          <a:solidFill>
            <a:srgbClr val="F4F6FA"/>
          </a:solidFill>
          <a:ln w="12700">
            <a:solidFill>
              <a:srgbClr val="D8DEE9"/>
            </a:solidFill>
            <a:prstDash val="solid"/>
          </a:ln>
        </p:spPr>
      </p:sp>
      <p:sp>
        <p:nvSpPr>
          <p:cNvPr id="18" name="Text 16"/>
          <p:cNvSpPr/>
          <p:nvPr/>
        </p:nvSpPr>
        <p:spPr>
          <a:xfrm>
            <a:off x="4206240" y="3922776"/>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Test Generation</a:t>
            </a:r>
            <a:endParaRPr lang="en-US" sz="1350" dirty="0"/>
          </a:p>
        </p:txBody>
      </p:sp>
      <p:sp>
        <p:nvSpPr>
          <p:cNvPr id="19" name="Text 17"/>
          <p:cNvSpPr/>
          <p:nvPr/>
        </p:nvSpPr>
        <p:spPr>
          <a:xfrm>
            <a:off x="4206240" y="4270248"/>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Drafting unit tests and edge-case scenarios from existing code.</a:t>
            </a:r>
            <a:endParaRPr lang="en-US" sz="1100" dirty="0"/>
          </a:p>
        </p:txBody>
      </p:sp>
      <p:sp>
        <p:nvSpPr>
          <p:cNvPr id="20" name="Shape 18"/>
          <p:cNvSpPr/>
          <p:nvPr/>
        </p:nvSpPr>
        <p:spPr>
          <a:xfrm>
            <a:off x="3977640" y="4992624"/>
            <a:ext cx="7635240" cy="1051560"/>
          </a:xfrm>
          <a:prstGeom prst="roundRect">
            <a:avLst>
              <a:gd name="adj" fmla="val 6957"/>
            </a:avLst>
          </a:prstGeom>
          <a:solidFill>
            <a:srgbClr val="FFFFFF"/>
          </a:solidFill>
          <a:ln w="12700">
            <a:solidFill>
              <a:srgbClr val="D8DEE9"/>
            </a:solidFill>
            <a:prstDash val="solid"/>
          </a:ln>
        </p:spPr>
      </p:sp>
      <p:sp>
        <p:nvSpPr>
          <p:cNvPr id="21" name="Text 19"/>
          <p:cNvSpPr/>
          <p:nvPr/>
        </p:nvSpPr>
        <p:spPr>
          <a:xfrm>
            <a:off x="4206240" y="5084064"/>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Documentation Generation</a:t>
            </a:r>
            <a:endParaRPr lang="en-US" sz="1350" dirty="0"/>
          </a:p>
        </p:txBody>
      </p:sp>
      <p:sp>
        <p:nvSpPr>
          <p:cNvPr id="22" name="Text 20"/>
          <p:cNvSpPr/>
          <p:nvPr/>
        </p:nvSpPr>
        <p:spPr>
          <a:xfrm>
            <a:off x="4206240" y="5431536"/>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Auto-drafting technical documentation and code comments from source.</a:t>
            </a:r>
            <a:endParaRPr lang="en-US" sz="1100" dirty="0"/>
          </a:p>
        </p:txBody>
      </p:sp>
      <p:sp>
        <p:nvSpPr>
          <p:cNvPr id="23" name="Text 21"/>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11 / 30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SECTOR APPLICATION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in Agriculture &amp; Smart Systems</a:t>
            </a:r>
            <a:endParaRPr lang="en-US" sz="3000" dirty="0"/>
          </a:p>
        </p:txBody>
      </p:sp>
      <p:sp>
        <p:nvSpPr>
          <p:cNvPr id="4" name="Shape 2"/>
          <p:cNvSpPr/>
          <p:nvPr/>
        </p:nvSpPr>
        <p:spPr>
          <a:xfrm>
            <a:off x="548640" y="1508760"/>
            <a:ext cx="3200400" cy="4663440"/>
          </a:xfrm>
          <a:prstGeom prst="roundRect">
            <a:avLst>
              <a:gd name="adj" fmla="val 2286"/>
            </a:avLst>
          </a:prstGeom>
          <a:solidFill>
            <a:srgbClr val="16213E"/>
          </a:solidFill>
          <a:ln w="12700">
            <a:solidFill>
              <a:srgbClr val="D8DEE9"/>
            </a:solidFill>
            <a:prstDash val="solid"/>
          </a:ln>
        </p:spPr>
      </p:sp>
      <p:sp>
        <p:nvSpPr>
          <p:cNvPr id="5" name="Shape 3"/>
          <p:cNvSpPr/>
          <p:nvPr/>
        </p:nvSpPr>
        <p:spPr>
          <a:xfrm>
            <a:off x="1645920" y="2011680"/>
            <a:ext cx="1005840" cy="1005840"/>
          </a:xfrm>
          <a:prstGeom prst="ellipse">
            <a:avLst/>
          </a:prstGeom>
          <a:solidFill>
            <a:srgbClr val="2FE6D6"/>
          </a:solidFill>
          <a:ln/>
        </p:spPr>
      </p:sp>
      <p:sp>
        <p:nvSpPr>
          <p:cNvPr id="6" name="Text 4"/>
          <p:cNvSpPr/>
          <p:nvPr/>
        </p:nvSpPr>
        <p:spPr>
          <a:xfrm>
            <a:off x="1645920" y="2011680"/>
            <a:ext cx="1005840" cy="1005840"/>
          </a:xfrm>
          <a:prstGeom prst="rect">
            <a:avLst/>
          </a:prstGeom>
          <a:noFill/>
          <a:ln/>
        </p:spPr>
        <p:txBody>
          <a:bodyPr wrap="square" rtlCol="0" anchor="ctr"/>
          <a:lstStyle/>
          <a:p>
            <a:pPr algn="ctr" indent="0" marL="0">
              <a:buNone/>
            </a:pPr>
            <a:r>
              <a:rPr lang="en-US" sz="2600" b="1" dirty="0">
                <a:solidFill>
                  <a:srgbClr val="16213E"/>
                </a:solidFill>
                <a:latin typeface="Calibri" pitchFamily="34" charset="0"/>
                <a:ea typeface="Calibri" pitchFamily="34" charset="-122"/>
                <a:cs typeface="Calibri" pitchFamily="34" charset="-120"/>
              </a:rPr>
              <a:t>AG</a:t>
            </a:r>
            <a:endParaRPr lang="en-US" sz="2600" dirty="0"/>
          </a:p>
        </p:txBody>
      </p:sp>
      <p:sp>
        <p:nvSpPr>
          <p:cNvPr id="7" name="Text 5"/>
          <p:cNvSpPr/>
          <p:nvPr/>
        </p:nvSpPr>
        <p:spPr>
          <a:xfrm>
            <a:off x="822960" y="3246120"/>
            <a:ext cx="2651760" cy="274320"/>
          </a:xfrm>
          <a:prstGeom prst="rect">
            <a:avLst/>
          </a:prstGeom>
          <a:noFill/>
          <a:ln/>
        </p:spPr>
        <p:txBody>
          <a:bodyPr wrap="square" rtlCol="0" anchor="ctr"/>
          <a:lstStyle/>
          <a:p>
            <a:pPr algn="ctr" indent="0" marL="0">
              <a:buNone/>
            </a:pPr>
            <a:r>
              <a:rPr lang="en-US" sz="1100" b="1" spc="150" kern="0" dirty="0">
                <a:solidFill>
                  <a:srgbClr val="2FE6D6"/>
                </a:solidFill>
                <a:latin typeface="Calibri" pitchFamily="34" charset="0"/>
                <a:ea typeface="Calibri" pitchFamily="34" charset="-122"/>
                <a:cs typeface="Calibri" pitchFamily="34" charset="-120"/>
              </a:rPr>
              <a:t>Sector Focus</a:t>
            </a:r>
            <a:endParaRPr lang="en-US" sz="1100" dirty="0"/>
          </a:p>
        </p:txBody>
      </p:sp>
      <p:sp>
        <p:nvSpPr>
          <p:cNvPr id="8" name="Shape 6"/>
          <p:cNvSpPr/>
          <p:nvPr/>
        </p:nvSpPr>
        <p:spPr>
          <a:xfrm>
            <a:off x="868680" y="3703320"/>
            <a:ext cx="2560320" cy="0"/>
          </a:xfrm>
          <a:prstGeom prst="line">
            <a:avLst/>
          </a:prstGeom>
          <a:noFill/>
          <a:ln w="12700">
            <a:solidFill>
              <a:srgbClr val="3A5580"/>
            </a:solidFill>
            <a:prstDash val="solid"/>
          </a:ln>
        </p:spPr>
      </p:sp>
      <p:sp>
        <p:nvSpPr>
          <p:cNvPr id="9" name="Text 7"/>
          <p:cNvSpPr/>
          <p:nvPr/>
        </p:nvSpPr>
        <p:spPr>
          <a:xfrm>
            <a:off x="822960" y="3886200"/>
            <a:ext cx="2651760" cy="274320"/>
          </a:xfrm>
          <a:prstGeom prst="rect">
            <a:avLst/>
          </a:prstGeom>
          <a:noFill/>
          <a:ln/>
        </p:spPr>
        <p:txBody>
          <a:bodyPr wrap="square" rtlCol="0" anchor="ctr"/>
          <a:lstStyle/>
          <a:p>
            <a:pPr algn="ctr" indent="0" marL="0">
              <a:buNone/>
            </a:pPr>
            <a:r>
              <a:rPr lang="en-US" sz="1000" b="1" dirty="0">
                <a:solidFill>
                  <a:srgbClr val="2FE6D6"/>
                </a:solidFill>
                <a:latin typeface="Calibri" pitchFamily="34" charset="0"/>
                <a:ea typeface="Calibri" pitchFamily="34" charset="-122"/>
                <a:cs typeface="Calibri" pitchFamily="34" charset="-120"/>
              </a:rPr>
              <a:t>DISCUSSION</a:t>
            </a:r>
            <a:endParaRPr lang="en-US" sz="1000" dirty="0"/>
          </a:p>
        </p:txBody>
      </p:sp>
      <p:sp>
        <p:nvSpPr>
          <p:cNvPr id="10" name="Text 8"/>
          <p:cNvSpPr/>
          <p:nvPr/>
        </p:nvSpPr>
        <p:spPr>
          <a:xfrm>
            <a:off x="822960" y="4206240"/>
            <a:ext cx="2651760" cy="1737360"/>
          </a:xfrm>
          <a:prstGeom prst="rect">
            <a:avLst/>
          </a:prstGeom>
          <a:noFill/>
          <a:ln/>
        </p:spPr>
        <p:txBody>
          <a:bodyPr wrap="square" rtlCol="0" anchor="t"/>
          <a:lstStyle/>
          <a:p>
            <a:pPr algn="ctr" indent="0" marL="0">
              <a:buNone/>
            </a:pPr>
            <a:r>
              <a:rPr lang="en-US" sz="1100" i="1" dirty="0">
                <a:solidFill>
                  <a:srgbClr val="D6DEEC"/>
                </a:solidFill>
                <a:latin typeface="Calibri" pitchFamily="34" charset="0"/>
                <a:ea typeface="Calibri" pitchFamily="34" charset="-122"/>
                <a:cs typeface="Calibri" pitchFamily="34" charset="-120"/>
              </a:rPr>
              <a:t>What happens when an AI-optimized system (irrigation, traffic, grid) fails or is wrong — what backup plan should exist?</a:t>
            </a:r>
            <a:endParaRPr lang="en-US" sz="1100" dirty="0"/>
          </a:p>
        </p:txBody>
      </p:sp>
      <p:sp>
        <p:nvSpPr>
          <p:cNvPr id="11" name="Shape 9"/>
          <p:cNvSpPr/>
          <p:nvPr/>
        </p:nvSpPr>
        <p:spPr>
          <a:xfrm>
            <a:off x="3977640" y="1508760"/>
            <a:ext cx="7635240" cy="1051560"/>
          </a:xfrm>
          <a:prstGeom prst="roundRect">
            <a:avLst>
              <a:gd name="adj" fmla="val 6957"/>
            </a:avLst>
          </a:prstGeom>
          <a:solidFill>
            <a:srgbClr val="F4F6FA"/>
          </a:solidFill>
          <a:ln w="12700">
            <a:solidFill>
              <a:srgbClr val="D8DEE9"/>
            </a:solidFill>
            <a:prstDash val="solid"/>
          </a:ln>
        </p:spPr>
      </p:sp>
      <p:sp>
        <p:nvSpPr>
          <p:cNvPr id="12" name="Text 10"/>
          <p:cNvSpPr/>
          <p:nvPr/>
        </p:nvSpPr>
        <p:spPr>
          <a:xfrm>
            <a:off x="4206240" y="1600200"/>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Precision Agriculture</a:t>
            </a:r>
            <a:endParaRPr lang="en-US" sz="1350" dirty="0"/>
          </a:p>
        </p:txBody>
      </p:sp>
      <p:sp>
        <p:nvSpPr>
          <p:cNvPr id="13" name="Text 11"/>
          <p:cNvSpPr/>
          <p:nvPr/>
        </p:nvSpPr>
        <p:spPr>
          <a:xfrm>
            <a:off x="4206240" y="1947672"/>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Satellite/drone imagery and sensor data analyzed to optimize irrigation and fertilizer use.</a:t>
            </a:r>
            <a:endParaRPr lang="en-US" sz="1100" dirty="0"/>
          </a:p>
        </p:txBody>
      </p:sp>
      <p:sp>
        <p:nvSpPr>
          <p:cNvPr id="14" name="Shape 12"/>
          <p:cNvSpPr/>
          <p:nvPr/>
        </p:nvSpPr>
        <p:spPr>
          <a:xfrm>
            <a:off x="3977640" y="2670048"/>
            <a:ext cx="7635240" cy="1051560"/>
          </a:xfrm>
          <a:prstGeom prst="roundRect">
            <a:avLst>
              <a:gd name="adj" fmla="val 6957"/>
            </a:avLst>
          </a:prstGeom>
          <a:solidFill>
            <a:srgbClr val="FFFFFF"/>
          </a:solidFill>
          <a:ln w="12700">
            <a:solidFill>
              <a:srgbClr val="D8DEE9"/>
            </a:solidFill>
            <a:prstDash val="solid"/>
          </a:ln>
        </p:spPr>
      </p:sp>
      <p:sp>
        <p:nvSpPr>
          <p:cNvPr id="15" name="Text 13"/>
          <p:cNvSpPr/>
          <p:nvPr/>
        </p:nvSpPr>
        <p:spPr>
          <a:xfrm>
            <a:off x="4206240" y="2761488"/>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Crop &amp; Disease Detection</a:t>
            </a:r>
            <a:endParaRPr lang="en-US" sz="1350" dirty="0"/>
          </a:p>
        </p:txBody>
      </p:sp>
      <p:sp>
        <p:nvSpPr>
          <p:cNvPr id="16" name="Text 14"/>
          <p:cNvSpPr/>
          <p:nvPr/>
        </p:nvSpPr>
        <p:spPr>
          <a:xfrm>
            <a:off x="4206240" y="3108960"/>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Computer vision identifying crop stress, pest presence, or disease from field imagery.</a:t>
            </a:r>
            <a:endParaRPr lang="en-US" sz="1100" dirty="0"/>
          </a:p>
        </p:txBody>
      </p:sp>
      <p:sp>
        <p:nvSpPr>
          <p:cNvPr id="17" name="Shape 15"/>
          <p:cNvSpPr/>
          <p:nvPr/>
        </p:nvSpPr>
        <p:spPr>
          <a:xfrm>
            <a:off x="3977640" y="3831336"/>
            <a:ext cx="7635240" cy="1051560"/>
          </a:xfrm>
          <a:prstGeom prst="roundRect">
            <a:avLst>
              <a:gd name="adj" fmla="val 6957"/>
            </a:avLst>
          </a:prstGeom>
          <a:solidFill>
            <a:srgbClr val="F4F6FA"/>
          </a:solidFill>
          <a:ln w="12700">
            <a:solidFill>
              <a:srgbClr val="D8DEE9"/>
            </a:solidFill>
            <a:prstDash val="solid"/>
          </a:ln>
        </p:spPr>
      </p:sp>
      <p:sp>
        <p:nvSpPr>
          <p:cNvPr id="18" name="Text 16"/>
          <p:cNvSpPr/>
          <p:nvPr/>
        </p:nvSpPr>
        <p:spPr>
          <a:xfrm>
            <a:off x="4206240" y="3922776"/>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Yield Prediction</a:t>
            </a:r>
            <a:endParaRPr lang="en-US" sz="1350" dirty="0"/>
          </a:p>
        </p:txBody>
      </p:sp>
      <p:sp>
        <p:nvSpPr>
          <p:cNvPr id="19" name="Text 17"/>
          <p:cNvSpPr/>
          <p:nvPr/>
        </p:nvSpPr>
        <p:spPr>
          <a:xfrm>
            <a:off x="4206240" y="4270248"/>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Forecasting harvest volumes using weather, soil, and historical data patterns.</a:t>
            </a:r>
            <a:endParaRPr lang="en-US" sz="1100" dirty="0"/>
          </a:p>
        </p:txBody>
      </p:sp>
      <p:sp>
        <p:nvSpPr>
          <p:cNvPr id="20" name="Shape 18"/>
          <p:cNvSpPr/>
          <p:nvPr/>
        </p:nvSpPr>
        <p:spPr>
          <a:xfrm>
            <a:off x="3977640" y="4992624"/>
            <a:ext cx="7635240" cy="1051560"/>
          </a:xfrm>
          <a:prstGeom prst="roundRect">
            <a:avLst>
              <a:gd name="adj" fmla="val 6957"/>
            </a:avLst>
          </a:prstGeom>
          <a:solidFill>
            <a:srgbClr val="FFFFFF"/>
          </a:solidFill>
          <a:ln w="12700">
            <a:solidFill>
              <a:srgbClr val="D8DEE9"/>
            </a:solidFill>
            <a:prstDash val="solid"/>
          </a:ln>
        </p:spPr>
      </p:sp>
      <p:sp>
        <p:nvSpPr>
          <p:cNvPr id="21" name="Text 19"/>
          <p:cNvSpPr/>
          <p:nvPr/>
        </p:nvSpPr>
        <p:spPr>
          <a:xfrm>
            <a:off x="4206240" y="5084064"/>
            <a:ext cx="7178040" cy="320040"/>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Smart Infrastructure</a:t>
            </a:r>
            <a:endParaRPr lang="en-US" sz="1350" dirty="0"/>
          </a:p>
        </p:txBody>
      </p:sp>
      <p:sp>
        <p:nvSpPr>
          <p:cNvPr id="22" name="Text 20"/>
          <p:cNvSpPr/>
          <p:nvPr/>
        </p:nvSpPr>
        <p:spPr>
          <a:xfrm>
            <a:off x="4206240" y="5431536"/>
            <a:ext cx="7178040" cy="548640"/>
          </a:xfrm>
          <a:prstGeom prst="rect">
            <a:avLst/>
          </a:prstGeom>
          <a:noFill/>
          <a:ln/>
        </p:spPr>
        <p:txBody>
          <a:bodyPr wrap="square" rtlCol="0" anchor="ctr"/>
          <a:lstStyle/>
          <a:p>
            <a:pPr indent="0" marL="0">
              <a:buNone/>
            </a:pPr>
            <a:r>
              <a:rPr lang="en-US" sz="1100" dirty="0">
                <a:solidFill>
                  <a:srgbClr val="5B6B82"/>
                </a:solidFill>
                <a:latin typeface="Calibri" pitchFamily="34" charset="0"/>
                <a:ea typeface="Calibri" pitchFamily="34" charset="-122"/>
                <a:cs typeface="Calibri" pitchFamily="34" charset="-120"/>
              </a:rPr>
              <a:t>AI in smart grids, traffic systems, and building energy management.</a:t>
            </a:r>
            <a:endParaRPr lang="en-US" sz="1100" dirty="0"/>
          </a:p>
        </p:txBody>
      </p:sp>
      <p:sp>
        <p:nvSpPr>
          <p:cNvPr id="23" name="Text 21"/>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12 / 30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AMBIENT TECHNOLOGY</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Around Us: Everyday Examples</a:t>
            </a:r>
            <a:endParaRPr lang="en-US" sz="3000" dirty="0"/>
          </a:p>
        </p:txBody>
      </p:sp>
      <p:sp>
        <p:nvSpPr>
          <p:cNvPr id="4" name="Shape 2"/>
          <p:cNvSpPr/>
          <p:nvPr/>
        </p:nvSpPr>
        <p:spPr>
          <a:xfrm>
            <a:off x="548640" y="1554480"/>
            <a:ext cx="3611880" cy="2148840"/>
          </a:xfrm>
          <a:prstGeom prst="roundRect">
            <a:avLst>
              <a:gd name="adj" fmla="val 3404"/>
            </a:avLst>
          </a:prstGeom>
          <a:solidFill>
            <a:srgbClr val="F4F6FA"/>
          </a:solidFill>
          <a:ln w="12700">
            <a:solidFill>
              <a:srgbClr val="D8DEE9"/>
            </a:solidFill>
            <a:prstDash val="solid"/>
          </a:ln>
        </p:spPr>
      </p:sp>
      <p:sp>
        <p:nvSpPr>
          <p:cNvPr id="5" name="Shape 3"/>
          <p:cNvSpPr/>
          <p:nvPr/>
        </p:nvSpPr>
        <p:spPr>
          <a:xfrm>
            <a:off x="749808" y="1755648"/>
            <a:ext cx="512064" cy="512064"/>
          </a:xfrm>
          <a:prstGeom prst="ellipse">
            <a:avLst/>
          </a:prstGeom>
          <a:solidFill>
            <a:srgbClr val="16213E"/>
          </a:solidFill>
          <a:ln/>
        </p:spPr>
      </p:sp>
      <p:sp>
        <p:nvSpPr>
          <p:cNvPr id="6" name="Text 4"/>
          <p:cNvSpPr/>
          <p:nvPr/>
        </p:nvSpPr>
        <p:spPr>
          <a:xfrm>
            <a:off x="749808" y="1755648"/>
            <a:ext cx="512064" cy="512064"/>
          </a:xfrm>
          <a:prstGeom prst="rect">
            <a:avLst/>
          </a:prstGeom>
          <a:noFill/>
          <a:ln/>
        </p:spPr>
        <p:txBody>
          <a:bodyPr wrap="square" rtlCol="0" anchor="ctr"/>
          <a:lstStyle/>
          <a:p>
            <a:pPr algn="ctr" indent="0" marL="0">
              <a:buNone/>
            </a:pPr>
            <a:r>
              <a:rPr lang="en-US" sz="1600" b="1" dirty="0">
                <a:solidFill>
                  <a:srgbClr val="2FE6D6"/>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777240" y="2331720"/>
            <a:ext cx="3154680" cy="50292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Streaming Recommendations</a:t>
            </a:r>
            <a:endParaRPr lang="en-US" sz="1250" dirty="0"/>
          </a:p>
        </p:txBody>
      </p:sp>
      <p:sp>
        <p:nvSpPr>
          <p:cNvPr id="8" name="Text 6"/>
          <p:cNvSpPr/>
          <p:nvPr/>
        </p:nvSpPr>
        <p:spPr>
          <a:xfrm>
            <a:off x="777240" y="2743200"/>
            <a:ext cx="3154680" cy="86868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Netflix, Spotify, YouTube suggest content based on viewing/listening patterns.</a:t>
            </a:r>
            <a:endParaRPr lang="en-US" sz="1050" dirty="0"/>
          </a:p>
        </p:txBody>
      </p:sp>
      <p:sp>
        <p:nvSpPr>
          <p:cNvPr id="9" name="Shape 7"/>
          <p:cNvSpPr/>
          <p:nvPr/>
        </p:nvSpPr>
        <p:spPr>
          <a:xfrm>
            <a:off x="4343400" y="1554480"/>
            <a:ext cx="3611880" cy="2148840"/>
          </a:xfrm>
          <a:prstGeom prst="roundRect">
            <a:avLst>
              <a:gd name="adj" fmla="val 3404"/>
            </a:avLst>
          </a:prstGeom>
          <a:solidFill>
            <a:srgbClr val="F4F6FA"/>
          </a:solidFill>
          <a:ln w="12700">
            <a:solidFill>
              <a:srgbClr val="D8DEE9"/>
            </a:solidFill>
            <a:prstDash val="solid"/>
          </a:ln>
        </p:spPr>
      </p:sp>
      <p:sp>
        <p:nvSpPr>
          <p:cNvPr id="10" name="Shape 8"/>
          <p:cNvSpPr/>
          <p:nvPr/>
        </p:nvSpPr>
        <p:spPr>
          <a:xfrm>
            <a:off x="4544568" y="1755648"/>
            <a:ext cx="512064" cy="512064"/>
          </a:xfrm>
          <a:prstGeom prst="ellipse">
            <a:avLst/>
          </a:prstGeom>
          <a:solidFill>
            <a:srgbClr val="16213E"/>
          </a:solidFill>
          <a:ln/>
        </p:spPr>
      </p:sp>
      <p:sp>
        <p:nvSpPr>
          <p:cNvPr id="11" name="Text 9"/>
          <p:cNvSpPr/>
          <p:nvPr/>
        </p:nvSpPr>
        <p:spPr>
          <a:xfrm>
            <a:off x="4544568" y="1755648"/>
            <a:ext cx="512064" cy="512064"/>
          </a:xfrm>
          <a:prstGeom prst="rect">
            <a:avLst/>
          </a:prstGeom>
          <a:noFill/>
          <a:ln/>
        </p:spPr>
        <p:txBody>
          <a:bodyPr wrap="square" rtlCol="0" anchor="ctr"/>
          <a:lstStyle/>
          <a:p>
            <a:pPr algn="ctr" indent="0" marL="0">
              <a:buNone/>
            </a:pPr>
            <a:r>
              <a:rPr lang="en-US" sz="1600" b="1" dirty="0">
                <a:solidFill>
                  <a:srgbClr val="2FE6D6"/>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4572000" y="2331720"/>
            <a:ext cx="3154680" cy="50292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Smartphone Photography</a:t>
            </a:r>
            <a:endParaRPr lang="en-US" sz="1250" dirty="0"/>
          </a:p>
        </p:txBody>
      </p:sp>
      <p:sp>
        <p:nvSpPr>
          <p:cNvPr id="13" name="Text 11"/>
          <p:cNvSpPr/>
          <p:nvPr/>
        </p:nvSpPr>
        <p:spPr>
          <a:xfrm>
            <a:off x="4572000" y="2743200"/>
            <a:ext cx="3154680" cy="86868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Computer vision enhances images, detects faces, and enables portrait/night modes.</a:t>
            </a:r>
            <a:endParaRPr lang="en-US" sz="1050" dirty="0"/>
          </a:p>
        </p:txBody>
      </p:sp>
      <p:sp>
        <p:nvSpPr>
          <p:cNvPr id="14" name="Shape 12"/>
          <p:cNvSpPr/>
          <p:nvPr/>
        </p:nvSpPr>
        <p:spPr>
          <a:xfrm>
            <a:off x="8138160" y="1554480"/>
            <a:ext cx="3611880" cy="2148840"/>
          </a:xfrm>
          <a:prstGeom prst="roundRect">
            <a:avLst>
              <a:gd name="adj" fmla="val 3404"/>
            </a:avLst>
          </a:prstGeom>
          <a:solidFill>
            <a:srgbClr val="F4F6FA"/>
          </a:solidFill>
          <a:ln w="12700">
            <a:solidFill>
              <a:srgbClr val="D8DEE9"/>
            </a:solidFill>
            <a:prstDash val="solid"/>
          </a:ln>
        </p:spPr>
      </p:sp>
      <p:sp>
        <p:nvSpPr>
          <p:cNvPr id="15" name="Shape 13"/>
          <p:cNvSpPr/>
          <p:nvPr/>
        </p:nvSpPr>
        <p:spPr>
          <a:xfrm>
            <a:off x="8339328" y="1755648"/>
            <a:ext cx="512064" cy="512064"/>
          </a:xfrm>
          <a:prstGeom prst="ellipse">
            <a:avLst/>
          </a:prstGeom>
          <a:solidFill>
            <a:srgbClr val="16213E"/>
          </a:solidFill>
          <a:ln/>
        </p:spPr>
      </p:sp>
      <p:sp>
        <p:nvSpPr>
          <p:cNvPr id="16" name="Text 14"/>
          <p:cNvSpPr/>
          <p:nvPr/>
        </p:nvSpPr>
        <p:spPr>
          <a:xfrm>
            <a:off x="8339328" y="1755648"/>
            <a:ext cx="512064" cy="512064"/>
          </a:xfrm>
          <a:prstGeom prst="rect">
            <a:avLst/>
          </a:prstGeom>
          <a:noFill/>
          <a:ln/>
        </p:spPr>
        <p:txBody>
          <a:bodyPr wrap="square" rtlCol="0" anchor="ctr"/>
          <a:lstStyle/>
          <a:p>
            <a:pPr algn="ctr" indent="0" marL="0">
              <a:buNone/>
            </a:pPr>
            <a:r>
              <a:rPr lang="en-US" sz="1600" b="1" dirty="0">
                <a:solidFill>
                  <a:srgbClr val="2FE6D6"/>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366760" y="2331720"/>
            <a:ext cx="3154680" cy="50292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Navigation &amp; Maps</a:t>
            </a:r>
            <a:endParaRPr lang="en-US" sz="1250" dirty="0"/>
          </a:p>
        </p:txBody>
      </p:sp>
      <p:sp>
        <p:nvSpPr>
          <p:cNvPr id="18" name="Text 16"/>
          <p:cNvSpPr/>
          <p:nvPr/>
        </p:nvSpPr>
        <p:spPr>
          <a:xfrm>
            <a:off x="8366760" y="2743200"/>
            <a:ext cx="3154680" cy="86868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Route optimization and real-time traffic prediction in Google Maps, Waze.</a:t>
            </a:r>
            <a:endParaRPr lang="en-US" sz="1050" dirty="0"/>
          </a:p>
        </p:txBody>
      </p:sp>
      <p:sp>
        <p:nvSpPr>
          <p:cNvPr id="19" name="Shape 17"/>
          <p:cNvSpPr/>
          <p:nvPr/>
        </p:nvSpPr>
        <p:spPr>
          <a:xfrm>
            <a:off x="548640" y="3931920"/>
            <a:ext cx="3611880" cy="2148840"/>
          </a:xfrm>
          <a:prstGeom prst="roundRect">
            <a:avLst>
              <a:gd name="adj" fmla="val 3404"/>
            </a:avLst>
          </a:prstGeom>
          <a:solidFill>
            <a:srgbClr val="F4F6FA"/>
          </a:solidFill>
          <a:ln w="12700">
            <a:solidFill>
              <a:srgbClr val="D8DEE9"/>
            </a:solidFill>
            <a:prstDash val="solid"/>
          </a:ln>
        </p:spPr>
      </p:sp>
      <p:sp>
        <p:nvSpPr>
          <p:cNvPr id="20" name="Shape 18"/>
          <p:cNvSpPr/>
          <p:nvPr/>
        </p:nvSpPr>
        <p:spPr>
          <a:xfrm>
            <a:off x="749808" y="4133088"/>
            <a:ext cx="512064" cy="512064"/>
          </a:xfrm>
          <a:prstGeom prst="ellipse">
            <a:avLst/>
          </a:prstGeom>
          <a:solidFill>
            <a:srgbClr val="16213E"/>
          </a:solidFill>
          <a:ln/>
        </p:spPr>
      </p:sp>
      <p:sp>
        <p:nvSpPr>
          <p:cNvPr id="21" name="Text 19"/>
          <p:cNvSpPr/>
          <p:nvPr/>
        </p:nvSpPr>
        <p:spPr>
          <a:xfrm>
            <a:off x="749808" y="4133088"/>
            <a:ext cx="512064" cy="512064"/>
          </a:xfrm>
          <a:prstGeom prst="rect">
            <a:avLst/>
          </a:prstGeom>
          <a:noFill/>
          <a:ln/>
        </p:spPr>
        <p:txBody>
          <a:bodyPr wrap="square" rtlCol="0" anchor="ctr"/>
          <a:lstStyle/>
          <a:p>
            <a:pPr algn="ctr" indent="0" marL="0">
              <a:buNone/>
            </a:pPr>
            <a:r>
              <a:rPr lang="en-US" sz="1600" b="1" dirty="0">
                <a:solidFill>
                  <a:srgbClr val="2FE6D6"/>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777240" y="4709160"/>
            <a:ext cx="3154680" cy="50292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Email &amp; Spam Filtering</a:t>
            </a:r>
            <a:endParaRPr lang="en-US" sz="1250" dirty="0"/>
          </a:p>
        </p:txBody>
      </p:sp>
      <p:sp>
        <p:nvSpPr>
          <p:cNvPr id="23" name="Text 21"/>
          <p:cNvSpPr/>
          <p:nvPr/>
        </p:nvSpPr>
        <p:spPr>
          <a:xfrm>
            <a:off x="777240" y="5120640"/>
            <a:ext cx="3154680" cy="86868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Classification models filter spam and suggest replies/subject prioritization.</a:t>
            </a:r>
            <a:endParaRPr lang="en-US" sz="1050" dirty="0"/>
          </a:p>
        </p:txBody>
      </p:sp>
      <p:sp>
        <p:nvSpPr>
          <p:cNvPr id="24" name="Shape 22"/>
          <p:cNvSpPr/>
          <p:nvPr/>
        </p:nvSpPr>
        <p:spPr>
          <a:xfrm>
            <a:off x="4343400" y="3931920"/>
            <a:ext cx="3611880" cy="2148840"/>
          </a:xfrm>
          <a:prstGeom prst="roundRect">
            <a:avLst>
              <a:gd name="adj" fmla="val 3404"/>
            </a:avLst>
          </a:prstGeom>
          <a:solidFill>
            <a:srgbClr val="F4F6FA"/>
          </a:solidFill>
          <a:ln w="12700">
            <a:solidFill>
              <a:srgbClr val="D8DEE9"/>
            </a:solidFill>
            <a:prstDash val="solid"/>
          </a:ln>
        </p:spPr>
      </p:sp>
      <p:sp>
        <p:nvSpPr>
          <p:cNvPr id="25" name="Shape 23"/>
          <p:cNvSpPr/>
          <p:nvPr/>
        </p:nvSpPr>
        <p:spPr>
          <a:xfrm>
            <a:off x="4544568" y="4133088"/>
            <a:ext cx="512064" cy="512064"/>
          </a:xfrm>
          <a:prstGeom prst="ellipse">
            <a:avLst/>
          </a:prstGeom>
          <a:solidFill>
            <a:srgbClr val="16213E"/>
          </a:solidFill>
          <a:ln/>
        </p:spPr>
      </p:sp>
      <p:sp>
        <p:nvSpPr>
          <p:cNvPr id="26" name="Text 24"/>
          <p:cNvSpPr/>
          <p:nvPr/>
        </p:nvSpPr>
        <p:spPr>
          <a:xfrm>
            <a:off x="4544568" y="4133088"/>
            <a:ext cx="512064" cy="512064"/>
          </a:xfrm>
          <a:prstGeom prst="rect">
            <a:avLst/>
          </a:prstGeom>
          <a:noFill/>
          <a:ln/>
        </p:spPr>
        <p:txBody>
          <a:bodyPr wrap="square" rtlCol="0" anchor="ctr"/>
          <a:lstStyle/>
          <a:p>
            <a:pPr algn="ctr" indent="0" marL="0">
              <a:buNone/>
            </a:pPr>
            <a:r>
              <a:rPr lang="en-US" sz="1600" b="1" dirty="0">
                <a:solidFill>
                  <a:srgbClr val="2FE6D6"/>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4572000" y="4709160"/>
            <a:ext cx="3154680" cy="50292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Voice Assistants</a:t>
            </a:r>
            <a:endParaRPr lang="en-US" sz="1250" dirty="0"/>
          </a:p>
        </p:txBody>
      </p:sp>
      <p:sp>
        <p:nvSpPr>
          <p:cNvPr id="28" name="Text 26"/>
          <p:cNvSpPr/>
          <p:nvPr/>
        </p:nvSpPr>
        <p:spPr>
          <a:xfrm>
            <a:off x="4572000" y="5120640"/>
            <a:ext cx="3154680" cy="86868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Siri, Alexa, Google Assistant use speech recognition and NLP to respond to commands.</a:t>
            </a:r>
            <a:endParaRPr lang="en-US" sz="1050" dirty="0"/>
          </a:p>
        </p:txBody>
      </p:sp>
      <p:sp>
        <p:nvSpPr>
          <p:cNvPr id="29" name="Shape 27"/>
          <p:cNvSpPr/>
          <p:nvPr/>
        </p:nvSpPr>
        <p:spPr>
          <a:xfrm>
            <a:off x="8138160" y="3931920"/>
            <a:ext cx="3611880" cy="2148840"/>
          </a:xfrm>
          <a:prstGeom prst="roundRect">
            <a:avLst>
              <a:gd name="adj" fmla="val 3404"/>
            </a:avLst>
          </a:prstGeom>
          <a:solidFill>
            <a:srgbClr val="F4F6FA"/>
          </a:solidFill>
          <a:ln w="12700">
            <a:solidFill>
              <a:srgbClr val="D8DEE9"/>
            </a:solidFill>
            <a:prstDash val="solid"/>
          </a:ln>
        </p:spPr>
      </p:sp>
      <p:sp>
        <p:nvSpPr>
          <p:cNvPr id="30" name="Shape 28"/>
          <p:cNvSpPr/>
          <p:nvPr/>
        </p:nvSpPr>
        <p:spPr>
          <a:xfrm>
            <a:off x="8339328" y="4133088"/>
            <a:ext cx="512064" cy="512064"/>
          </a:xfrm>
          <a:prstGeom prst="ellipse">
            <a:avLst/>
          </a:prstGeom>
          <a:solidFill>
            <a:srgbClr val="16213E"/>
          </a:solidFill>
          <a:ln/>
        </p:spPr>
      </p:sp>
      <p:sp>
        <p:nvSpPr>
          <p:cNvPr id="31" name="Text 29"/>
          <p:cNvSpPr/>
          <p:nvPr/>
        </p:nvSpPr>
        <p:spPr>
          <a:xfrm>
            <a:off x="8339328" y="4133088"/>
            <a:ext cx="512064" cy="512064"/>
          </a:xfrm>
          <a:prstGeom prst="rect">
            <a:avLst/>
          </a:prstGeom>
          <a:noFill/>
          <a:ln/>
        </p:spPr>
        <p:txBody>
          <a:bodyPr wrap="square" rtlCol="0" anchor="ctr"/>
          <a:lstStyle/>
          <a:p>
            <a:pPr algn="ctr" indent="0" marL="0">
              <a:buNone/>
            </a:pPr>
            <a:r>
              <a:rPr lang="en-US" sz="1600" b="1" dirty="0">
                <a:solidFill>
                  <a:srgbClr val="2FE6D6"/>
                </a:solidFill>
                <a:latin typeface="Calibri" pitchFamily="34" charset="0"/>
                <a:ea typeface="Calibri" pitchFamily="34" charset="-122"/>
                <a:cs typeface="Calibri" pitchFamily="34" charset="-120"/>
              </a:rPr>
              <a:t>•</a:t>
            </a:r>
            <a:endParaRPr lang="en-US" sz="1600" dirty="0"/>
          </a:p>
        </p:txBody>
      </p:sp>
      <p:sp>
        <p:nvSpPr>
          <p:cNvPr id="32" name="Text 30"/>
          <p:cNvSpPr/>
          <p:nvPr/>
        </p:nvSpPr>
        <p:spPr>
          <a:xfrm>
            <a:off x="8366760" y="4709160"/>
            <a:ext cx="3154680" cy="50292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Autocomplete &amp; Predictive Text</a:t>
            </a:r>
            <a:endParaRPr lang="en-US" sz="1250" dirty="0"/>
          </a:p>
        </p:txBody>
      </p:sp>
      <p:sp>
        <p:nvSpPr>
          <p:cNvPr id="33" name="Text 31"/>
          <p:cNvSpPr/>
          <p:nvPr/>
        </p:nvSpPr>
        <p:spPr>
          <a:xfrm>
            <a:off x="8366760" y="5120640"/>
            <a:ext cx="3154680" cy="868680"/>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Keyboard and search suggestions predict likely next words or queries.</a:t>
            </a:r>
            <a:endParaRPr lang="en-US" sz="1050" dirty="0"/>
          </a:p>
        </p:txBody>
      </p:sp>
      <p:sp>
        <p:nvSpPr>
          <p:cNvPr id="34" name="Text 32"/>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13 / 30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SYSTEM ARCHITECTURE VIEW</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How AI Is Embedded in Everyday Technology</a:t>
            </a:r>
            <a:endParaRPr lang="en-US" sz="3000" dirty="0"/>
          </a:p>
        </p:txBody>
      </p:sp>
      <p:sp>
        <p:nvSpPr>
          <p:cNvPr id="4" name="Text 2"/>
          <p:cNvSpPr/>
          <p:nvPr/>
        </p:nvSpPr>
        <p:spPr>
          <a:xfrm>
            <a:off x="548640" y="1417320"/>
            <a:ext cx="10515600" cy="365760"/>
          </a:xfrm>
          <a:prstGeom prst="rect">
            <a:avLst/>
          </a:prstGeom>
          <a:noFill/>
          <a:ln/>
        </p:spPr>
        <p:txBody>
          <a:bodyPr wrap="square" rtlCol="0" anchor="ctr"/>
          <a:lstStyle/>
          <a:p>
            <a:pPr indent="0" marL="0">
              <a:buNone/>
            </a:pPr>
            <a:r>
              <a:rPr lang="en-US" sz="1300" i="1" dirty="0">
                <a:solidFill>
                  <a:srgbClr val="5B6B82"/>
                </a:solidFill>
                <a:latin typeface="Calibri" pitchFamily="34" charset="0"/>
                <a:ea typeface="Calibri" pitchFamily="34" charset="-122"/>
                <a:cs typeface="Calibri" pitchFamily="34" charset="-120"/>
              </a:rPr>
              <a:t>A simplified data → model → decision pipeline underlies most embedded AI features:</a:t>
            </a:r>
            <a:endParaRPr lang="en-US" sz="1300" dirty="0"/>
          </a:p>
        </p:txBody>
      </p:sp>
      <p:sp>
        <p:nvSpPr>
          <p:cNvPr id="5" name="Shape 3"/>
          <p:cNvSpPr/>
          <p:nvPr/>
        </p:nvSpPr>
        <p:spPr>
          <a:xfrm>
            <a:off x="548640" y="2148840"/>
            <a:ext cx="2514600" cy="2286000"/>
          </a:xfrm>
          <a:prstGeom prst="roundRect">
            <a:avLst>
              <a:gd name="adj" fmla="val 3200"/>
            </a:avLst>
          </a:prstGeom>
          <a:solidFill>
            <a:srgbClr val="F4F6FA"/>
          </a:solidFill>
          <a:ln w="12700">
            <a:solidFill>
              <a:srgbClr val="D8DEE9"/>
            </a:solidFill>
            <a:prstDash val="solid"/>
          </a:ln>
        </p:spPr>
      </p:sp>
      <p:sp>
        <p:nvSpPr>
          <p:cNvPr id="6" name="Shape 4"/>
          <p:cNvSpPr/>
          <p:nvPr/>
        </p:nvSpPr>
        <p:spPr>
          <a:xfrm>
            <a:off x="1513332" y="2313432"/>
            <a:ext cx="585216" cy="585216"/>
          </a:xfrm>
          <a:prstGeom prst="ellipse">
            <a:avLst/>
          </a:prstGeom>
          <a:solidFill>
            <a:srgbClr val="16213E"/>
          </a:solidFill>
          <a:ln/>
        </p:spPr>
      </p:sp>
      <p:sp>
        <p:nvSpPr>
          <p:cNvPr id="7" name="Text 5"/>
          <p:cNvSpPr/>
          <p:nvPr/>
        </p:nvSpPr>
        <p:spPr>
          <a:xfrm>
            <a:off x="1513332" y="2313432"/>
            <a:ext cx="585216" cy="585216"/>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731520" y="3017520"/>
            <a:ext cx="2148840" cy="502920"/>
          </a:xfrm>
          <a:prstGeom prst="rect">
            <a:avLst/>
          </a:prstGeom>
          <a:noFill/>
          <a:ln/>
        </p:spPr>
        <p:txBody>
          <a:bodyPr wrap="square" rtlCol="0" anchor="ctr"/>
          <a:lstStyle/>
          <a:p>
            <a:pPr algn="ctr" indent="0" marL="0">
              <a:buNone/>
            </a:pPr>
            <a:r>
              <a:rPr lang="en-US" sz="1300" b="1" dirty="0">
                <a:solidFill>
                  <a:srgbClr val="16213E"/>
                </a:solidFill>
                <a:latin typeface="Cambria" pitchFamily="34" charset="0"/>
                <a:ea typeface="Cambria" pitchFamily="34" charset="-122"/>
                <a:cs typeface="Cambria" pitchFamily="34" charset="-120"/>
              </a:rPr>
              <a:t>Data Collection</a:t>
            </a:r>
            <a:endParaRPr lang="en-US" sz="1300" dirty="0"/>
          </a:p>
        </p:txBody>
      </p:sp>
      <p:sp>
        <p:nvSpPr>
          <p:cNvPr id="9" name="Text 7"/>
          <p:cNvSpPr/>
          <p:nvPr/>
        </p:nvSpPr>
        <p:spPr>
          <a:xfrm>
            <a:off x="731520" y="3520440"/>
            <a:ext cx="2148840" cy="822960"/>
          </a:xfrm>
          <a:prstGeom prst="rect">
            <a:avLst/>
          </a:prstGeom>
          <a:noFill/>
          <a:ln/>
        </p:spPr>
        <p:txBody>
          <a:bodyPr wrap="square" rtlCol="0" anchor="ctr"/>
          <a:lstStyle/>
          <a:p>
            <a:pPr algn="ctr" indent="0" marL="0">
              <a:buNone/>
            </a:pPr>
            <a:r>
              <a:rPr lang="en-US" sz="1000" dirty="0">
                <a:solidFill>
                  <a:srgbClr val="5B6B82"/>
                </a:solidFill>
                <a:latin typeface="Calibri" pitchFamily="34" charset="0"/>
                <a:ea typeface="Calibri" pitchFamily="34" charset="-122"/>
                <a:cs typeface="Calibri" pitchFamily="34" charset="-120"/>
              </a:rPr>
              <a:t>User behavior, sensor data, text, images captured by the application</a:t>
            </a:r>
            <a:endParaRPr lang="en-US" sz="1000" dirty="0"/>
          </a:p>
        </p:txBody>
      </p:sp>
      <p:sp>
        <p:nvSpPr>
          <p:cNvPr id="10" name="Text 8"/>
          <p:cNvSpPr/>
          <p:nvPr/>
        </p:nvSpPr>
        <p:spPr>
          <a:xfrm>
            <a:off x="3063240" y="3017520"/>
            <a:ext cx="411480" cy="548640"/>
          </a:xfrm>
          <a:prstGeom prst="rect">
            <a:avLst/>
          </a:prstGeom>
          <a:noFill/>
          <a:ln/>
        </p:spPr>
        <p:txBody>
          <a:bodyPr wrap="square" rtlCol="0" anchor="ctr"/>
          <a:lstStyle/>
          <a:p>
            <a:pPr algn="ctr" indent="0" marL="0">
              <a:buNone/>
            </a:pPr>
            <a:r>
              <a:rPr lang="en-US" sz="2600" b="1" dirty="0">
                <a:solidFill>
                  <a:srgbClr val="0FBFAE"/>
                </a:solidFill>
              </a:rPr>
              <a:t>→</a:t>
            </a:r>
            <a:endParaRPr lang="en-US" sz="2600" dirty="0"/>
          </a:p>
        </p:txBody>
      </p:sp>
      <p:sp>
        <p:nvSpPr>
          <p:cNvPr id="11" name="Shape 9"/>
          <p:cNvSpPr/>
          <p:nvPr/>
        </p:nvSpPr>
        <p:spPr>
          <a:xfrm>
            <a:off x="3474720" y="2148840"/>
            <a:ext cx="2514600" cy="2286000"/>
          </a:xfrm>
          <a:prstGeom prst="roundRect">
            <a:avLst>
              <a:gd name="adj" fmla="val 3200"/>
            </a:avLst>
          </a:prstGeom>
          <a:solidFill>
            <a:srgbClr val="F4F6FA"/>
          </a:solidFill>
          <a:ln w="12700">
            <a:solidFill>
              <a:srgbClr val="D8DEE9"/>
            </a:solidFill>
            <a:prstDash val="solid"/>
          </a:ln>
        </p:spPr>
      </p:sp>
      <p:sp>
        <p:nvSpPr>
          <p:cNvPr id="12" name="Shape 10"/>
          <p:cNvSpPr/>
          <p:nvPr/>
        </p:nvSpPr>
        <p:spPr>
          <a:xfrm>
            <a:off x="4439412" y="2313432"/>
            <a:ext cx="585216" cy="585216"/>
          </a:xfrm>
          <a:prstGeom prst="ellipse">
            <a:avLst/>
          </a:prstGeom>
          <a:solidFill>
            <a:srgbClr val="16213E"/>
          </a:solidFill>
          <a:ln/>
        </p:spPr>
      </p:sp>
      <p:sp>
        <p:nvSpPr>
          <p:cNvPr id="13" name="Text 11"/>
          <p:cNvSpPr/>
          <p:nvPr/>
        </p:nvSpPr>
        <p:spPr>
          <a:xfrm>
            <a:off x="4439412" y="2313432"/>
            <a:ext cx="585216" cy="585216"/>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3657600" y="3017520"/>
            <a:ext cx="2148840" cy="502920"/>
          </a:xfrm>
          <a:prstGeom prst="rect">
            <a:avLst/>
          </a:prstGeom>
          <a:noFill/>
          <a:ln/>
        </p:spPr>
        <p:txBody>
          <a:bodyPr wrap="square" rtlCol="0" anchor="ctr"/>
          <a:lstStyle/>
          <a:p>
            <a:pPr algn="ctr" indent="0" marL="0">
              <a:buNone/>
            </a:pPr>
            <a:r>
              <a:rPr lang="en-US" sz="1300" b="1" dirty="0">
                <a:solidFill>
                  <a:srgbClr val="16213E"/>
                </a:solidFill>
                <a:latin typeface="Cambria" pitchFamily="34" charset="0"/>
                <a:ea typeface="Cambria" pitchFamily="34" charset="-122"/>
                <a:cs typeface="Cambria" pitchFamily="34" charset="-120"/>
              </a:rPr>
              <a:t>Model Processing</a:t>
            </a:r>
            <a:endParaRPr lang="en-US" sz="1300" dirty="0"/>
          </a:p>
        </p:txBody>
      </p:sp>
      <p:sp>
        <p:nvSpPr>
          <p:cNvPr id="15" name="Text 13"/>
          <p:cNvSpPr/>
          <p:nvPr/>
        </p:nvSpPr>
        <p:spPr>
          <a:xfrm>
            <a:off x="3657600" y="3520440"/>
            <a:ext cx="2148840" cy="822960"/>
          </a:xfrm>
          <a:prstGeom prst="rect">
            <a:avLst/>
          </a:prstGeom>
          <a:noFill/>
          <a:ln/>
        </p:spPr>
        <p:txBody>
          <a:bodyPr wrap="square" rtlCol="0" anchor="ctr"/>
          <a:lstStyle/>
          <a:p>
            <a:pPr algn="ctr" indent="0" marL="0">
              <a:buNone/>
            </a:pPr>
            <a:r>
              <a:rPr lang="en-US" sz="1000" dirty="0">
                <a:solidFill>
                  <a:srgbClr val="5B6B82"/>
                </a:solidFill>
                <a:latin typeface="Calibri" pitchFamily="34" charset="0"/>
                <a:ea typeface="Calibri" pitchFamily="34" charset="-122"/>
                <a:cs typeface="Calibri" pitchFamily="34" charset="-120"/>
              </a:rPr>
              <a:t>Trained model analyzes input and identifies patterns or predictions</a:t>
            </a:r>
            <a:endParaRPr lang="en-US" sz="1000" dirty="0"/>
          </a:p>
        </p:txBody>
      </p:sp>
      <p:sp>
        <p:nvSpPr>
          <p:cNvPr id="16" name="Text 14"/>
          <p:cNvSpPr/>
          <p:nvPr/>
        </p:nvSpPr>
        <p:spPr>
          <a:xfrm>
            <a:off x="5989320" y="3017520"/>
            <a:ext cx="411480" cy="548640"/>
          </a:xfrm>
          <a:prstGeom prst="rect">
            <a:avLst/>
          </a:prstGeom>
          <a:noFill/>
          <a:ln/>
        </p:spPr>
        <p:txBody>
          <a:bodyPr wrap="square" rtlCol="0" anchor="ctr"/>
          <a:lstStyle/>
          <a:p>
            <a:pPr algn="ctr" indent="0" marL="0">
              <a:buNone/>
            </a:pPr>
            <a:r>
              <a:rPr lang="en-US" sz="2600" b="1" dirty="0">
                <a:solidFill>
                  <a:srgbClr val="0FBFAE"/>
                </a:solidFill>
              </a:rPr>
              <a:t>→</a:t>
            </a:r>
            <a:endParaRPr lang="en-US" sz="2600" dirty="0"/>
          </a:p>
        </p:txBody>
      </p:sp>
      <p:sp>
        <p:nvSpPr>
          <p:cNvPr id="17" name="Shape 15"/>
          <p:cNvSpPr/>
          <p:nvPr/>
        </p:nvSpPr>
        <p:spPr>
          <a:xfrm>
            <a:off x="6400800" y="2148840"/>
            <a:ext cx="2514600" cy="2286000"/>
          </a:xfrm>
          <a:prstGeom prst="roundRect">
            <a:avLst>
              <a:gd name="adj" fmla="val 3200"/>
            </a:avLst>
          </a:prstGeom>
          <a:solidFill>
            <a:srgbClr val="16213E"/>
          </a:solidFill>
          <a:ln w="12700">
            <a:solidFill>
              <a:srgbClr val="D8DEE9"/>
            </a:solidFill>
            <a:prstDash val="solid"/>
          </a:ln>
        </p:spPr>
      </p:sp>
      <p:sp>
        <p:nvSpPr>
          <p:cNvPr id="18" name="Shape 16"/>
          <p:cNvSpPr/>
          <p:nvPr/>
        </p:nvSpPr>
        <p:spPr>
          <a:xfrm>
            <a:off x="7365492" y="2313432"/>
            <a:ext cx="585216" cy="585216"/>
          </a:xfrm>
          <a:prstGeom prst="ellipse">
            <a:avLst/>
          </a:prstGeom>
          <a:solidFill>
            <a:srgbClr val="2FE6D6"/>
          </a:solidFill>
          <a:ln/>
        </p:spPr>
      </p:sp>
      <p:sp>
        <p:nvSpPr>
          <p:cNvPr id="19" name="Text 17"/>
          <p:cNvSpPr/>
          <p:nvPr/>
        </p:nvSpPr>
        <p:spPr>
          <a:xfrm>
            <a:off x="7365492" y="2313432"/>
            <a:ext cx="585216" cy="585216"/>
          </a:xfrm>
          <a:prstGeom prst="rect">
            <a:avLst/>
          </a:prstGeom>
          <a:noFill/>
          <a:ln/>
        </p:spPr>
        <p:txBody>
          <a:bodyPr wrap="square" rtlCol="0" anchor="ctr"/>
          <a:lstStyle/>
          <a:p>
            <a:pPr algn="ctr" indent="0" marL="0">
              <a:buNone/>
            </a:pPr>
            <a:r>
              <a:rPr lang="en-US" sz="1400" b="1" dirty="0">
                <a:solidFill>
                  <a:srgbClr val="16213E"/>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6583680" y="3017520"/>
            <a:ext cx="2148840" cy="502920"/>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Decision / Output</a:t>
            </a:r>
            <a:endParaRPr lang="en-US" sz="1300" dirty="0"/>
          </a:p>
        </p:txBody>
      </p:sp>
      <p:sp>
        <p:nvSpPr>
          <p:cNvPr id="21" name="Text 19"/>
          <p:cNvSpPr/>
          <p:nvPr/>
        </p:nvSpPr>
        <p:spPr>
          <a:xfrm>
            <a:off x="6583680" y="3520440"/>
            <a:ext cx="2148840" cy="822960"/>
          </a:xfrm>
          <a:prstGeom prst="rect">
            <a:avLst/>
          </a:prstGeom>
          <a:noFill/>
          <a:ln/>
        </p:spPr>
        <p:txBody>
          <a:bodyPr wrap="square" rtlCol="0" anchor="ctr"/>
          <a:lstStyle/>
          <a:p>
            <a:pPr algn="ctr" indent="0" marL="0">
              <a:buNone/>
            </a:pPr>
            <a:r>
              <a:rPr lang="en-US" sz="1000" dirty="0">
                <a:solidFill>
                  <a:srgbClr val="D6DEEC"/>
                </a:solidFill>
                <a:latin typeface="Calibri" pitchFamily="34" charset="0"/>
                <a:ea typeface="Calibri" pitchFamily="34" charset="-122"/>
                <a:cs typeface="Calibri" pitchFamily="34" charset="-120"/>
              </a:rPr>
              <a:t>System generates a recommendation, classification, or response</a:t>
            </a:r>
            <a:endParaRPr lang="en-US" sz="1000" dirty="0"/>
          </a:p>
        </p:txBody>
      </p:sp>
      <p:sp>
        <p:nvSpPr>
          <p:cNvPr id="22" name="Text 20"/>
          <p:cNvSpPr/>
          <p:nvPr/>
        </p:nvSpPr>
        <p:spPr>
          <a:xfrm>
            <a:off x="8915400" y="3017520"/>
            <a:ext cx="411480" cy="548640"/>
          </a:xfrm>
          <a:prstGeom prst="rect">
            <a:avLst/>
          </a:prstGeom>
          <a:noFill/>
          <a:ln/>
        </p:spPr>
        <p:txBody>
          <a:bodyPr wrap="square" rtlCol="0" anchor="ctr"/>
          <a:lstStyle/>
          <a:p>
            <a:pPr algn="ctr" indent="0" marL="0">
              <a:buNone/>
            </a:pPr>
            <a:r>
              <a:rPr lang="en-US" sz="2600" b="1" dirty="0">
                <a:solidFill>
                  <a:srgbClr val="0FBFAE"/>
                </a:solidFill>
              </a:rPr>
              <a:t>→</a:t>
            </a:r>
            <a:endParaRPr lang="en-US" sz="2600" dirty="0"/>
          </a:p>
        </p:txBody>
      </p:sp>
      <p:sp>
        <p:nvSpPr>
          <p:cNvPr id="23" name="Shape 21"/>
          <p:cNvSpPr/>
          <p:nvPr/>
        </p:nvSpPr>
        <p:spPr>
          <a:xfrm>
            <a:off x="9326880" y="2148840"/>
            <a:ext cx="2514600" cy="2286000"/>
          </a:xfrm>
          <a:prstGeom prst="roundRect">
            <a:avLst>
              <a:gd name="adj" fmla="val 3200"/>
            </a:avLst>
          </a:prstGeom>
          <a:solidFill>
            <a:srgbClr val="F4F6FA"/>
          </a:solidFill>
          <a:ln w="12700">
            <a:solidFill>
              <a:srgbClr val="D8DEE9"/>
            </a:solidFill>
            <a:prstDash val="solid"/>
          </a:ln>
        </p:spPr>
      </p:sp>
      <p:sp>
        <p:nvSpPr>
          <p:cNvPr id="24" name="Shape 22"/>
          <p:cNvSpPr/>
          <p:nvPr/>
        </p:nvSpPr>
        <p:spPr>
          <a:xfrm>
            <a:off x="10291572" y="2313432"/>
            <a:ext cx="585216" cy="585216"/>
          </a:xfrm>
          <a:prstGeom prst="ellipse">
            <a:avLst/>
          </a:prstGeom>
          <a:solidFill>
            <a:srgbClr val="16213E"/>
          </a:solidFill>
          <a:ln/>
        </p:spPr>
      </p:sp>
      <p:sp>
        <p:nvSpPr>
          <p:cNvPr id="25" name="Text 23"/>
          <p:cNvSpPr/>
          <p:nvPr/>
        </p:nvSpPr>
        <p:spPr>
          <a:xfrm>
            <a:off x="10291572" y="2313432"/>
            <a:ext cx="585216" cy="585216"/>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4</a:t>
            </a:r>
            <a:endParaRPr lang="en-US" sz="1400" dirty="0"/>
          </a:p>
        </p:txBody>
      </p:sp>
      <p:sp>
        <p:nvSpPr>
          <p:cNvPr id="26" name="Text 24"/>
          <p:cNvSpPr/>
          <p:nvPr/>
        </p:nvSpPr>
        <p:spPr>
          <a:xfrm>
            <a:off x="9509760" y="3017520"/>
            <a:ext cx="2148840" cy="502920"/>
          </a:xfrm>
          <a:prstGeom prst="rect">
            <a:avLst/>
          </a:prstGeom>
          <a:noFill/>
          <a:ln/>
        </p:spPr>
        <p:txBody>
          <a:bodyPr wrap="square" rtlCol="0" anchor="ctr"/>
          <a:lstStyle/>
          <a:p>
            <a:pPr algn="ctr" indent="0" marL="0">
              <a:buNone/>
            </a:pPr>
            <a:r>
              <a:rPr lang="en-US" sz="1300" b="1" dirty="0">
                <a:solidFill>
                  <a:srgbClr val="16213E"/>
                </a:solidFill>
                <a:latin typeface="Cambria" pitchFamily="34" charset="0"/>
                <a:ea typeface="Cambria" pitchFamily="34" charset="-122"/>
                <a:cs typeface="Cambria" pitchFamily="34" charset="-120"/>
              </a:rPr>
              <a:t>Feedback Loop</a:t>
            </a:r>
            <a:endParaRPr lang="en-US" sz="1300" dirty="0"/>
          </a:p>
        </p:txBody>
      </p:sp>
      <p:sp>
        <p:nvSpPr>
          <p:cNvPr id="27" name="Text 25"/>
          <p:cNvSpPr/>
          <p:nvPr/>
        </p:nvSpPr>
        <p:spPr>
          <a:xfrm>
            <a:off x="9509760" y="3520440"/>
            <a:ext cx="2148840" cy="822960"/>
          </a:xfrm>
          <a:prstGeom prst="rect">
            <a:avLst/>
          </a:prstGeom>
          <a:noFill/>
          <a:ln/>
        </p:spPr>
        <p:txBody>
          <a:bodyPr wrap="square" rtlCol="0" anchor="ctr"/>
          <a:lstStyle/>
          <a:p>
            <a:pPr algn="ctr" indent="0" marL="0">
              <a:buNone/>
            </a:pPr>
            <a:r>
              <a:rPr lang="en-US" sz="1000" dirty="0">
                <a:solidFill>
                  <a:srgbClr val="5B6B82"/>
                </a:solidFill>
                <a:latin typeface="Calibri" pitchFamily="34" charset="0"/>
                <a:ea typeface="Calibri" pitchFamily="34" charset="-122"/>
                <a:cs typeface="Calibri" pitchFamily="34" charset="-120"/>
              </a:rPr>
              <a:t>User interaction (clicks, corrections) may refine future performance</a:t>
            </a:r>
            <a:endParaRPr lang="en-US" sz="1000" dirty="0"/>
          </a:p>
        </p:txBody>
      </p:sp>
      <p:sp>
        <p:nvSpPr>
          <p:cNvPr id="28" name="Text 26"/>
          <p:cNvSpPr/>
          <p:nvPr/>
        </p:nvSpPr>
        <p:spPr>
          <a:xfrm>
            <a:off x="548640" y="4892040"/>
            <a:ext cx="10607040" cy="1280160"/>
          </a:xfrm>
          <a:prstGeom prst="rect">
            <a:avLst/>
          </a:prstGeom>
          <a:noFill/>
          <a:ln/>
        </p:spPr>
        <p:txBody>
          <a:bodyPr wrap="square" rtlCol="0" anchor="t"/>
          <a:lstStyle/>
          <a:p>
            <a:pPr marL="228600" indent="-228600">
              <a:spcAft>
                <a:spcPts val="800"/>
              </a:spcAft>
              <a:buSzPct val="100000"/>
              <a:buChar char="•"/>
            </a:pPr>
            <a:r>
              <a:rPr lang="en-US" sz="1250" dirty="0">
                <a:solidFill>
                  <a:srgbClr val="16213E"/>
                </a:solidFill>
                <a:latin typeface="Calibri" pitchFamily="34" charset="0"/>
                <a:ea typeface="Calibri" pitchFamily="34" charset="-122"/>
                <a:cs typeface="Calibri" pitchFamily="34" charset="-120"/>
              </a:rPr>
              <a:t>This pipeline is often invisible to the end user — the 'AI' is a background feature, not a standalone product.</a:t>
            </a:r>
            <a:endParaRPr lang="en-US" sz="1250" dirty="0"/>
          </a:p>
          <a:p>
            <a:pPr marL="228600" indent="-228600">
              <a:spcAft>
                <a:spcPts val="800"/>
              </a:spcAft>
              <a:buSzPct val="100000"/>
              <a:buChar char="•"/>
            </a:pPr>
            <a:r>
              <a:rPr lang="en-US" sz="1250" dirty="0">
                <a:solidFill>
                  <a:srgbClr val="16213E"/>
                </a:solidFill>
                <a:latin typeface="Calibri" pitchFamily="34" charset="0"/>
                <a:ea typeface="Calibri" pitchFamily="34" charset="-122"/>
                <a:cs typeface="Calibri" pitchFamily="34" charset="-120"/>
              </a:rPr>
              <a:t>Recognizing this pattern helps identify AI in software that doesn't explicitly market itself as 'AI-powered.'</a:t>
            </a:r>
            <a:endParaRPr lang="en-US" sz="1250" dirty="0"/>
          </a:p>
        </p:txBody>
      </p:sp>
      <p:sp>
        <p:nvSpPr>
          <p:cNvPr id="29" name="Text 27"/>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14 / 30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CONCEPTUAL DISTINCTION</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vs Traditional Software</a:t>
            </a:r>
            <a:endParaRPr lang="en-US" sz="3000" dirty="0"/>
          </a:p>
        </p:txBody>
      </p:sp>
      <p:sp>
        <p:nvSpPr>
          <p:cNvPr id="4" name="Shape 2"/>
          <p:cNvSpPr/>
          <p:nvPr/>
        </p:nvSpPr>
        <p:spPr>
          <a:xfrm>
            <a:off x="3108960" y="1600200"/>
            <a:ext cx="4160520" cy="502920"/>
          </a:xfrm>
          <a:prstGeom prst="roundRect">
            <a:avLst>
              <a:gd name="adj" fmla="val 14545"/>
            </a:avLst>
          </a:prstGeom>
          <a:solidFill>
            <a:srgbClr val="16213E"/>
          </a:solidFill>
          <a:ln w="12700">
            <a:solidFill>
              <a:srgbClr val="D8DEE9"/>
            </a:solidFill>
            <a:prstDash val="solid"/>
          </a:ln>
        </p:spPr>
      </p:sp>
      <p:sp>
        <p:nvSpPr>
          <p:cNvPr id="5" name="Text 3"/>
          <p:cNvSpPr/>
          <p:nvPr/>
        </p:nvSpPr>
        <p:spPr>
          <a:xfrm>
            <a:off x="3108960" y="1600200"/>
            <a:ext cx="416052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TRADITIONAL SOFTWARE</a:t>
            </a:r>
            <a:endParaRPr lang="en-US" sz="1200" dirty="0"/>
          </a:p>
        </p:txBody>
      </p:sp>
      <p:sp>
        <p:nvSpPr>
          <p:cNvPr id="6" name="Shape 4"/>
          <p:cNvSpPr/>
          <p:nvPr/>
        </p:nvSpPr>
        <p:spPr>
          <a:xfrm>
            <a:off x="7360920" y="1600200"/>
            <a:ext cx="4251960" cy="502920"/>
          </a:xfrm>
          <a:prstGeom prst="roundRect">
            <a:avLst>
              <a:gd name="adj" fmla="val 14545"/>
            </a:avLst>
          </a:prstGeom>
          <a:solidFill>
            <a:srgbClr val="0FBFAE"/>
          </a:solidFill>
          <a:ln w="12700">
            <a:solidFill>
              <a:srgbClr val="D8DEE9"/>
            </a:solidFill>
            <a:prstDash val="solid"/>
          </a:ln>
        </p:spPr>
      </p:sp>
      <p:sp>
        <p:nvSpPr>
          <p:cNvPr id="7" name="Text 5"/>
          <p:cNvSpPr/>
          <p:nvPr/>
        </p:nvSpPr>
        <p:spPr>
          <a:xfrm>
            <a:off x="7360920" y="1600200"/>
            <a:ext cx="4251960" cy="502920"/>
          </a:xfrm>
          <a:prstGeom prst="rect">
            <a:avLst/>
          </a:prstGeom>
          <a:noFill/>
          <a:ln/>
        </p:spPr>
        <p:txBody>
          <a:bodyPr wrap="square" rtlCol="0" anchor="ctr"/>
          <a:lstStyle/>
          <a:p>
            <a:pPr algn="ctr" indent="0" marL="0">
              <a:buNone/>
            </a:pPr>
            <a:r>
              <a:rPr lang="en-US" sz="1200" b="1" dirty="0">
                <a:solidFill>
                  <a:srgbClr val="16213E"/>
                </a:solidFill>
                <a:latin typeface="Calibri" pitchFamily="34" charset="0"/>
                <a:ea typeface="Calibri" pitchFamily="34" charset="-122"/>
                <a:cs typeface="Calibri" pitchFamily="34" charset="-120"/>
              </a:rPr>
              <a:t>AI / MACHINE LEARNING</a:t>
            </a:r>
            <a:endParaRPr lang="en-US" sz="1200" dirty="0"/>
          </a:p>
        </p:txBody>
      </p:sp>
      <p:sp>
        <p:nvSpPr>
          <p:cNvPr id="8" name="Text 6"/>
          <p:cNvSpPr/>
          <p:nvPr/>
        </p:nvSpPr>
        <p:spPr>
          <a:xfrm>
            <a:off x="548640" y="2194560"/>
            <a:ext cx="2468880" cy="768096"/>
          </a:xfrm>
          <a:prstGeom prst="rect">
            <a:avLst/>
          </a:prstGeom>
          <a:noFill/>
          <a:ln/>
        </p:spPr>
        <p:txBody>
          <a:bodyPr wrap="square" rtlCol="0" anchor="ctr"/>
          <a:lstStyle/>
          <a:p>
            <a:pPr indent="0" marL="0">
              <a:buNone/>
            </a:pPr>
            <a:r>
              <a:rPr lang="en-US" sz="1150" b="1" dirty="0">
                <a:solidFill>
                  <a:srgbClr val="16213E"/>
                </a:solidFill>
                <a:latin typeface="Cambria" pitchFamily="34" charset="0"/>
                <a:ea typeface="Cambria" pitchFamily="34" charset="-122"/>
                <a:cs typeface="Cambria" pitchFamily="34" charset="-120"/>
              </a:rPr>
              <a:t>Logic Source</a:t>
            </a:r>
            <a:endParaRPr lang="en-US" sz="1150" dirty="0"/>
          </a:p>
        </p:txBody>
      </p:sp>
      <p:sp>
        <p:nvSpPr>
          <p:cNvPr id="9" name="Shape 7"/>
          <p:cNvSpPr/>
          <p:nvPr/>
        </p:nvSpPr>
        <p:spPr>
          <a:xfrm>
            <a:off x="3108960" y="2194560"/>
            <a:ext cx="4160520" cy="768096"/>
          </a:xfrm>
          <a:prstGeom prst="roundRect">
            <a:avLst>
              <a:gd name="adj" fmla="val 9524"/>
            </a:avLst>
          </a:prstGeom>
          <a:solidFill>
            <a:srgbClr val="F4F6FA"/>
          </a:solidFill>
          <a:ln w="12700">
            <a:solidFill>
              <a:srgbClr val="D8DEE9"/>
            </a:solidFill>
            <a:prstDash val="solid"/>
          </a:ln>
        </p:spPr>
      </p:sp>
      <p:sp>
        <p:nvSpPr>
          <p:cNvPr id="10" name="Text 8"/>
          <p:cNvSpPr/>
          <p:nvPr/>
        </p:nvSpPr>
        <p:spPr>
          <a:xfrm>
            <a:off x="3246120" y="2194560"/>
            <a:ext cx="3886200" cy="768096"/>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Explicitly written rules and conditional logic</a:t>
            </a:r>
            <a:endParaRPr lang="en-US" sz="1050" dirty="0"/>
          </a:p>
        </p:txBody>
      </p:sp>
      <p:sp>
        <p:nvSpPr>
          <p:cNvPr id="11" name="Shape 9"/>
          <p:cNvSpPr/>
          <p:nvPr/>
        </p:nvSpPr>
        <p:spPr>
          <a:xfrm>
            <a:off x="7360920" y="2194560"/>
            <a:ext cx="4251960" cy="768096"/>
          </a:xfrm>
          <a:prstGeom prst="roundRect">
            <a:avLst>
              <a:gd name="adj" fmla="val 9524"/>
            </a:avLst>
          </a:prstGeom>
          <a:solidFill>
            <a:srgbClr val="F4F6FA"/>
          </a:solidFill>
          <a:ln w="12700">
            <a:solidFill>
              <a:srgbClr val="D8DEE9"/>
            </a:solidFill>
            <a:prstDash val="solid"/>
          </a:ln>
        </p:spPr>
      </p:sp>
      <p:sp>
        <p:nvSpPr>
          <p:cNvPr id="12" name="Text 10"/>
          <p:cNvSpPr/>
          <p:nvPr/>
        </p:nvSpPr>
        <p:spPr>
          <a:xfrm>
            <a:off x="7498080" y="2194560"/>
            <a:ext cx="3977640" cy="768096"/>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Patterns learned statistically from training data</a:t>
            </a:r>
            <a:endParaRPr lang="en-US" sz="1050" dirty="0"/>
          </a:p>
        </p:txBody>
      </p:sp>
      <p:sp>
        <p:nvSpPr>
          <p:cNvPr id="13" name="Text 11"/>
          <p:cNvSpPr/>
          <p:nvPr/>
        </p:nvSpPr>
        <p:spPr>
          <a:xfrm>
            <a:off x="548640" y="3035808"/>
            <a:ext cx="2468880" cy="768096"/>
          </a:xfrm>
          <a:prstGeom prst="rect">
            <a:avLst/>
          </a:prstGeom>
          <a:noFill/>
          <a:ln/>
        </p:spPr>
        <p:txBody>
          <a:bodyPr wrap="square" rtlCol="0" anchor="ctr"/>
          <a:lstStyle/>
          <a:p>
            <a:pPr indent="0" marL="0">
              <a:buNone/>
            </a:pPr>
            <a:r>
              <a:rPr lang="en-US" sz="1150" b="1" dirty="0">
                <a:solidFill>
                  <a:srgbClr val="16213E"/>
                </a:solidFill>
                <a:latin typeface="Cambria" pitchFamily="34" charset="0"/>
                <a:ea typeface="Cambria" pitchFamily="34" charset="-122"/>
                <a:cs typeface="Cambria" pitchFamily="34" charset="-120"/>
              </a:rPr>
              <a:t>Behavior on New Input</a:t>
            </a:r>
            <a:endParaRPr lang="en-US" sz="1150" dirty="0"/>
          </a:p>
        </p:txBody>
      </p:sp>
      <p:sp>
        <p:nvSpPr>
          <p:cNvPr id="14" name="Shape 12"/>
          <p:cNvSpPr/>
          <p:nvPr/>
        </p:nvSpPr>
        <p:spPr>
          <a:xfrm>
            <a:off x="3108960" y="3035808"/>
            <a:ext cx="4160520" cy="768096"/>
          </a:xfrm>
          <a:prstGeom prst="roundRect">
            <a:avLst>
              <a:gd name="adj" fmla="val 9524"/>
            </a:avLst>
          </a:prstGeom>
          <a:solidFill>
            <a:srgbClr val="FFFFFF"/>
          </a:solidFill>
          <a:ln w="12700">
            <a:solidFill>
              <a:srgbClr val="D8DEE9"/>
            </a:solidFill>
            <a:prstDash val="solid"/>
          </a:ln>
        </p:spPr>
      </p:sp>
      <p:sp>
        <p:nvSpPr>
          <p:cNvPr id="15" name="Text 13"/>
          <p:cNvSpPr/>
          <p:nvPr/>
        </p:nvSpPr>
        <p:spPr>
          <a:xfrm>
            <a:off x="3246120" y="3035808"/>
            <a:ext cx="3886200" cy="768096"/>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Predictable, deterministic given the same input</a:t>
            </a:r>
            <a:endParaRPr lang="en-US" sz="1050" dirty="0"/>
          </a:p>
        </p:txBody>
      </p:sp>
      <p:sp>
        <p:nvSpPr>
          <p:cNvPr id="16" name="Shape 14"/>
          <p:cNvSpPr/>
          <p:nvPr/>
        </p:nvSpPr>
        <p:spPr>
          <a:xfrm>
            <a:off x="7360920" y="3035808"/>
            <a:ext cx="4251960" cy="768096"/>
          </a:xfrm>
          <a:prstGeom prst="roundRect">
            <a:avLst>
              <a:gd name="adj" fmla="val 9524"/>
            </a:avLst>
          </a:prstGeom>
          <a:solidFill>
            <a:srgbClr val="FFFFFF"/>
          </a:solidFill>
          <a:ln w="12700">
            <a:solidFill>
              <a:srgbClr val="D8DEE9"/>
            </a:solidFill>
            <a:prstDash val="solid"/>
          </a:ln>
        </p:spPr>
      </p:sp>
      <p:sp>
        <p:nvSpPr>
          <p:cNvPr id="17" name="Text 15"/>
          <p:cNvSpPr/>
          <p:nvPr/>
        </p:nvSpPr>
        <p:spPr>
          <a:xfrm>
            <a:off x="7498080" y="3035808"/>
            <a:ext cx="3977640" cy="768096"/>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Probabilistic — output can vary or be uncertain</a:t>
            </a:r>
            <a:endParaRPr lang="en-US" sz="1050" dirty="0"/>
          </a:p>
        </p:txBody>
      </p:sp>
      <p:sp>
        <p:nvSpPr>
          <p:cNvPr id="18" name="Text 16"/>
          <p:cNvSpPr/>
          <p:nvPr/>
        </p:nvSpPr>
        <p:spPr>
          <a:xfrm>
            <a:off x="548640" y="3877056"/>
            <a:ext cx="2468880" cy="768096"/>
          </a:xfrm>
          <a:prstGeom prst="rect">
            <a:avLst/>
          </a:prstGeom>
          <a:noFill/>
          <a:ln/>
        </p:spPr>
        <p:txBody>
          <a:bodyPr wrap="square" rtlCol="0" anchor="ctr"/>
          <a:lstStyle/>
          <a:p>
            <a:pPr indent="0" marL="0">
              <a:buNone/>
            </a:pPr>
            <a:r>
              <a:rPr lang="en-US" sz="1150" b="1" dirty="0">
                <a:solidFill>
                  <a:srgbClr val="16213E"/>
                </a:solidFill>
                <a:latin typeface="Cambria" pitchFamily="34" charset="0"/>
                <a:ea typeface="Cambria" pitchFamily="34" charset="-122"/>
                <a:cs typeface="Cambria" pitchFamily="34" charset="-120"/>
              </a:rPr>
              <a:t>How It Improves</a:t>
            </a:r>
            <a:endParaRPr lang="en-US" sz="1150" dirty="0"/>
          </a:p>
        </p:txBody>
      </p:sp>
      <p:sp>
        <p:nvSpPr>
          <p:cNvPr id="19" name="Shape 17"/>
          <p:cNvSpPr/>
          <p:nvPr/>
        </p:nvSpPr>
        <p:spPr>
          <a:xfrm>
            <a:off x="3108960" y="3877056"/>
            <a:ext cx="4160520" cy="768096"/>
          </a:xfrm>
          <a:prstGeom prst="roundRect">
            <a:avLst>
              <a:gd name="adj" fmla="val 9524"/>
            </a:avLst>
          </a:prstGeom>
          <a:solidFill>
            <a:srgbClr val="F4F6FA"/>
          </a:solidFill>
          <a:ln w="12700">
            <a:solidFill>
              <a:srgbClr val="D8DEE9"/>
            </a:solidFill>
            <a:prstDash val="solid"/>
          </a:ln>
        </p:spPr>
      </p:sp>
      <p:sp>
        <p:nvSpPr>
          <p:cNvPr id="20" name="Text 18"/>
          <p:cNvSpPr/>
          <p:nvPr/>
        </p:nvSpPr>
        <p:spPr>
          <a:xfrm>
            <a:off x="3246120" y="3877056"/>
            <a:ext cx="3886200" cy="768096"/>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Developer rewrites code / rules</a:t>
            </a:r>
            <a:endParaRPr lang="en-US" sz="1050" dirty="0"/>
          </a:p>
        </p:txBody>
      </p:sp>
      <p:sp>
        <p:nvSpPr>
          <p:cNvPr id="21" name="Shape 19"/>
          <p:cNvSpPr/>
          <p:nvPr/>
        </p:nvSpPr>
        <p:spPr>
          <a:xfrm>
            <a:off x="7360920" y="3877056"/>
            <a:ext cx="4251960" cy="768096"/>
          </a:xfrm>
          <a:prstGeom prst="roundRect">
            <a:avLst>
              <a:gd name="adj" fmla="val 9524"/>
            </a:avLst>
          </a:prstGeom>
          <a:solidFill>
            <a:srgbClr val="F4F6FA"/>
          </a:solidFill>
          <a:ln w="12700">
            <a:solidFill>
              <a:srgbClr val="D8DEE9"/>
            </a:solidFill>
            <a:prstDash val="solid"/>
          </a:ln>
        </p:spPr>
      </p:sp>
      <p:sp>
        <p:nvSpPr>
          <p:cNvPr id="22" name="Text 20"/>
          <p:cNvSpPr/>
          <p:nvPr/>
        </p:nvSpPr>
        <p:spPr>
          <a:xfrm>
            <a:off x="7498080" y="3877056"/>
            <a:ext cx="3977640" cy="768096"/>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Retraining on new or additional data</a:t>
            </a:r>
            <a:endParaRPr lang="en-US" sz="1050" dirty="0"/>
          </a:p>
        </p:txBody>
      </p:sp>
      <p:sp>
        <p:nvSpPr>
          <p:cNvPr id="23" name="Text 21"/>
          <p:cNvSpPr/>
          <p:nvPr/>
        </p:nvSpPr>
        <p:spPr>
          <a:xfrm>
            <a:off x="548640" y="4718304"/>
            <a:ext cx="2468880" cy="768096"/>
          </a:xfrm>
          <a:prstGeom prst="rect">
            <a:avLst/>
          </a:prstGeom>
          <a:noFill/>
          <a:ln/>
        </p:spPr>
        <p:txBody>
          <a:bodyPr wrap="square" rtlCol="0" anchor="ctr"/>
          <a:lstStyle/>
          <a:p>
            <a:pPr indent="0" marL="0">
              <a:buNone/>
            </a:pPr>
            <a:r>
              <a:rPr lang="en-US" sz="1150" b="1" dirty="0">
                <a:solidFill>
                  <a:srgbClr val="16213E"/>
                </a:solidFill>
                <a:latin typeface="Cambria" pitchFamily="34" charset="0"/>
                <a:ea typeface="Cambria" pitchFamily="34" charset="-122"/>
                <a:cs typeface="Cambria" pitchFamily="34" charset="-120"/>
              </a:rPr>
              <a:t>Debugging</a:t>
            </a:r>
            <a:endParaRPr lang="en-US" sz="1150" dirty="0"/>
          </a:p>
        </p:txBody>
      </p:sp>
      <p:sp>
        <p:nvSpPr>
          <p:cNvPr id="24" name="Shape 22"/>
          <p:cNvSpPr/>
          <p:nvPr/>
        </p:nvSpPr>
        <p:spPr>
          <a:xfrm>
            <a:off x="3108960" y="4718304"/>
            <a:ext cx="4160520" cy="768096"/>
          </a:xfrm>
          <a:prstGeom prst="roundRect">
            <a:avLst>
              <a:gd name="adj" fmla="val 9524"/>
            </a:avLst>
          </a:prstGeom>
          <a:solidFill>
            <a:srgbClr val="FFFFFF"/>
          </a:solidFill>
          <a:ln w="12700">
            <a:solidFill>
              <a:srgbClr val="D8DEE9"/>
            </a:solidFill>
            <a:prstDash val="solid"/>
          </a:ln>
        </p:spPr>
      </p:sp>
      <p:sp>
        <p:nvSpPr>
          <p:cNvPr id="25" name="Text 23"/>
          <p:cNvSpPr/>
          <p:nvPr/>
        </p:nvSpPr>
        <p:spPr>
          <a:xfrm>
            <a:off x="3246120" y="4718304"/>
            <a:ext cx="3886200" cy="768096"/>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Trace exact logic path causing an error</a:t>
            </a:r>
            <a:endParaRPr lang="en-US" sz="1050" dirty="0"/>
          </a:p>
        </p:txBody>
      </p:sp>
      <p:sp>
        <p:nvSpPr>
          <p:cNvPr id="26" name="Shape 24"/>
          <p:cNvSpPr/>
          <p:nvPr/>
        </p:nvSpPr>
        <p:spPr>
          <a:xfrm>
            <a:off x="7360920" y="4718304"/>
            <a:ext cx="4251960" cy="768096"/>
          </a:xfrm>
          <a:prstGeom prst="roundRect">
            <a:avLst>
              <a:gd name="adj" fmla="val 9524"/>
            </a:avLst>
          </a:prstGeom>
          <a:solidFill>
            <a:srgbClr val="FFFFFF"/>
          </a:solidFill>
          <a:ln w="12700">
            <a:solidFill>
              <a:srgbClr val="D8DEE9"/>
            </a:solidFill>
            <a:prstDash val="solid"/>
          </a:ln>
        </p:spPr>
      </p:sp>
      <p:sp>
        <p:nvSpPr>
          <p:cNvPr id="27" name="Text 25"/>
          <p:cNvSpPr/>
          <p:nvPr/>
        </p:nvSpPr>
        <p:spPr>
          <a:xfrm>
            <a:off x="7498080" y="4718304"/>
            <a:ext cx="3977640" cy="768096"/>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Harder to fully explain a specific output ("black box" tendency)</a:t>
            </a:r>
            <a:endParaRPr lang="en-US" sz="1050" dirty="0"/>
          </a:p>
        </p:txBody>
      </p:sp>
      <p:sp>
        <p:nvSpPr>
          <p:cNvPr id="28" name="Text 26"/>
          <p:cNvSpPr/>
          <p:nvPr/>
        </p:nvSpPr>
        <p:spPr>
          <a:xfrm>
            <a:off x="548640" y="5559552"/>
            <a:ext cx="2468880" cy="768096"/>
          </a:xfrm>
          <a:prstGeom prst="rect">
            <a:avLst/>
          </a:prstGeom>
          <a:noFill/>
          <a:ln/>
        </p:spPr>
        <p:txBody>
          <a:bodyPr wrap="square" rtlCol="0" anchor="ctr"/>
          <a:lstStyle/>
          <a:p>
            <a:pPr indent="0" marL="0">
              <a:buNone/>
            </a:pPr>
            <a:r>
              <a:rPr lang="en-US" sz="1150" b="1" dirty="0">
                <a:solidFill>
                  <a:srgbClr val="16213E"/>
                </a:solidFill>
                <a:latin typeface="Cambria" pitchFamily="34" charset="0"/>
                <a:ea typeface="Cambria" pitchFamily="34" charset="-122"/>
                <a:cs typeface="Cambria" pitchFamily="34" charset="-120"/>
              </a:rPr>
              <a:t>Best Suited For</a:t>
            </a:r>
            <a:endParaRPr lang="en-US" sz="1150" dirty="0"/>
          </a:p>
        </p:txBody>
      </p:sp>
      <p:sp>
        <p:nvSpPr>
          <p:cNvPr id="29" name="Shape 27"/>
          <p:cNvSpPr/>
          <p:nvPr/>
        </p:nvSpPr>
        <p:spPr>
          <a:xfrm>
            <a:off x="3108960" y="5559552"/>
            <a:ext cx="4160520" cy="768096"/>
          </a:xfrm>
          <a:prstGeom prst="roundRect">
            <a:avLst>
              <a:gd name="adj" fmla="val 9524"/>
            </a:avLst>
          </a:prstGeom>
          <a:solidFill>
            <a:srgbClr val="F4F6FA"/>
          </a:solidFill>
          <a:ln w="12700">
            <a:solidFill>
              <a:srgbClr val="D8DEE9"/>
            </a:solidFill>
            <a:prstDash val="solid"/>
          </a:ln>
        </p:spPr>
      </p:sp>
      <p:sp>
        <p:nvSpPr>
          <p:cNvPr id="30" name="Text 28"/>
          <p:cNvSpPr/>
          <p:nvPr/>
        </p:nvSpPr>
        <p:spPr>
          <a:xfrm>
            <a:off x="3246120" y="5559552"/>
            <a:ext cx="3886200" cy="768096"/>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Well-defined, rule-based tasks (tax calculation, form validation)</a:t>
            </a:r>
            <a:endParaRPr lang="en-US" sz="1050" dirty="0"/>
          </a:p>
        </p:txBody>
      </p:sp>
      <p:sp>
        <p:nvSpPr>
          <p:cNvPr id="31" name="Shape 29"/>
          <p:cNvSpPr/>
          <p:nvPr/>
        </p:nvSpPr>
        <p:spPr>
          <a:xfrm>
            <a:off x="7360920" y="5559552"/>
            <a:ext cx="4251960" cy="768096"/>
          </a:xfrm>
          <a:prstGeom prst="roundRect">
            <a:avLst>
              <a:gd name="adj" fmla="val 9524"/>
            </a:avLst>
          </a:prstGeom>
          <a:solidFill>
            <a:srgbClr val="F4F6FA"/>
          </a:solidFill>
          <a:ln w="12700">
            <a:solidFill>
              <a:srgbClr val="D8DEE9"/>
            </a:solidFill>
            <a:prstDash val="solid"/>
          </a:ln>
        </p:spPr>
      </p:sp>
      <p:sp>
        <p:nvSpPr>
          <p:cNvPr id="32" name="Text 30"/>
          <p:cNvSpPr/>
          <p:nvPr/>
        </p:nvSpPr>
        <p:spPr>
          <a:xfrm>
            <a:off x="7498080" y="5559552"/>
            <a:ext cx="3977640" cy="768096"/>
          </a:xfrm>
          <a:prstGeom prst="rect">
            <a:avLst/>
          </a:prstGeom>
          <a:noFill/>
          <a:ln/>
        </p:spPr>
        <p:txBody>
          <a:bodyPr wrap="square" rtlCol="0" anchor="ctr"/>
          <a:lstStyle/>
          <a:p>
            <a:pPr indent="0" marL="0">
              <a:buNone/>
            </a:pPr>
            <a:r>
              <a:rPr lang="en-US" sz="1050" dirty="0">
                <a:solidFill>
                  <a:srgbClr val="5B6B82"/>
                </a:solidFill>
                <a:latin typeface="Calibri" pitchFamily="34" charset="0"/>
                <a:ea typeface="Calibri" pitchFamily="34" charset="-122"/>
                <a:cs typeface="Calibri" pitchFamily="34" charset="-120"/>
              </a:rPr>
              <a:t>Pattern recognition, language, ambiguous or open-ended tasks</a:t>
            </a:r>
            <a:endParaRPr lang="en-US" sz="1050" dirty="0"/>
          </a:p>
        </p:txBody>
      </p:sp>
      <p:sp>
        <p:nvSpPr>
          <p:cNvPr id="33" name="Text 31"/>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15 / 30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FOCUS TECHNOLOGY FOR TODAY</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Introduction to Generative AI</a:t>
            </a:r>
            <a:endParaRPr lang="en-US" sz="3000" dirty="0"/>
          </a:p>
        </p:txBody>
      </p:sp>
      <p:sp>
        <p:nvSpPr>
          <p:cNvPr id="4" name="Text 2"/>
          <p:cNvSpPr/>
          <p:nvPr/>
        </p:nvSpPr>
        <p:spPr>
          <a:xfrm>
            <a:off x="548640" y="1554480"/>
            <a:ext cx="6217920" cy="4206240"/>
          </a:xfrm>
          <a:prstGeom prst="rect">
            <a:avLst/>
          </a:prstGeom>
          <a:noFill/>
          <a:ln/>
        </p:spPr>
        <p:txBody>
          <a:bodyPr wrap="square" rtlCol="0" anchor="t"/>
          <a:lstStyle/>
          <a:p>
            <a:pPr marL="228600" indent="-2286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Generative AI models produce new content — text, images, audio, video, or code — rather than only classifying or predicting from fixed categories.</a:t>
            </a:r>
            <a:endParaRPr lang="en-US" sz="1350" dirty="0"/>
          </a:p>
          <a:p>
            <a:pPr marL="228600" indent="-2286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Most modern generative text tools are built on Large Language Models (LLMs), trained on large text datasets to predict likely sequences of words.</a:t>
            </a:r>
            <a:endParaRPr lang="en-US" sz="1350" dirty="0"/>
          </a:p>
          <a:p>
            <a:pPr marL="228600" indent="-2286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LLMs generate output token-by-token based on probability, not by retrieving a stored 'correct answer' — this is why they can be fluent yet factually wrong (a phenomenon known as hallucination).</a:t>
            </a:r>
            <a:endParaRPr lang="en-US" sz="1350" dirty="0"/>
          </a:p>
          <a:p>
            <a:pPr marL="228600" indent="-228600">
              <a:spcAft>
                <a:spcPts val="1400"/>
              </a:spcAft>
              <a:buSzPct val="100000"/>
              <a:buChar char="•"/>
            </a:pPr>
            <a:r>
              <a:rPr lang="en-US" sz="1350" dirty="0">
                <a:solidFill>
                  <a:srgbClr val="16213E"/>
                </a:solidFill>
                <a:latin typeface="Calibri" pitchFamily="34" charset="0"/>
                <a:ea typeface="Calibri" pitchFamily="34" charset="-122"/>
                <a:cs typeface="Calibri" pitchFamily="34" charset="-120"/>
              </a:rPr>
              <a:t>Generative AI tools (Copilot, Claude, Perplexity, and others) are the primary focus of today's hands-on exploration.</a:t>
            </a:r>
            <a:endParaRPr lang="en-US" sz="1350" dirty="0"/>
          </a:p>
        </p:txBody>
      </p:sp>
      <p:sp>
        <p:nvSpPr>
          <p:cNvPr id="5" name="Shape 3"/>
          <p:cNvSpPr/>
          <p:nvPr/>
        </p:nvSpPr>
        <p:spPr>
          <a:xfrm>
            <a:off x="7086600" y="1554480"/>
            <a:ext cx="4572000" cy="4206240"/>
          </a:xfrm>
          <a:prstGeom prst="roundRect">
            <a:avLst>
              <a:gd name="adj" fmla="val 1739"/>
            </a:avLst>
          </a:prstGeom>
          <a:solidFill>
            <a:srgbClr val="16213E"/>
          </a:solidFill>
          <a:ln w="12700">
            <a:solidFill>
              <a:srgbClr val="D8DEE9"/>
            </a:solidFill>
            <a:prstDash val="solid"/>
          </a:ln>
        </p:spPr>
      </p:sp>
      <p:sp>
        <p:nvSpPr>
          <p:cNvPr id="6" name="Text 4"/>
          <p:cNvSpPr/>
          <p:nvPr/>
        </p:nvSpPr>
        <p:spPr>
          <a:xfrm>
            <a:off x="7406640" y="1783080"/>
            <a:ext cx="3931920" cy="274320"/>
          </a:xfrm>
          <a:prstGeom prst="rect">
            <a:avLst/>
          </a:prstGeom>
          <a:noFill/>
          <a:ln/>
        </p:spPr>
        <p:txBody>
          <a:bodyPr wrap="square" rtlCol="0" anchor="ctr"/>
          <a:lstStyle/>
          <a:p>
            <a:pPr indent="0" marL="0">
              <a:buNone/>
            </a:pPr>
            <a:r>
              <a:rPr lang="en-US" sz="1100" b="1" spc="150" kern="0" dirty="0">
                <a:solidFill>
                  <a:srgbClr val="2FE6D6"/>
                </a:solidFill>
                <a:latin typeface="Calibri" pitchFamily="34" charset="0"/>
                <a:ea typeface="Calibri" pitchFamily="34" charset="-122"/>
                <a:cs typeface="Calibri" pitchFamily="34" charset="-120"/>
              </a:rPr>
              <a:t>KEY TERM: HALLUCINATION</a:t>
            </a:r>
            <a:endParaRPr lang="en-US" sz="1100" dirty="0"/>
          </a:p>
        </p:txBody>
      </p:sp>
      <p:sp>
        <p:nvSpPr>
          <p:cNvPr id="7" name="Text 5"/>
          <p:cNvSpPr/>
          <p:nvPr/>
        </p:nvSpPr>
        <p:spPr>
          <a:xfrm>
            <a:off x="7406640" y="2148840"/>
            <a:ext cx="3931920" cy="1051560"/>
          </a:xfrm>
          <a:prstGeom prst="rect">
            <a:avLst/>
          </a:prstGeom>
          <a:noFill/>
          <a:ln/>
        </p:spPr>
        <p:txBody>
          <a:bodyPr wrap="square" rtlCol="0" anchor="ctr"/>
          <a:lstStyle/>
          <a:p>
            <a:pPr indent="0" marL="0">
              <a:buNone/>
            </a:pPr>
            <a:r>
              <a:rPr lang="en-US" sz="1250" dirty="0">
                <a:solidFill>
                  <a:srgbClr val="D6DEEC"/>
                </a:solidFill>
                <a:latin typeface="Calibri" pitchFamily="34" charset="0"/>
                <a:ea typeface="Calibri" pitchFamily="34" charset="-122"/>
                <a:cs typeface="Calibri" pitchFamily="34" charset="-120"/>
              </a:rPr>
              <a:t>When a generative AI model produces confident-sounding output that is factually incorrect, fabricated, or unsupported by real data or sources.</a:t>
            </a:r>
            <a:endParaRPr lang="en-US" sz="1250" dirty="0"/>
          </a:p>
        </p:txBody>
      </p:sp>
      <p:sp>
        <p:nvSpPr>
          <p:cNvPr id="8" name="Shape 6"/>
          <p:cNvSpPr/>
          <p:nvPr/>
        </p:nvSpPr>
        <p:spPr>
          <a:xfrm>
            <a:off x="7406640" y="3337560"/>
            <a:ext cx="3931920" cy="0"/>
          </a:xfrm>
          <a:prstGeom prst="line">
            <a:avLst/>
          </a:prstGeom>
          <a:noFill/>
          <a:ln w="12700">
            <a:solidFill>
              <a:srgbClr val="3A5580"/>
            </a:solidFill>
            <a:prstDash val="solid"/>
          </a:ln>
        </p:spPr>
      </p:sp>
      <p:sp>
        <p:nvSpPr>
          <p:cNvPr id="9" name="Text 7"/>
          <p:cNvSpPr/>
          <p:nvPr/>
        </p:nvSpPr>
        <p:spPr>
          <a:xfrm>
            <a:off x="7406640" y="3520440"/>
            <a:ext cx="3931920" cy="274320"/>
          </a:xfrm>
          <a:prstGeom prst="rect">
            <a:avLst/>
          </a:prstGeom>
          <a:noFill/>
          <a:ln/>
        </p:spPr>
        <p:txBody>
          <a:bodyPr wrap="square" rtlCol="0" anchor="ctr"/>
          <a:lstStyle/>
          <a:p>
            <a:pPr indent="0" marL="0">
              <a:buNone/>
            </a:pPr>
            <a:r>
              <a:rPr lang="en-US" sz="1100" b="1" spc="150" kern="0" dirty="0">
                <a:solidFill>
                  <a:srgbClr val="2FE6D6"/>
                </a:solidFill>
                <a:latin typeface="Calibri" pitchFamily="34" charset="0"/>
                <a:ea typeface="Calibri" pitchFamily="34" charset="-122"/>
                <a:cs typeface="Calibri" pitchFamily="34" charset="-120"/>
              </a:rPr>
              <a:t>WHY IT HAPPENS</a:t>
            </a:r>
            <a:endParaRPr lang="en-US" sz="1100" dirty="0"/>
          </a:p>
        </p:txBody>
      </p:sp>
      <p:sp>
        <p:nvSpPr>
          <p:cNvPr id="10" name="Text 8"/>
          <p:cNvSpPr/>
          <p:nvPr/>
        </p:nvSpPr>
        <p:spPr>
          <a:xfrm>
            <a:off x="7406640" y="3840480"/>
            <a:ext cx="3931920" cy="1737360"/>
          </a:xfrm>
          <a:prstGeom prst="rect">
            <a:avLst/>
          </a:prstGeom>
          <a:noFill/>
          <a:ln/>
        </p:spPr>
        <p:txBody>
          <a:bodyPr wrap="square" rtlCol="0" anchor="ctr"/>
          <a:lstStyle/>
          <a:p>
            <a:pPr indent="0" marL="0">
              <a:buNone/>
            </a:pPr>
            <a:r>
              <a:rPr lang="en-US" sz="1200" dirty="0">
                <a:solidFill>
                  <a:srgbClr val="D6DEEC"/>
                </a:solidFill>
                <a:latin typeface="Calibri" pitchFamily="34" charset="0"/>
                <a:ea typeface="Calibri" pitchFamily="34" charset="-122"/>
                <a:cs typeface="Calibri" pitchFamily="34" charset="-120"/>
              </a:rPr>
              <a:t>The model is optimizing for plausible, fluent language patterns — not verifying facts against a live, authoritative source unless specifically connected to one (e.g., via search/retrieval tools).</a:t>
            </a:r>
            <a:endParaRPr lang="en-US" sz="1200" dirty="0"/>
          </a:p>
        </p:txBody>
      </p:sp>
      <p:sp>
        <p:nvSpPr>
          <p:cNvPr id="11" name="Text 9"/>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16 / 30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LANDSCAPE OVERVIEW</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Tools Ecosystem</a:t>
            </a:r>
            <a:endParaRPr lang="en-US" sz="3000" dirty="0"/>
          </a:p>
        </p:txBody>
      </p:sp>
      <p:sp>
        <p:nvSpPr>
          <p:cNvPr id="4" name="Shape 2"/>
          <p:cNvSpPr/>
          <p:nvPr/>
        </p:nvSpPr>
        <p:spPr>
          <a:xfrm>
            <a:off x="548640" y="1600200"/>
            <a:ext cx="11064240" cy="768096"/>
          </a:xfrm>
          <a:prstGeom prst="roundRect">
            <a:avLst>
              <a:gd name="adj" fmla="val 9524"/>
            </a:avLst>
          </a:prstGeom>
          <a:solidFill>
            <a:srgbClr val="F4F6FA"/>
          </a:solidFill>
          <a:ln w="12700">
            <a:solidFill>
              <a:srgbClr val="D8DEE9"/>
            </a:solidFill>
            <a:prstDash val="solid"/>
          </a:ln>
        </p:spPr>
      </p:sp>
      <p:sp>
        <p:nvSpPr>
          <p:cNvPr id="5" name="Shape 3"/>
          <p:cNvSpPr/>
          <p:nvPr/>
        </p:nvSpPr>
        <p:spPr>
          <a:xfrm>
            <a:off x="868680" y="1709928"/>
            <a:ext cx="548640" cy="548640"/>
          </a:xfrm>
          <a:prstGeom prst="ellipse">
            <a:avLst/>
          </a:prstGeom>
          <a:solidFill>
            <a:srgbClr val="16213E"/>
          </a:solidFill>
          <a:ln/>
        </p:spPr>
      </p:sp>
      <p:sp>
        <p:nvSpPr>
          <p:cNvPr id="6" name="Text 4"/>
          <p:cNvSpPr/>
          <p:nvPr/>
        </p:nvSpPr>
        <p:spPr>
          <a:xfrm>
            <a:off x="868680" y="1709928"/>
            <a:ext cx="548640" cy="548640"/>
          </a:xfrm>
          <a:prstGeom prst="rect">
            <a:avLst/>
          </a:prstGeom>
          <a:noFill/>
          <a:ln/>
        </p:spPr>
        <p:txBody>
          <a:bodyPr wrap="square" rtlCol="0" anchor="ctr"/>
          <a:lstStyle/>
          <a:p>
            <a:pPr algn="ctr" indent="0" marL="0">
              <a:buNone/>
            </a:pPr>
            <a:endParaRPr lang="en-US" sz="1200" dirty="0"/>
          </a:p>
        </p:txBody>
      </p:sp>
      <p:sp>
        <p:nvSpPr>
          <p:cNvPr id="7" name="Shape 5"/>
          <p:cNvSpPr/>
          <p:nvPr/>
        </p:nvSpPr>
        <p:spPr>
          <a:xfrm>
            <a:off x="868680" y="1709928"/>
            <a:ext cx="548640" cy="548640"/>
          </a:xfrm>
          <a:prstGeom prst="ellipse">
            <a:avLst/>
          </a:prstGeom>
          <a:solidFill>
            <a:srgbClr val="16213E"/>
          </a:solidFill>
          <a:ln/>
        </p:spPr>
      </p:sp>
      <p:sp>
        <p:nvSpPr>
          <p:cNvPr id="8" name="Text 6"/>
          <p:cNvSpPr/>
          <p:nvPr/>
        </p:nvSpPr>
        <p:spPr>
          <a:xfrm>
            <a:off x="868680" y="1709928"/>
            <a:ext cx="548640" cy="548640"/>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691640" y="1673352"/>
            <a:ext cx="3474720" cy="621792"/>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Conversational Assistants</a:t>
            </a:r>
            <a:endParaRPr lang="en-US" sz="1350" dirty="0"/>
          </a:p>
        </p:txBody>
      </p:sp>
      <p:sp>
        <p:nvSpPr>
          <p:cNvPr id="10" name="Text 8"/>
          <p:cNvSpPr/>
          <p:nvPr/>
        </p:nvSpPr>
        <p:spPr>
          <a:xfrm>
            <a:off x="5257800" y="1673352"/>
            <a:ext cx="6172200" cy="621792"/>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Microsoft Copilot, Claude, ChatGPT, Gemini — general-purpose reasoning, writing, and analysis.</a:t>
            </a:r>
            <a:endParaRPr lang="en-US" sz="1150" dirty="0"/>
          </a:p>
        </p:txBody>
      </p:sp>
      <p:sp>
        <p:nvSpPr>
          <p:cNvPr id="11" name="Shape 9"/>
          <p:cNvSpPr/>
          <p:nvPr/>
        </p:nvSpPr>
        <p:spPr>
          <a:xfrm>
            <a:off x="548640" y="2496312"/>
            <a:ext cx="11064240" cy="768096"/>
          </a:xfrm>
          <a:prstGeom prst="roundRect">
            <a:avLst>
              <a:gd name="adj" fmla="val 9524"/>
            </a:avLst>
          </a:prstGeom>
          <a:solidFill>
            <a:srgbClr val="FFFFFF"/>
          </a:solidFill>
          <a:ln w="12700">
            <a:solidFill>
              <a:srgbClr val="D8DEE9"/>
            </a:solidFill>
            <a:prstDash val="solid"/>
          </a:ln>
        </p:spPr>
      </p:sp>
      <p:sp>
        <p:nvSpPr>
          <p:cNvPr id="12" name="Shape 10"/>
          <p:cNvSpPr/>
          <p:nvPr/>
        </p:nvSpPr>
        <p:spPr>
          <a:xfrm>
            <a:off x="868680" y="2606040"/>
            <a:ext cx="548640" cy="548640"/>
          </a:xfrm>
          <a:prstGeom prst="ellipse">
            <a:avLst/>
          </a:prstGeom>
          <a:solidFill>
            <a:srgbClr val="16213E"/>
          </a:solidFill>
          <a:ln/>
        </p:spPr>
      </p:sp>
      <p:sp>
        <p:nvSpPr>
          <p:cNvPr id="13" name="Text 11"/>
          <p:cNvSpPr/>
          <p:nvPr/>
        </p:nvSpPr>
        <p:spPr>
          <a:xfrm>
            <a:off x="868680" y="2606040"/>
            <a:ext cx="548640" cy="548640"/>
          </a:xfrm>
          <a:prstGeom prst="rect">
            <a:avLst/>
          </a:prstGeom>
          <a:noFill/>
          <a:ln/>
        </p:spPr>
        <p:txBody>
          <a:bodyPr wrap="square" rtlCol="0" anchor="ctr"/>
          <a:lstStyle/>
          <a:p>
            <a:pPr algn="ctr" indent="0" marL="0">
              <a:buNone/>
            </a:pPr>
            <a:endParaRPr lang="en-US" sz="1200" dirty="0"/>
          </a:p>
        </p:txBody>
      </p:sp>
      <p:sp>
        <p:nvSpPr>
          <p:cNvPr id="14" name="Shape 12"/>
          <p:cNvSpPr/>
          <p:nvPr/>
        </p:nvSpPr>
        <p:spPr>
          <a:xfrm>
            <a:off x="868680" y="2606040"/>
            <a:ext cx="548640" cy="548640"/>
          </a:xfrm>
          <a:prstGeom prst="ellipse">
            <a:avLst/>
          </a:prstGeom>
          <a:solidFill>
            <a:srgbClr val="16213E"/>
          </a:solidFill>
          <a:ln/>
        </p:spPr>
      </p:sp>
      <p:sp>
        <p:nvSpPr>
          <p:cNvPr id="15" name="Text 13"/>
          <p:cNvSpPr/>
          <p:nvPr/>
        </p:nvSpPr>
        <p:spPr>
          <a:xfrm>
            <a:off x="868680" y="2606040"/>
            <a:ext cx="548640" cy="548640"/>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1691640" y="2569464"/>
            <a:ext cx="3474720" cy="621792"/>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Search &amp; Research Tools</a:t>
            </a:r>
            <a:endParaRPr lang="en-US" sz="1350" dirty="0"/>
          </a:p>
        </p:txBody>
      </p:sp>
      <p:sp>
        <p:nvSpPr>
          <p:cNvPr id="17" name="Text 15"/>
          <p:cNvSpPr/>
          <p:nvPr/>
        </p:nvSpPr>
        <p:spPr>
          <a:xfrm>
            <a:off x="5257800" y="2569464"/>
            <a:ext cx="6172200" cy="621792"/>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Perplexity, and search-augmented assistants — combine retrieval with generation and citations.</a:t>
            </a:r>
            <a:endParaRPr lang="en-US" sz="1150" dirty="0"/>
          </a:p>
        </p:txBody>
      </p:sp>
      <p:sp>
        <p:nvSpPr>
          <p:cNvPr id="18" name="Shape 16"/>
          <p:cNvSpPr/>
          <p:nvPr/>
        </p:nvSpPr>
        <p:spPr>
          <a:xfrm>
            <a:off x="548640" y="3392424"/>
            <a:ext cx="11064240" cy="768096"/>
          </a:xfrm>
          <a:prstGeom prst="roundRect">
            <a:avLst>
              <a:gd name="adj" fmla="val 9524"/>
            </a:avLst>
          </a:prstGeom>
          <a:solidFill>
            <a:srgbClr val="F4F6FA"/>
          </a:solidFill>
          <a:ln w="12700">
            <a:solidFill>
              <a:srgbClr val="D8DEE9"/>
            </a:solidFill>
            <a:prstDash val="solid"/>
          </a:ln>
        </p:spPr>
      </p:sp>
      <p:sp>
        <p:nvSpPr>
          <p:cNvPr id="19" name="Shape 17"/>
          <p:cNvSpPr/>
          <p:nvPr/>
        </p:nvSpPr>
        <p:spPr>
          <a:xfrm>
            <a:off x="868680" y="3502152"/>
            <a:ext cx="548640" cy="548640"/>
          </a:xfrm>
          <a:prstGeom prst="ellipse">
            <a:avLst/>
          </a:prstGeom>
          <a:solidFill>
            <a:srgbClr val="16213E"/>
          </a:solidFill>
          <a:ln/>
        </p:spPr>
      </p:sp>
      <p:sp>
        <p:nvSpPr>
          <p:cNvPr id="20" name="Text 18"/>
          <p:cNvSpPr/>
          <p:nvPr/>
        </p:nvSpPr>
        <p:spPr>
          <a:xfrm>
            <a:off x="868680" y="3502152"/>
            <a:ext cx="548640" cy="548640"/>
          </a:xfrm>
          <a:prstGeom prst="rect">
            <a:avLst/>
          </a:prstGeom>
          <a:noFill/>
          <a:ln/>
        </p:spPr>
        <p:txBody>
          <a:bodyPr wrap="square" rtlCol="0" anchor="ctr"/>
          <a:lstStyle/>
          <a:p>
            <a:pPr algn="ctr" indent="0" marL="0">
              <a:buNone/>
            </a:pPr>
            <a:endParaRPr lang="en-US" sz="1200" dirty="0"/>
          </a:p>
        </p:txBody>
      </p:sp>
      <p:sp>
        <p:nvSpPr>
          <p:cNvPr id="21" name="Shape 19"/>
          <p:cNvSpPr/>
          <p:nvPr/>
        </p:nvSpPr>
        <p:spPr>
          <a:xfrm>
            <a:off x="868680" y="3502152"/>
            <a:ext cx="548640" cy="548640"/>
          </a:xfrm>
          <a:prstGeom prst="ellipse">
            <a:avLst/>
          </a:prstGeom>
          <a:solidFill>
            <a:srgbClr val="16213E"/>
          </a:solidFill>
          <a:ln/>
        </p:spPr>
      </p:sp>
      <p:sp>
        <p:nvSpPr>
          <p:cNvPr id="22" name="Text 20"/>
          <p:cNvSpPr/>
          <p:nvPr/>
        </p:nvSpPr>
        <p:spPr>
          <a:xfrm>
            <a:off x="868680" y="3502152"/>
            <a:ext cx="548640" cy="548640"/>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1691640" y="3465576"/>
            <a:ext cx="3474720" cy="621792"/>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Coding Assistants</a:t>
            </a:r>
            <a:endParaRPr lang="en-US" sz="1350" dirty="0"/>
          </a:p>
        </p:txBody>
      </p:sp>
      <p:sp>
        <p:nvSpPr>
          <p:cNvPr id="24" name="Text 22"/>
          <p:cNvSpPr/>
          <p:nvPr/>
        </p:nvSpPr>
        <p:spPr>
          <a:xfrm>
            <a:off x="5257800" y="3465576"/>
            <a:ext cx="6172200" cy="621792"/>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GitHub Copilot, Claude Code, Cursor — code completion, review, and agentic development support.</a:t>
            </a:r>
            <a:endParaRPr lang="en-US" sz="1150" dirty="0"/>
          </a:p>
        </p:txBody>
      </p:sp>
      <p:sp>
        <p:nvSpPr>
          <p:cNvPr id="25" name="Shape 23"/>
          <p:cNvSpPr/>
          <p:nvPr/>
        </p:nvSpPr>
        <p:spPr>
          <a:xfrm>
            <a:off x="548640" y="4288536"/>
            <a:ext cx="11064240" cy="768096"/>
          </a:xfrm>
          <a:prstGeom prst="roundRect">
            <a:avLst>
              <a:gd name="adj" fmla="val 9524"/>
            </a:avLst>
          </a:prstGeom>
          <a:solidFill>
            <a:srgbClr val="FFFFFF"/>
          </a:solidFill>
          <a:ln w="12700">
            <a:solidFill>
              <a:srgbClr val="D8DEE9"/>
            </a:solidFill>
            <a:prstDash val="solid"/>
          </a:ln>
        </p:spPr>
      </p:sp>
      <p:sp>
        <p:nvSpPr>
          <p:cNvPr id="26" name="Shape 24"/>
          <p:cNvSpPr/>
          <p:nvPr/>
        </p:nvSpPr>
        <p:spPr>
          <a:xfrm>
            <a:off x="868680" y="4398264"/>
            <a:ext cx="548640" cy="548640"/>
          </a:xfrm>
          <a:prstGeom prst="ellipse">
            <a:avLst/>
          </a:prstGeom>
          <a:solidFill>
            <a:srgbClr val="16213E"/>
          </a:solidFill>
          <a:ln/>
        </p:spPr>
      </p:sp>
      <p:sp>
        <p:nvSpPr>
          <p:cNvPr id="27" name="Text 25"/>
          <p:cNvSpPr/>
          <p:nvPr/>
        </p:nvSpPr>
        <p:spPr>
          <a:xfrm>
            <a:off x="868680" y="4398264"/>
            <a:ext cx="548640" cy="548640"/>
          </a:xfrm>
          <a:prstGeom prst="rect">
            <a:avLst/>
          </a:prstGeom>
          <a:noFill/>
          <a:ln/>
        </p:spPr>
        <p:txBody>
          <a:bodyPr wrap="square" rtlCol="0" anchor="ctr"/>
          <a:lstStyle/>
          <a:p>
            <a:pPr algn="ctr" indent="0" marL="0">
              <a:buNone/>
            </a:pPr>
            <a:endParaRPr lang="en-US" sz="1200" dirty="0"/>
          </a:p>
        </p:txBody>
      </p:sp>
      <p:sp>
        <p:nvSpPr>
          <p:cNvPr id="28" name="Shape 26"/>
          <p:cNvSpPr/>
          <p:nvPr/>
        </p:nvSpPr>
        <p:spPr>
          <a:xfrm>
            <a:off x="868680" y="4398264"/>
            <a:ext cx="548640" cy="548640"/>
          </a:xfrm>
          <a:prstGeom prst="ellipse">
            <a:avLst/>
          </a:prstGeom>
          <a:solidFill>
            <a:srgbClr val="16213E"/>
          </a:solidFill>
          <a:ln/>
        </p:spPr>
      </p:sp>
      <p:sp>
        <p:nvSpPr>
          <p:cNvPr id="29" name="Text 27"/>
          <p:cNvSpPr/>
          <p:nvPr/>
        </p:nvSpPr>
        <p:spPr>
          <a:xfrm>
            <a:off x="868680" y="4398264"/>
            <a:ext cx="548640" cy="548640"/>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4</a:t>
            </a:r>
            <a:endParaRPr lang="en-US" sz="1400" dirty="0"/>
          </a:p>
        </p:txBody>
      </p:sp>
      <p:sp>
        <p:nvSpPr>
          <p:cNvPr id="30" name="Text 28"/>
          <p:cNvSpPr/>
          <p:nvPr/>
        </p:nvSpPr>
        <p:spPr>
          <a:xfrm>
            <a:off x="1691640" y="4361688"/>
            <a:ext cx="3474720" cy="621792"/>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Image / Media Generation</a:t>
            </a:r>
            <a:endParaRPr lang="en-US" sz="1350" dirty="0"/>
          </a:p>
        </p:txBody>
      </p:sp>
      <p:sp>
        <p:nvSpPr>
          <p:cNvPr id="31" name="Text 29"/>
          <p:cNvSpPr/>
          <p:nvPr/>
        </p:nvSpPr>
        <p:spPr>
          <a:xfrm>
            <a:off x="5257800" y="4361688"/>
            <a:ext cx="6172200" cy="621792"/>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Midjourney, DALL·E, Adobe Firefly — generate or edit visual and audio content.</a:t>
            </a:r>
            <a:endParaRPr lang="en-US" sz="1150" dirty="0"/>
          </a:p>
        </p:txBody>
      </p:sp>
      <p:sp>
        <p:nvSpPr>
          <p:cNvPr id="32" name="Shape 30"/>
          <p:cNvSpPr/>
          <p:nvPr/>
        </p:nvSpPr>
        <p:spPr>
          <a:xfrm>
            <a:off x="548640" y="5184648"/>
            <a:ext cx="11064240" cy="768096"/>
          </a:xfrm>
          <a:prstGeom prst="roundRect">
            <a:avLst>
              <a:gd name="adj" fmla="val 9524"/>
            </a:avLst>
          </a:prstGeom>
          <a:solidFill>
            <a:srgbClr val="F4F6FA"/>
          </a:solidFill>
          <a:ln w="12700">
            <a:solidFill>
              <a:srgbClr val="D8DEE9"/>
            </a:solidFill>
            <a:prstDash val="solid"/>
          </a:ln>
        </p:spPr>
      </p:sp>
      <p:sp>
        <p:nvSpPr>
          <p:cNvPr id="33" name="Shape 31"/>
          <p:cNvSpPr/>
          <p:nvPr/>
        </p:nvSpPr>
        <p:spPr>
          <a:xfrm>
            <a:off x="868680" y="5294376"/>
            <a:ext cx="548640" cy="548640"/>
          </a:xfrm>
          <a:prstGeom prst="ellipse">
            <a:avLst/>
          </a:prstGeom>
          <a:solidFill>
            <a:srgbClr val="16213E"/>
          </a:solidFill>
          <a:ln/>
        </p:spPr>
      </p:sp>
      <p:sp>
        <p:nvSpPr>
          <p:cNvPr id="34" name="Text 32"/>
          <p:cNvSpPr/>
          <p:nvPr/>
        </p:nvSpPr>
        <p:spPr>
          <a:xfrm>
            <a:off x="868680" y="5294376"/>
            <a:ext cx="548640" cy="548640"/>
          </a:xfrm>
          <a:prstGeom prst="rect">
            <a:avLst/>
          </a:prstGeom>
          <a:noFill/>
          <a:ln/>
        </p:spPr>
        <p:txBody>
          <a:bodyPr wrap="square" rtlCol="0" anchor="ctr"/>
          <a:lstStyle/>
          <a:p>
            <a:pPr algn="ctr" indent="0" marL="0">
              <a:buNone/>
            </a:pPr>
            <a:endParaRPr lang="en-US" sz="1200" dirty="0"/>
          </a:p>
        </p:txBody>
      </p:sp>
      <p:sp>
        <p:nvSpPr>
          <p:cNvPr id="35" name="Shape 33"/>
          <p:cNvSpPr/>
          <p:nvPr/>
        </p:nvSpPr>
        <p:spPr>
          <a:xfrm>
            <a:off x="868680" y="5294376"/>
            <a:ext cx="548640" cy="548640"/>
          </a:xfrm>
          <a:prstGeom prst="ellipse">
            <a:avLst/>
          </a:prstGeom>
          <a:solidFill>
            <a:srgbClr val="16213E"/>
          </a:solidFill>
          <a:ln/>
        </p:spPr>
      </p:sp>
      <p:sp>
        <p:nvSpPr>
          <p:cNvPr id="36" name="Text 34"/>
          <p:cNvSpPr/>
          <p:nvPr/>
        </p:nvSpPr>
        <p:spPr>
          <a:xfrm>
            <a:off x="868680" y="5294376"/>
            <a:ext cx="548640" cy="548640"/>
          </a:xfrm>
          <a:prstGeom prst="rect">
            <a:avLst/>
          </a:prstGeom>
          <a:noFill/>
          <a:ln/>
        </p:spPr>
        <p:txBody>
          <a:bodyPr wrap="square" rtlCol="0" anchor="ctr"/>
          <a:lstStyle/>
          <a:p>
            <a:pPr algn="ctr" indent="0" marL="0">
              <a:buNone/>
            </a:pPr>
            <a:r>
              <a:rPr lang="en-US" sz="1400" b="1" dirty="0">
                <a:solidFill>
                  <a:srgbClr val="2FE6D6"/>
                </a:solidFill>
                <a:latin typeface="Calibri" pitchFamily="34" charset="0"/>
                <a:ea typeface="Calibri" pitchFamily="34" charset="-122"/>
                <a:cs typeface="Calibri" pitchFamily="34" charset="-120"/>
              </a:rPr>
              <a:t>5</a:t>
            </a:r>
            <a:endParaRPr lang="en-US" sz="1400" dirty="0"/>
          </a:p>
        </p:txBody>
      </p:sp>
      <p:sp>
        <p:nvSpPr>
          <p:cNvPr id="37" name="Text 35"/>
          <p:cNvSpPr/>
          <p:nvPr/>
        </p:nvSpPr>
        <p:spPr>
          <a:xfrm>
            <a:off x="1691640" y="5257800"/>
            <a:ext cx="3474720" cy="621792"/>
          </a:xfrm>
          <a:prstGeom prst="rect">
            <a:avLst/>
          </a:prstGeom>
          <a:noFill/>
          <a:ln/>
        </p:spPr>
        <p:txBody>
          <a:bodyPr wrap="square" rtlCol="0" anchor="ctr"/>
          <a:lstStyle/>
          <a:p>
            <a:pPr indent="0" marL="0">
              <a:buNone/>
            </a:pPr>
            <a:r>
              <a:rPr lang="en-US" sz="1350" b="1" dirty="0">
                <a:solidFill>
                  <a:srgbClr val="16213E"/>
                </a:solidFill>
                <a:latin typeface="Cambria" pitchFamily="34" charset="0"/>
                <a:ea typeface="Cambria" pitchFamily="34" charset="-122"/>
                <a:cs typeface="Cambria" pitchFamily="34" charset="-120"/>
              </a:rPr>
              <a:t>Productivity Integrations</a:t>
            </a:r>
            <a:endParaRPr lang="en-US" sz="1350" dirty="0"/>
          </a:p>
        </p:txBody>
      </p:sp>
      <p:sp>
        <p:nvSpPr>
          <p:cNvPr id="38" name="Text 36"/>
          <p:cNvSpPr/>
          <p:nvPr/>
        </p:nvSpPr>
        <p:spPr>
          <a:xfrm>
            <a:off x="5257800" y="5257800"/>
            <a:ext cx="6172200" cy="621792"/>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AI features embedded within Office, Google Workspace, and enterprise SaaS platforms.</a:t>
            </a:r>
            <a:endParaRPr lang="en-US" sz="1150" dirty="0"/>
          </a:p>
        </p:txBody>
      </p:sp>
      <p:sp>
        <p:nvSpPr>
          <p:cNvPr id="39" name="Text 37"/>
          <p:cNvSpPr/>
          <p:nvPr/>
        </p:nvSpPr>
        <p:spPr>
          <a:xfrm>
            <a:off x="548640" y="6217920"/>
            <a:ext cx="11064240" cy="457200"/>
          </a:xfrm>
          <a:prstGeom prst="rect">
            <a:avLst/>
          </a:prstGeom>
          <a:noFill/>
          <a:ln/>
        </p:spPr>
        <p:txBody>
          <a:bodyPr wrap="square" rtlCol="0" anchor="ctr"/>
          <a:lstStyle/>
          <a:p>
            <a:pPr indent="0" marL="0">
              <a:buNone/>
            </a:pPr>
            <a:r>
              <a:rPr lang="en-US" sz="1200" i="1" dirty="0">
                <a:solidFill>
                  <a:srgbClr val="5B6B82"/>
                </a:solidFill>
                <a:latin typeface="Calibri" pitchFamily="34" charset="0"/>
                <a:ea typeface="Calibri" pitchFamily="34" charset="-122"/>
                <a:cs typeface="Calibri" pitchFamily="34" charset="-120"/>
              </a:rPr>
              <a:t>Today's hands-on exploration focuses on three assistants spanning general use, deep reasoning, and research: Microsoft Copilot, Claude, and Perplexity.</a:t>
            </a:r>
            <a:endParaRPr lang="en-US" sz="1200" dirty="0"/>
          </a:p>
        </p:txBody>
      </p:sp>
      <p:sp>
        <p:nvSpPr>
          <p:cNvPr id="40" name="Text 38"/>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17 / 30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HANDS-ON TOOL EXPLORATION</a:t>
            </a:r>
            <a:endParaRPr lang="en-US" sz="1200" dirty="0"/>
          </a:p>
        </p:txBody>
      </p:sp>
      <p:sp>
        <p:nvSpPr>
          <p:cNvPr id="3" name="Text 1"/>
          <p:cNvSpPr/>
          <p:nvPr/>
        </p:nvSpPr>
        <p:spPr>
          <a:xfrm>
            <a:off x="548640" y="658368"/>
            <a:ext cx="10789920" cy="548640"/>
          </a:xfrm>
          <a:prstGeom prst="rect">
            <a:avLst/>
          </a:prstGeom>
          <a:noFill/>
          <a:ln/>
        </p:spPr>
        <p:txBody>
          <a:bodyPr wrap="square" rtlCol="0" anchor="ctr"/>
          <a:lstStyle/>
          <a:p>
            <a:pPr algn="l" indent="0" marL="0">
              <a:buNone/>
            </a:pPr>
            <a:r>
              <a:rPr lang="en-US" sz="2300" b="1" dirty="0">
                <a:solidFill>
                  <a:srgbClr val="16213E"/>
                </a:solidFill>
                <a:latin typeface="Cambria" pitchFamily="34" charset="0"/>
                <a:ea typeface="Cambria" pitchFamily="34" charset="-122"/>
                <a:cs typeface="Cambria" pitchFamily="34" charset="-120"/>
              </a:rPr>
              <a:t>Microsoft Copilot — Installation, Setup &amp; Practical Exploration</a:t>
            </a:r>
            <a:endParaRPr lang="en-US" sz="2300" dirty="0"/>
          </a:p>
        </p:txBody>
      </p:sp>
      <p:sp>
        <p:nvSpPr>
          <p:cNvPr id="4" name="Shape 2"/>
          <p:cNvSpPr/>
          <p:nvPr/>
        </p:nvSpPr>
        <p:spPr>
          <a:xfrm>
            <a:off x="548640" y="1508760"/>
            <a:ext cx="3200400" cy="4663440"/>
          </a:xfrm>
          <a:prstGeom prst="roundRect">
            <a:avLst>
              <a:gd name="adj" fmla="val 2286"/>
            </a:avLst>
          </a:prstGeom>
          <a:solidFill>
            <a:srgbClr val="16213E"/>
          </a:solidFill>
          <a:ln w="12700">
            <a:solidFill>
              <a:srgbClr val="D8DEE9"/>
            </a:solidFill>
            <a:prstDash val="solid"/>
          </a:ln>
        </p:spPr>
      </p:sp>
      <p:sp>
        <p:nvSpPr>
          <p:cNvPr id="5" name="Shape 3"/>
          <p:cNvSpPr/>
          <p:nvPr/>
        </p:nvSpPr>
        <p:spPr>
          <a:xfrm>
            <a:off x="1645920" y="1920240"/>
            <a:ext cx="1005840" cy="1005840"/>
          </a:xfrm>
          <a:prstGeom prst="ellipse">
            <a:avLst/>
          </a:prstGeom>
          <a:solidFill>
            <a:srgbClr val="2FE6D6"/>
          </a:solidFill>
          <a:ln/>
        </p:spPr>
      </p:sp>
      <p:sp>
        <p:nvSpPr>
          <p:cNvPr id="6" name="Text 4"/>
          <p:cNvSpPr/>
          <p:nvPr/>
        </p:nvSpPr>
        <p:spPr>
          <a:xfrm>
            <a:off x="1645920" y="1920240"/>
            <a:ext cx="1005840" cy="1005840"/>
          </a:xfrm>
          <a:prstGeom prst="rect">
            <a:avLst/>
          </a:prstGeom>
          <a:noFill/>
          <a:ln/>
        </p:spPr>
        <p:txBody>
          <a:bodyPr wrap="square" rtlCol="0" anchor="ctr"/>
          <a:lstStyle/>
          <a:p>
            <a:pPr algn="ctr" indent="0" marL="0">
              <a:buNone/>
            </a:pPr>
            <a:r>
              <a:rPr lang="en-US" sz="2200" b="1" dirty="0">
                <a:solidFill>
                  <a:srgbClr val="16213E"/>
                </a:solidFill>
                <a:latin typeface="Calibri" pitchFamily="34" charset="0"/>
                <a:ea typeface="Calibri" pitchFamily="34" charset="-122"/>
                <a:cs typeface="Calibri" pitchFamily="34" charset="-120"/>
              </a:rPr>
              <a:t>MC</a:t>
            </a:r>
            <a:endParaRPr lang="en-US" sz="2200" dirty="0"/>
          </a:p>
        </p:txBody>
      </p:sp>
      <p:sp>
        <p:nvSpPr>
          <p:cNvPr id="7" name="Text 5"/>
          <p:cNvSpPr/>
          <p:nvPr/>
        </p:nvSpPr>
        <p:spPr>
          <a:xfrm>
            <a:off x="822960" y="3063240"/>
            <a:ext cx="2651760" cy="36576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Microsoft Copilot</a:t>
            </a:r>
            <a:endParaRPr lang="en-US" sz="1700" dirty="0"/>
          </a:p>
        </p:txBody>
      </p:sp>
      <p:sp>
        <p:nvSpPr>
          <p:cNvPr id="8" name="Text 6"/>
          <p:cNvSpPr/>
          <p:nvPr/>
        </p:nvSpPr>
        <p:spPr>
          <a:xfrm>
            <a:off x="822960" y="3429000"/>
            <a:ext cx="2651760" cy="640080"/>
          </a:xfrm>
          <a:prstGeom prst="rect">
            <a:avLst/>
          </a:prstGeom>
          <a:noFill/>
          <a:ln/>
        </p:spPr>
        <p:txBody>
          <a:bodyPr wrap="square" rtlCol="0" anchor="ctr"/>
          <a:lstStyle/>
          <a:p>
            <a:pPr algn="ctr" indent="0" marL="0">
              <a:buNone/>
            </a:pPr>
            <a:r>
              <a:rPr lang="en-US" sz="1100" i="1" dirty="0">
                <a:solidFill>
                  <a:srgbClr val="8B98AC"/>
                </a:solidFill>
                <a:latin typeface="Calibri" pitchFamily="34" charset="0"/>
                <a:ea typeface="Calibri" pitchFamily="34" charset="-122"/>
                <a:cs typeface="Calibri" pitchFamily="34" charset="-120"/>
              </a:rPr>
              <a:t>Integrated productivity assistant</a:t>
            </a:r>
            <a:endParaRPr lang="en-US" sz="1100" dirty="0"/>
          </a:p>
        </p:txBody>
      </p:sp>
      <p:sp>
        <p:nvSpPr>
          <p:cNvPr id="9" name="Shape 7"/>
          <p:cNvSpPr/>
          <p:nvPr/>
        </p:nvSpPr>
        <p:spPr>
          <a:xfrm>
            <a:off x="868680" y="4160520"/>
            <a:ext cx="2560320" cy="0"/>
          </a:xfrm>
          <a:prstGeom prst="line">
            <a:avLst/>
          </a:prstGeom>
          <a:noFill/>
          <a:ln w="12700">
            <a:solidFill>
              <a:srgbClr val="3A5580"/>
            </a:solidFill>
            <a:prstDash val="solid"/>
          </a:ln>
        </p:spPr>
      </p:sp>
      <p:sp>
        <p:nvSpPr>
          <p:cNvPr id="10" name="Text 8"/>
          <p:cNvSpPr/>
          <p:nvPr/>
        </p:nvSpPr>
        <p:spPr>
          <a:xfrm>
            <a:off x="822960" y="4297680"/>
            <a:ext cx="2651760" cy="274320"/>
          </a:xfrm>
          <a:prstGeom prst="rect">
            <a:avLst/>
          </a:prstGeom>
          <a:noFill/>
          <a:ln/>
        </p:spPr>
        <p:txBody>
          <a:bodyPr wrap="square" rtlCol="0" anchor="ctr"/>
          <a:lstStyle/>
          <a:p>
            <a:pPr algn="ctr" indent="0" marL="0">
              <a:buNone/>
            </a:pPr>
            <a:r>
              <a:rPr lang="en-US" sz="1000" b="1" spc="150" kern="0" dirty="0">
                <a:solidFill>
                  <a:srgbClr val="2FE6D6"/>
                </a:solidFill>
                <a:latin typeface="Calibri" pitchFamily="34" charset="0"/>
                <a:ea typeface="Calibri" pitchFamily="34" charset="-122"/>
                <a:cs typeface="Calibri" pitchFamily="34" charset="-120"/>
              </a:rPr>
              <a:t>BEST USED FOR</a:t>
            </a:r>
            <a:endParaRPr lang="en-US" sz="1000" dirty="0"/>
          </a:p>
        </p:txBody>
      </p:sp>
      <p:sp>
        <p:nvSpPr>
          <p:cNvPr id="11" name="Text 9"/>
          <p:cNvSpPr/>
          <p:nvPr/>
        </p:nvSpPr>
        <p:spPr>
          <a:xfrm>
            <a:off x="822960" y="4617720"/>
            <a:ext cx="2651760" cy="1371600"/>
          </a:xfrm>
          <a:prstGeom prst="rect">
            <a:avLst/>
          </a:prstGeom>
          <a:noFill/>
          <a:ln/>
        </p:spPr>
        <p:txBody>
          <a:bodyPr wrap="square" rtlCol="0" anchor="ctr"/>
          <a:lstStyle/>
          <a:p>
            <a:pPr algn="ctr" indent="0" marL="0">
              <a:buNone/>
            </a:pPr>
            <a:r>
              <a:rPr lang="en-US" sz="1100" dirty="0">
                <a:solidFill>
                  <a:srgbClr val="D6DEEC"/>
                </a:solidFill>
                <a:latin typeface="Calibri" pitchFamily="34" charset="0"/>
                <a:ea typeface="Calibri" pitchFamily="34" charset="-122"/>
                <a:cs typeface="Calibri" pitchFamily="34" charset="-120"/>
              </a:rPr>
              <a:t>Office-integrated tasks: drafting in Word, summarizing in Outlook/Teams, and analysis in Excel.</a:t>
            </a:r>
            <a:endParaRPr lang="en-US" sz="1100" dirty="0"/>
          </a:p>
        </p:txBody>
      </p:sp>
      <p:sp>
        <p:nvSpPr>
          <p:cNvPr id="12" name="Shape 10"/>
          <p:cNvSpPr/>
          <p:nvPr/>
        </p:nvSpPr>
        <p:spPr>
          <a:xfrm>
            <a:off x="3977640" y="1508760"/>
            <a:ext cx="7635240" cy="1051560"/>
          </a:xfrm>
          <a:prstGeom prst="roundRect">
            <a:avLst>
              <a:gd name="adj" fmla="val 6957"/>
            </a:avLst>
          </a:prstGeom>
          <a:solidFill>
            <a:srgbClr val="F4F6FA"/>
          </a:solidFill>
          <a:ln w="12700">
            <a:solidFill>
              <a:srgbClr val="D8DEE9"/>
            </a:solidFill>
            <a:prstDash val="solid"/>
          </a:ln>
        </p:spPr>
      </p:sp>
      <p:sp>
        <p:nvSpPr>
          <p:cNvPr id="13" name="Shape 11"/>
          <p:cNvSpPr/>
          <p:nvPr/>
        </p:nvSpPr>
        <p:spPr>
          <a:xfrm>
            <a:off x="4142232" y="1815084"/>
            <a:ext cx="438912" cy="438912"/>
          </a:xfrm>
          <a:prstGeom prst="ellipse">
            <a:avLst/>
          </a:prstGeom>
          <a:solidFill>
            <a:srgbClr val="16213E"/>
          </a:solidFill>
          <a:ln/>
        </p:spPr>
      </p:sp>
      <p:sp>
        <p:nvSpPr>
          <p:cNvPr id="14" name="Text 12"/>
          <p:cNvSpPr/>
          <p:nvPr/>
        </p:nvSpPr>
        <p:spPr>
          <a:xfrm>
            <a:off x="4142232" y="1815084"/>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4709160" y="1600200"/>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Access the Official Source</a:t>
            </a:r>
            <a:endParaRPr lang="en-US" sz="1250" dirty="0"/>
          </a:p>
        </p:txBody>
      </p:sp>
      <p:sp>
        <p:nvSpPr>
          <p:cNvPr id="16" name="Text 14"/>
          <p:cNvSpPr/>
          <p:nvPr/>
        </p:nvSpPr>
        <p:spPr>
          <a:xfrm>
            <a:off x="4709160" y="1929384"/>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Navigate to the vendor's official website or your organization's approved app store listing — avoid third-party download links.</a:t>
            </a:r>
            <a:endParaRPr lang="en-US" sz="1000" dirty="0"/>
          </a:p>
        </p:txBody>
      </p:sp>
      <p:sp>
        <p:nvSpPr>
          <p:cNvPr id="17" name="Shape 15"/>
          <p:cNvSpPr/>
          <p:nvPr/>
        </p:nvSpPr>
        <p:spPr>
          <a:xfrm>
            <a:off x="3977640" y="2670048"/>
            <a:ext cx="7635240" cy="1051560"/>
          </a:xfrm>
          <a:prstGeom prst="roundRect">
            <a:avLst>
              <a:gd name="adj" fmla="val 6957"/>
            </a:avLst>
          </a:prstGeom>
          <a:solidFill>
            <a:srgbClr val="FFFFFF"/>
          </a:solidFill>
          <a:ln w="12700">
            <a:solidFill>
              <a:srgbClr val="D8DEE9"/>
            </a:solidFill>
            <a:prstDash val="solid"/>
          </a:ln>
        </p:spPr>
      </p:sp>
      <p:sp>
        <p:nvSpPr>
          <p:cNvPr id="18" name="Shape 16"/>
          <p:cNvSpPr/>
          <p:nvPr/>
        </p:nvSpPr>
        <p:spPr>
          <a:xfrm>
            <a:off x="4142232" y="2976372"/>
            <a:ext cx="438912" cy="438912"/>
          </a:xfrm>
          <a:prstGeom prst="ellipse">
            <a:avLst/>
          </a:prstGeom>
          <a:solidFill>
            <a:srgbClr val="16213E"/>
          </a:solidFill>
          <a:ln/>
        </p:spPr>
      </p:sp>
      <p:sp>
        <p:nvSpPr>
          <p:cNvPr id="19" name="Text 17"/>
          <p:cNvSpPr/>
          <p:nvPr/>
        </p:nvSpPr>
        <p:spPr>
          <a:xfrm>
            <a:off x="4142232" y="2976372"/>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4709160" y="2761488"/>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Create or Sign In to an Account</a:t>
            </a:r>
            <a:endParaRPr lang="en-US" sz="1250" dirty="0"/>
          </a:p>
        </p:txBody>
      </p:sp>
      <p:sp>
        <p:nvSpPr>
          <p:cNvPr id="21" name="Text 19"/>
          <p:cNvSpPr/>
          <p:nvPr/>
        </p:nvSpPr>
        <p:spPr>
          <a:xfrm>
            <a:off x="4709160" y="3090672"/>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Use a supported sign-in method. Enterprise/education users should confirm whether an organizational plan is already provisioned.</a:t>
            </a:r>
            <a:endParaRPr lang="en-US" sz="1000" dirty="0"/>
          </a:p>
        </p:txBody>
      </p:sp>
      <p:sp>
        <p:nvSpPr>
          <p:cNvPr id="22" name="Shape 20"/>
          <p:cNvSpPr/>
          <p:nvPr/>
        </p:nvSpPr>
        <p:spPr>
          <a:xfrm>
            <a:off x="3977640" y="3831336"/>
            <a:ext cx="7635240" cy="1051560"/>
          </a:xfrm>
          <a:prstGeom prst="roundRect">
            <a:avLst>
              <a:gd name="adj" fmla="val 6957"/>
            </a:avLst>
          </a:prstGeom>
          <a:solidFill>
            <a:srgbClr val="F4F6FA"/>
          </a:solidFill>
          <a:ln w="12700">
            <a:solidFill>
              <a:srgbClr val="D8DEE9"/>
            </a:solidFill>
            <a:prstDash val="solid"/>
          </a:ln>
        </p:spPr>
      </p:sp>
      <p:sp>
        <p:nvSpPr>
          <p:cNvPr id="23" name="Shape 21"/>
          <p:cNvSpPr/>
          <p:nvPr/>
        </p:nvSpPr>
        <p:spPr>
          <a:xfrm>
            <a:off x="4142232" y="4137660"/>
            <a:ext cx="438912" cy="438912"/>
          </a:xfrm>
          <a:prstGeom prst="ellipse">
            <a:avLst/>
          </a:prstGeom>
          <a:solidFill>
            <a:srgbClr val="16213E"/>
          </a:solidFill>
          <a:ln/>
        </p:spPr>
      </p:sp>
      <p:sp>
        <p:nvSpPr>
          <p:cNvPr id="24" name="Text 22"/>
          <p:cNvSpPr/>
          <p:nvPr/>
        </p:nvSpPr>
        <p:spPr>
          <a:xfrm>
            <a:off x="4142232" y="4137660"/>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4709160" y="3922776"/>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Review Current Plan &amp; Data Settings</a:t>
            </a:r>
            <a:endParaRPr lang="en-US" sz="1250" dirty="0"/>
          </a:p>
        </p:txBody>
      </p:sp>
      <p:sp>
        <p:nvSpPr>
          <p:cNvPr id="26" name="Text 24"/>
          <p:cNvSpPr/>
          <p:nvPr/>
        </p:nvSpPr>
        <p:spPr>
          <a:xfrm>
            <a:off x="4709160" y="4251960"/>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Check the free vs. paid tier differences and any data-usage / training-opt-out settings before entering sensitive information.</a:t>
            </a:r>
            <a:endParaRPr lang="en-US" sz="1000" dirty="0"/>
          </a:p>
        </p:txBody>
      </p:sp>
      <p:sp>
        <p:nvSpPr>
          <p:cNvPr id="27" name="Shape 25"/>
          <p:cNvSpPr/>
          <p:nvPr/>
        </p:nvSpPr>
        <p:spPr>
          <a:xfrm>
            <a:off x="3977640" y="4992624"/>
            <a:ext cx="7635240" cy="1051560"/>
          </a:xfrm>
          <a:prstGeom prst="roundRect">
            <a:avLst>
              <a:gd name="adj" fmla="val 6957"/>
            </a:avLst>
          </a:prstGeom>
          <a:solidFill>
            <a:srgbClr val="FFFFFF"/>
          </a:solidFill>
          <a:ln w="12700">
            <a:solidFill>
              <a:srgbClr val="D8DEE9"/>
            </a:solidFill>
            <a:prstDash val="solid"/>
          </a:ln>
        </p:spPr>
      </p:sp>
      <p:sp>
        <p:nvSpPr>
          <p:cNvPr id="28" name="Shape 26"/>
          <p:cNvSpPr/>
          <p:nvPr/>
        </p:nvSpPr>
        <p:spPr>
          <a:xfrm>
            <a:off x="4142232" y="5298948"/>
            <a:ext cx="438912" cy="438912"/>
          </a:xfrm>
          <a:prstGeom prst="ellipse">
            <a:avLst/>
          </a:prstGeom>
          <a:solidFill>
            <a:srgbClr val="16213E"/>
          </a:solidFill>
          <a:ln/>
        </p:spPr>
      </p:sp>
      <p:sp>
        <p:nvSpPr>
          <p:cNvPr id="29" name="Text 27"/>
          <p:cNvSpPr/>
          <p:nvPr/>
        </p:nvSpPr>
        <p:spPr>
          <a:xfrm>
            <a:off x="4142232" y="5298948"/>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4</a:t>
            </a:r>
            <a:endParaRPr lang="en-US" sz="1100" dirty="0"/>
          </a:p>
        </p:txBody>
      </p:sp>
      <p:sp>
        <p:nvSpPr>
          <p:cNvPr id="30" name="Text 28"/>
          <p:cNvSpPr/>
          <p:nvPr/>
        </p:nvSpPr>
        <p:spPr>
          <a:xfrm>
            <a:off x="4709160" y="5084064"/>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Practical Exploration Task</a:t>
            </a:r>
            <a:endParaRPr lang="en-US" sz="1250" dirty="0"/>
          </a:p>
        </p:txBody>
      </p:sp>
      <p:sp>
        <p:nvSpPr>
          <p:cNvPr id="31" name="Text 29"/>
          <p:cNvSpPr/>
          <p:nvPr/>
        </p:nvSpPr>
        <p:spPr>
          <a:xfrm>
            <a:off x="4709160" y="5413248"/>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Complete the guided activity below using the tool's current interface.</a:t>
            </a:r>
            <a:endParaRPr lang="en-US" sz="1000" dirty="0"/>
          </a:p>
        </p:txBody>
      </p:sp>
      <p:sp>
        <p:nvSpPr>
          <p:cNvPr id="32" name="Text 30"/>
          <p:cNvSpPr/>
          <p:nvPr/>
        </p:nvSpPr>
        <p:spPr>
          <a:xfrm>
            <a:off x="3977640" y="6172200"/>
            <a:ext cx="7635240" cy="320040"/>
          </a:xfrm>
          <a:prstGeom prst="rect">
            <a:avLst/>
          </a:prstGeom>
          <a:noFill/>
          <a:ln/>
        </p:spPr>
        <p:txBody>
          <a:bodyPr wrap="square" rtlCol="0" anchor="ctr"/>
          <a:lstStyle/>
          <a:p>
            <a:pPr indent="0" marL="0">
              <a:buNone/>
            </a:pPr>
            <a:r>
              <a:rPr lang="en-US" sz="950" i="1" dirty="0">
                <a:solidFill>
                  <a:srgbClr val="8B98AC"/>
                </a:solidFill>
                <a:latin typeface="Calibri" pitchFamily="34" charset="0"/>
                <a:ea typeface="Calibri" pitchFamily="34" charset="-122"/>
                <a:cs typeface="Calibri" pitchFamily="34" charset="-120"/>
              </a:rPr>
              <a:t>Note: Interfaces change frequently. Always follow the vendor's current official documentation for exact steps.</a:t>
            </a:r>
            <a:endParaRPr lang="en-US" sz="950" dirty="0"/>
          </a:p>
        </p:txBody>
      </p:sp>
      <p:sp>
        <p:nvSpPr>
          <p:cNvPr id="33" name="Text 31"/>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18 / 30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HANDS-ON TOOL EXPLORATION</a:t>
            </a:r>
            <a:endParaRPr lang="en-US" sz="1200" dirty="0"/>
          </a:p>
        </p:txBody>
      </p:sp>
      <p:sp>
        <p:nvSpPr>
          <p:cNvPr id="3" name="Text 1"/>
          <p:cNvSpPr/>
          <p:nvPr/>
        </p:nvSpPr>
        <p:spPr>
          <a:xfrm>
            <a:off x="548640" y="658368"/>
            <a:ext cx="10789920" cy="548640"/>
          </a:xfrm>
          <a:prstGeom prst="rect">
            <a:avLst/>
          </a:prstGeom>
          <a:noFill/>
          <a:ln/>
        </p:spPr>
        <p:txBody>
          <a:bodyPr wrap="square" rtlCol="0" anchor="ctr"/>
          <a:lstStyle/>
          <a:p>
            <a:pPr algn="l" indent="0" marL="0">
              <a:buNone/>
            </a:pPr>
            <a:r>
              <a:rPr lang="en-US" sz="2300" b="1" dirty="0">
                <a:solidFill>
                  <a:srgbClr val="16213E"/>
                </a:solidFill>
                <a:latin typeface="Cambria" pitchFamily="34" charset="0"/>
                <a:ea typeface="Cambria" pitchFamily="34" charset="-122"/>
                <a:cs typeface="Cambria" pitchFamily="34" charset="-120"/>
              </a:rPr>
              <a:t>Claude — Installation, Setup &amp; Practical Exploration</a:t>
            </a:r>
            <a:endParaRPr lang="en-US" sz="2300" dirty="0"/>
          </a:p>
        </p:txBody>
      </p:sp>
      <p:sp>
        <p:nvSpPr>
          <p:cNvPr id="4" name="Shape 2"/>
          <p:cNvSpPr/>
          <p:nvPr/>
        </p:nvSpPr>
        <p:spPr>
          <a:xfrm>
            <a:off x="548640" y="1508760"/>
            <a:ext cx="3200400" cy="4663440"/>
          </a:xfrm>
          <a:prstGeom prst="roundRect">
            <a:avLst>
              <a:gd name="adj" fmla="val 2286"/>
            </a:avLst>
          </a:prstGeom>
          <a:solidFill>
            <a:srgbClr val="16213E"/>
          </a:solidFill>
          <a:ln w="12700">
            <a:solidFill>
              <a:srgbClr val="D8DEE9"/>
            </a:solidFill>
            <a:prstDash val="solid"/>
          </a:ln>
        </p:spPr>
      </p:sp>
      <p:sp>
        <p:nvSpPr>
          <p:cNvPr id="5" name="Shape 3"/>
          <p:cNvSpPr/>
          <p:nvPr/>
        </p:nvSpPr>
        <p:spPr>
          <a:xfrm>
            <a:off x="1645920" y="1920240"/>
            <a:ext cx="1005840" cy="1005840"/>
          </a:xfrm>
          <a:prstGeom prst="ellipse">
            <a:avLst/>
          </a:prstGeom>
          <a:solidFill>
            <a:srgbClr val="2FE6D6"/>
          </a:solidFill>
          <a:ln/>
        </p:spPr>
      </p:sp>
      <p:sp>
        <p:nvSpPr>
          <p:cNvPr id="6" name="Text 4"/>
          <p:cNvSpPr/>
          <p:nvPr/>
        </p:nvSpPr>
        <p:spPr>
          <a:xfrm>
            <a:off x="1645920" y="1920240"/>
            <a:ext cx="1005840" cy="1005840"/>
          </a:xfrm>
          <a:prstGeom prst="rect">
            <a:avLst/>
          </a:prstGeom>
          <a:noFill/>
          <a:ln/>
        </p:spPr>
        <p:txBody>
          <a:bodyPr wrap="square" rtlCol="0" anchor="ctr"/>
          <a:lstStyle/>
          <a:p>
            <a:pPr algn="ctr" indent="0" marL="0">
              <a:buNone/>
            </a:pPr>
            <a:r>
              <a:rPr lang="en-US" sz="2200" b="1" dirty="0">
                <a:solidFill>
                  <a:srgbClr val="16213E"/>
                </a:solidFill>
                <a:latin typeface="Calibri" pitchFamily="34" charset="0"/>
                <a:ea typeface="Calibri" pitchFamily="34" charset="-122"/>
                <a:cs typeface="Calibri" pitchFamily="34" charset="-120"/>
              </a:rPr>
              <a:t>CL</a:t>
            </a:r>
            <a:endParaRPr lang="en-US" sz="2200" dirty="0"/>
          </a:p>
        </p:txBody>
      </p:sp>
      <p:sp>
        <p:nvSpPr>
          <p:cNvPr id="7" name="Text 5"/>
          <p:cNvSpPr/>
          <p:nvPr/>
        </p:nvSpPr>
        <p:spPr>
          <a:xfrm>
            <a:off x="822960" y="3063240"/>
            <a:ext cx="2651760" cy="36576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Claude</a:t>
            </a:r>
            <a:endParaRPr lang="en-US" sz="1700" dirty="0"/>
          </a:p>
        </p:txBody>
      </p:sp>
      <p:sp>
        <p:nvSpPr>
          <p:cNvPr id="8" name="Text 6"/>
          <p:cNvSpPr/>
          <p:nvPr/>
        </p:nvSpPr>
        <p:spPr>
          <a:xfrm>
            <a:off x="822960" y="3429000"/>
            <a:ext cx="2651760" cy="640080"/>
          </a:xfrm>
          <a:prstGeom prst="rect">
            <a:avLst/>
          </a:prstGeom>
          <a:noFill/>
          <a:ln/>
        </p:spPr>
        <p:txBody>
          <a:bodyPr wrap="square" rtlCol="0" anchor="ctr"/>
          <a:lstStyle/>
          <a:p>
            <a:pPr algn="ctr" indent="0" marL="0">
              <a:buNone/>
            </a:pPr>
            <a:r>
              <a:rPr lang="en-US" sz="1100" i="1" dirty="0">
                <a:solidFill>
                  <a:srgbClr val="8B98AC"/>
                </a:solidFill>
                <a:latin typeface="Calibri" pitchFamily="34" charset="0"/>
                <a:ea typeface="Calibri" pitchFamily="34" charset="-122"/>
                <a:cs typeface="Calibri" pitchFamily="34" charset="-120"/>
              </a:rPr>
              <a:t>AI assistant by Anthropic</a:t>
            </a:r>
            <a:endParaRPr lang="en-US" sz="1100" dirty="0"/>
          </a:p>
        </p:txBody>
      </p:sp>
      <p:sp>
        <p:nvSpPr>
          <p:cNvPr id="9" name="Shape 7"/>
          <p:cNvSpPr/>
          <p:nvPr/>
        </p:nvSpPr>
        <p:spPr>
          <a:xfrm>
            <a:off x="868680" y="4160520"/>
            <a:ext cx="2560320" cy="0"/>
          </a:xfrm>
          <a:prstGeom prst="line">
            <a:avLst/>
          </a:prstGeom>
          <a:noFill/>
          <a:ln w="12700">
            <a:solidFill>
              <a:srgbClr val="3A5580"/>
            </a:solidFill>
            <a:prstDash val="solid"/>
          </a:ln>
        </p:spPr>
      </p:sp>
      <p:sp>
        <p:nvSpPr>
          <p:cNvPr id="10" name="Text 8"/>
          <p:cNvSpPr/>
          <p:nvPr/>
        </p:nvSpPr>
        <p:spPr>
          <a:xfrm>
            <a:off x="822960" y="4297680"/>
            <a:ext cx="2651760" cy="274320"/>
          </a:xfrm>
          <a:prstGeom prst="rect">
            <a:avLst/>
          </a:prstGeom>
          <a:noFill/>
          <a:ln/>
        </p:spPr>
        <p:txBody>
          <a:bodyPr wrap="square" rtlCol="0" anchor="ctr"/>
          <a:lstStyle/>
          <a:p>
            <a:pPr algn="ctr" indent="0" marL="0">
              <a:buNone/>
            </a:pPr>
            <a:r>
              <a:rPr lang="en-US" sz="1000" b="1" spc="150" kern="0" dirty="0">
                <a:solidFill>
                  <a:srgbClr val="2FE6D6"/>
                </a:solidFill>
                <a:latin typeface="Calibri" pitchFamily="34" charset="0"/>
                <a:ea typeface="Calibri" pitchFamily="34" charset="-122"/>
                <a:cs typeface="Calibri" pitchFamily="34" charset="-120"/>
              </a:rPr>
              <a:t>BEST USED FOR</a:t>
            </a:r>
            <a:endParaRPr lang="en-US" sz="1000" dirty="0"/>
          </a:p>
        </p:txBody>
      </p:sp>
      <p:sp>
        <p:nvSpPr>
          <p:cNvPr id="11" name="Text 9"/>
          <p:cNvSpPr/>
          <p:nvPr/>
        </p:nvSpPr>
        <p:spPr>
          <a:xfrm>
            <a:off x="822960" y="4617720"/>
            <a:ext cx="2651760" cy="1371600"/>
          </a:xfrm>
          <a:prstGeom prst="rect">
            <a:avLst/>
          </a:prstGeom>
          <a:noFill/>
          <a:ln/>
        </p:spPr>
        <p:txBody>
          <a:bodyPr wrap="square" rtlCol="0" anchor="ctr"/>
          <a:lstStyle/>
          <a:p>
            <a:pPr algn="ctr" indent="0" marL="0">
              <a:buNone/>
            </a:pPr>
            <a:r>
              <a:rPr lang="en-US" sz="1100" dirty="0">
                <a:solidFill>
                  <a:srgbClr val="D6DEEC"/>
                </a:solidFill>
                <a:latin typeface="Calibri" pitchFamily="34" charset="0"/>
                <a:ea typeface="Calibri" pitchFamily="34" charset="-122"/>
                <a:cs typeface="Calibri" pitchFamily="34" charset="-120"/>
              </a:rPr>
              <a:t>Long-form writing, analysis, reasoning-heavy tasks, and working with uploaded documents.</a:t>
            </a:r>
            <a:endParaRPr lang="en-US" sz="1100" dirty="0"/>
          </a:p>
        </p:txBody>
      </p:sp>
      <p:sp>
        <p:nvSpPr>
          <p:cNvPr id="12" name="Shape 10"/>
          <p:cNvSpPr/>
          <p:nvPr/>
        </p:nvSpPr>
        <p:spPr>
          <a:xfrm>
            <a:off x="3977640" y="1508760"/>
            <a:ext cx="7635240" cy="1051560"/>
          </a:xfrm>
          <a:prstGeom prst="roundRect">
            <a:avLst>
              <a:gd name="adj" fmla="val 6957"/>
            </a:avLst>
          </a:prstGeom>
          <a:solidFill>
            <a:srgbClr val="F4F6FA"/>
          </a:solidFill>
          <a:ln w="12700">
            <a:solidFill>
              <a:srgbClr val="D8DEE9"/>
            </a:solidFill>
            <a:prstDash val="solid"/>
          </a:ln>
        </p:spPr>
      </p:sp>
      <p:sp>
        <p:nvSpPr>
          <p:cNvPr id="13" name="Shape 11"/>
          <p:cNvSpPr/>
          <p:nvPr/>
        </p:nvSpPr>
        <p:spPr>
          <a:xfrm>
            <a:off x="4142232" y="1815084"/>
            <a:ext cx="438912" cy="438912"/>
          </a:xfrm>
          <a:prstGeom prst="ellipse">
            <a:avLst/>
          </a:prstGeom>
          <a:solidFill>
            <a:srgbClr val="16213E"/>
          </a:solidFill>
          <a:ln/>
        </p:spPr>
      </p:sp>
      <p:sp>
        <p:nvSpPr>
          <p:cNvPr id="14" name="Text 12"/>
          <p:cNvSpPr/>
          <p:nvPr/>
        </p:nvSpPr>
        <p:spPr>
          <a:xfrm>
            <a:off x="4142232" y="1815084"/>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4709160" y="1600200"/>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Access the Official Source</a:t>
            </a:r>
            <a:endParaRPr lang="en-US" sz="1250" dirty="0"/>
          </a:p>
        </p:txBody>
      </p:sp>
      <p:sp>
        <p:nvSpPr>
          <p:cNvPr id="16" name="Text 14"/>
          <p:cNvSpPr/>
          <p:nvPr/>
        </p:nvSpPr>
        <p:spPr>
          <a:xfrm>
            <a:off x="4709160" y="1929384"/>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Navigate to the vendor's official website or your organization's approved app store listing — avoid third-party download links.</a:t>
            </a:r>
            <a:endParaRPr lang="en-US" sz="1000" dirty="0"/>
          </a:p>
        </p:txBody>
      </p:sp>
      <p:sp>
        <p:nvSpPr>
          <p:cNvPr id="17" name="Shape 15"/>
          <p:cNvSpPr/>
          <p:nvPr/>
        </p:nvSpPr>
        <p:spPr>
          <a:xfrm>
            <a:off x="3977640" y="2670048"/>
            <a:ext cx="7635240" cy="1051560"/>
          </a:xfrm>
          <a:prstGeom prst="roundRect">
            <a:avLst>
              <a:gd name="adj" fmla="val 6957"/>
            </a:avLst>
          </a:prstGeom>
          <a:solidFill>
            <a:srgbClr val="FFFFFF"/>
          </a:solidFill>
          <a:ln w="12700">
            <a:solidFill>
              <a:srgbClr val="D8DEE9"/>
            </a:solidFill>
            <a:prstDash val="solid"/>
          </a:ln>
        </p:spPr>
      </p:sp>
      <p:sp>
        <p:nvSpPr>
          <p:cNvPr id="18" name="Shape 16"/>
          <p:cNvSpPr/>
          <p:nvPr/>
        </p:nvSpPr>
        <p:spPr>
          <a:xfrm>
            <a:off x="4142232" y="2976372"/>
            <a:ext cx="438912" cy="438912"/>
          </a:xfrm>
          <a:prstGeom prst="ellipse">
            <a:avLst/>
          </a:prstGeom>
          <a:solidFill>
            <a:srgbClr val="16213E"/>
          </a:solidFill>
          <a:ln/>
        </p:spPr>
      </p:sp>
      <p:sp>
        <p:nvSpPr>
          <p:cNvPr id="19" name="Text 17"/>
          <p:cNvSpPr/>
          <p:nvPr/>
        </p:nvSpPr>
        <p:spPr>
          <a:xfrm>
            <a:off x="4142232" y="2976372"/>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4709160" y="2761488"/>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Create or Sign In to an Account</a:t>
            </a:r>
            <a:endParaRPr lang="en-US" sz="1250" dirty="0"/>
          </a:p>
        </p:txBody>
      </p:sp>
      <p:sp>
        <p:nvSpPr>
          <p:cNvPr id="21" name="Text 19"/>
          <p:cNvSpPr/>
          <p:nvPr/>
        </p:nvSpPr>
        <p:spPr>
          <a:xfrm>
            <a:off x="4709160" y="3090672"/>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Use a supported sign-in method. Enterprise/education users should confirm whether an organizational plan is already provisioned.</a:t>
            </a:r>
            <a:endParaRPr lang="en-US" sz="1000" dirty="0"/>
          </a:p>
        </p:txBody>
      </p:sp>
      <p:sp>
        <p:nvSpPr>
          <p:cNvPr id="22" name="Shape 20"/>
          <p:cNvSpPr/>
          <p:nvPr/>
        </p:nvSpPr>
        <p:spPr>
          <a:xfrm>
            <a:off x="3977640" y="3831336"/>
            <a:ext cx="7635240" cy="1051560"/>
          </a:xfrm>
          <a:prstGeom prst="roundRect">
            <a:avLst>
              <a:gd name="adj" fmla="val 6957"/>
            </a:avLst>
          </a:prstGeom>
          <a:solidFill>
            <a:srgbClr val="F4F6FA"/>
          </a:solidFill>
          <a:ln w="12700">
            <a:solidFill>
              <a:srgbClr val="D8DEE9"/>
            </a:solidFill>
            <a:prstDash val="solid"/>
          </a:ln>
        </p:spPr>
      </p:sp>
      <p:sp>
        <p:nvSpPr>
          <p:cNvPr id="23" name="Shape 21"/>
          <p:cNvSpPr/>
          <p:nvPr/>
        </p:nvSpPr>
        <p:spPr>
          <a:xfrm>
            <a:off x="4142232" y="4137660"/>
            <a:ext cx="438912" cy="438912"/>
          </a:xfrm>
          <a:prstGeom prst="ellipse">
            <a:avLst/>
          </a:prstGeom>
          <a:solidFill>
            <a:srgbClr val="16213E"/>
          </a:solidFill>
          <a:ln/>
        </p:spPr>
      </p:sp>
      <p:sp>
        <p:nvSpPr>
          <p:cNvPr id="24" name="Text 22"/>
          <p:cNvSpPr/>
          <p:nvPr/>
        </p:nvSpPr>
        <p:spPr>
          <a:xfrm>
            <a:off x="4142232" y="4137660"/>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4709160" y="3922776"/>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Review Current Plan &amp; Data Settings</a:t>
            </a:r>
            <a:endParaRPr lang="en-US" sz="1250" dirty="0"/>
          </a:p>
        </p:txBody>
      </p:sp>
      <p:sp>
        <p:nvSpPr>
          <p:cNvPr id="26" name="Text 24"/>
          <p:cNvSpPr/>
          <p:nvPr/>
        </p:nvSpPr>
        <p:spPr>
          <a:xfrm>
            <a:off x="4709160" y="4251960"/>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Check the free vs. paid tier differences and any data-usage / training-opt-out settings before entering sensitive information.</a:t>
            </a:r>
            <a:endParaRPr lang="en-US" sz="1000" dirty="0"/>
          </a:p>
        </p:txBody>
      </p:sp>
      <p:sp>
        <p:nvSpPr>
          <p:cNvPr id="27" name="Shape 25"/>
          <p:cNvSpPr/>
          <p:nvPr/>
        </p:nvSpPr>
        <p:spPr>
          <a:xfrm>
            <a:off x="3977640" y="4992624"/>
            <a:ext cx="7635240" cy="1051560"/>
          </a:xfrm>
          <a:prstGeom prst="roundRect">
            <a:avLst>
              <a:gd name="adj" fmla="val 6957"/>
            </a:avLst>
          </a:prstGeom>
          <a:solidFill>
            <a:srgbClr val="FFFFFF"/>
          </a:solidFill>
          <a:ln w="12700">
            <a:solidFill>
              <a:srgbClr val="D8DEE9"/>
            </a:solidFill>
            <a:prstDash val="solid"/>
          </a:ln>
        </p:spPr>
      </p:sp>
      <p:sp>
        <p:nvSpPr>
          <p:cNvPr id="28" name="Shape 26"/>
          <p:cNvSpPr/>
          <p:nvPr/>
        </p:nvSpPr>
        <p:spPr>
          <a:xfrm>
            <a:off x="4142232" y="5298948"/>
            <a:ext cx="438912" cy="438912"/>
          </a:xfrm>
          <a:prstGeom prst="ellipse">
            <a:avLst/>
          </a:prstGeom>
          <a:solidFill>
            <a:srgbClr val="16213E"/>
          </a:solidFill>
          <a:ln/>
        </p:spPr>
      </p:sp>
      <p:sp>
        <p:nvSpPr>
          <p:cNvPr id="29" name="Text 27"/>
          <p:cNvSpPr/>
          <p:nvPr/>
        </p:nvSpPr>
        <p:spPr>
          <a:xfrm>
            <a:off x="4142232" y="5298948"/>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4</a:t>
            </a:r>
            <a:endParaRPr lang="en-US" sz="1100" dirty="0"/>
          </a:p>
        </p:txBody>
      </p:sp>
      <p:sp>
        <p:nvSpPr>
          <p:cNvPr id="30" name="Text 28"/>
          <p:cNvSpPr/>
          <p:nvPr/>
        </p:nvSpPr>
        <p:spPr>
          <a:xfrm>
            <a:off x="4709160" y="5084064"/>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Practical Exploration Task</a:t>
            </a:r>
            <a:endParaRPr lang="en-US" sz="1250" dirty="0"/>
          </a:p>
        </p:txBody>
      </p:sp>
      <p:sp>
        <p:nvSpPr>
          <p:cNvPr id="31" name="Text 29"/>
          <p:cNvSpPr/>
          <p:nvPr/>
        </p:nvSpPr>
        <p:spPr>
          <a:xfrm>
            <a:off x="4709160" y="5413248"/>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Complete the guided activity below using the tool's current interface.</a:t>
            </a:r>
            <a:endParaRPr lang="en-US" sz="1000" dirty="0"/>
          </a:p>
        </p:txBody>
      </p:sp>
      <p:sp>
        <p:nvSpPr>
          <p:cNvPr id="32" name="Text 30"/>
          <p:cNvSpPr/>
          <p:nvPr/>
        </p:nvSpPr>
        <p:spPr>
          <a:xfrm>
            <a:off x="3977640" y="6172200"/>
            <a:ext cx="7635240" cy="320040"/>
          </a:xfrm>
          <a:prstGeom prst="rect">
            <a:avLst/>
          </a:prstGeom>
          <a:noFill/>
          <a:ln/>
        </p:spPr>
        <p:txBody>
          <a:bodyPr wrap="square" rtlCol="0" anchor="ctr"/>
          <a:lstStyle/>
          <a:p>
            <a:pPr indent="0" marL="0">
              <a:buNone/>
            </a:pPr>
            <a:r>
              <a:rPr lang="en-US" sz="950" i="1" dirty="0">
                <a:solidFill>
                  <a:srgbClr val="8B98AC"/>
                </a:solidFill>
                <a:latin typeface="Calibri" pitchFamily="34" charset="0"/>
                <a:ea typeface="Calibri" pitchFamily="34" charset="-122"/>
                <a:cs typeface="Calibri" pitchFamily="34" charset="-120"/>
              </a:rPr>
              <a:t>Note: Interfaces change frequently. Always follow the vendor's current official documentation for exact steps.</a:t>
            </a:r>
            <a:endParaRPr lang="en-US" sz="950" dirty="0"/>
          </a:p>
        </p:txBody>
      </p:sp>
      <p:sp>
        <p:nvSpPr>
          <p:cNvPr id="33" name="Text 31"/>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19 / 30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HANDS-ON TOOL EXPLORATION</a:t>
            </a:r>
            <a:endParaRPr lang="en-US" sz="1200" dirty="0"/>
          </a:p>
        </p:txBody>
      </p:sp>
      <p:sp>
        <p:nvSpPr>
          <p:cNvPr id="3" name="Text 1"/>
          <p:cNvSpPr/>
          <p:nvPr/>
        </p:nvSpPr>
        <p:spPr>
          <a:xfrm>
            <a:off x="548640" y="658368"/>
            <a:ext cx="10789920" cy="548640"/>
          </a:xfrm>
          <a:prstGeom prst="rect">
            <a:avLst/>
          </a:prstGeom>
          <a:noFill/>
          <a:ln/>
        </p:spPr>
        <p:txBody>
          <a:bodyPr wrap="square" rtlCol="0" anchor="ctr"/>
          <a:lstStyle/>
          <a:p>
            <a:pPr algn="l" indent="0" marL="0">
              <a:buNone/>
            </a:pPr>
            <a:r>
              <a:rPr lang="en-US" sz="2300" b="1" dirty="0">
                <a:solidFill>
                  <a:srgbClr val="16213E"/>
                </a:solidFill>
                <a:latin typeface="Cambria" pitchFamily="34" charset="0"/>
                <a:ea typeface="Cambria" pitchFamily="34" charset="-122"/>
                <a:cs typeface="Cambria" pitchFamily="34" charset="-120"/>
              </a:rPr>
              <a:t>Perplexity — Installation, Setup &amp; Practical Exploration</a:t>
            </a:r>
            <a:endParaRPr lang="en-US" sz="2300" dirty="0"/>
          </a:p>
        </p:txBody>
      </p:sp>
      <p:sp>
        <p:nvSpPr>
          <p:cNvPr id="4" name="Shape 2"/>
          <p:cNvSpPr/>
          <p:nvPr/>
        </p:nvSpPr>
        <p:spPr>
          <a:xfrm>
            <a:off x="548640" y="1508760"/>
            <a:ext cx="3200400" cy="4663440"/>
          </a:xfrm>
          <a:prstGeom prst="roundRect">
            <a:avLst>
              <a:gd name="adj" fmla="val 2286"/>
            </a:avLst>
          </a:prstGeom>
          <a:solidFill>
            <a:srgbClr val="16213E"/>
          </a:solidFill>
          <a:ln w="12700">
            <a:solidFill>
              <a:srgbClr val="D8DEE9"/>
            </a:solidFill>
            <a:prstDash val="solid"/>
          </a:ln>
        </p:spPr>
      </p:sp>
      <p:sp>
        <p:nvSpPr>
          <p:cNvPr id="5" name="Shape 3"/>
          <p:cNvSpPr/>
          <p:nvPr/>
        </p:nvSpPr>
        <p:spPr>
          <a:xfrm>
            <a:off x="1645920" y="1920240"/>
            <a:ext cx="1005840" cy="1005840"/>
          </a:xfrm>
          <a:prstGeom prst="ellipse">
            <a:avLst/>
          </a:prstGeom>
          <a:solidFill>
            <a:srgbClr val="2FE6D6"/>
          </a:solidFill>
          <a:ln/>
        </p:spPr>
      </p:sp>
      <p:sp>
        <p:nvSpPr>
          <p:cNvPr id="6" name="Text 4"/>
          <p:cNvSpPr/>
          <p:nvPr/>
        </p:nvSpPr>
        <p:spPr>
          <a:xfrm>
            <a:off x="1645920" y="1920240"/>
            <a:ext cx="1005840" cy="1005840"/>
          </a:xfrm>
          <a:prstGeom prst="rect">
            <a:avLst/>
          </a:prstGeom>
          <a:noFill/>
          <a:ln/>
        </p:spPr>
        <p:txBody>
          <a:bodyPr wrap="square" rtlCol="0" anchor="ctr"/>
          <a:lstStyle/>
          <a:p>
            <a:pPr algn="ctr" indent="0" marL="0">
              <a:buNone/>
            </a:pPr>
            <a:r>
              <a:rPr lang="en-US" sz="2200" b="1" dirty="0">
                <a:solidFill>
                  <a:srgbClr val="16213E"/>
                </a:solidFill>
                <a:latin typeface="Calibri" pitchFamily="34" charset="0"/>
                <a:ea typeface="Calibri" pitchFamily="34" charset="-122"/>
                <a:cs typeface="Calibri" pitchFamily="34" charset="-120"/>
              </a:rPr>
              <a:t>PX</a:t>
            </a:r>
            <a:endParaRPr lang="en-US" sz="2200" dirty="0"/>
          </a:p>
        </p:txBody>
      </p:sp>
      <p:sp>
        <p:nvSpPr>
          <p:cNvPr id="7" name="Text 5"/>
          <p:cNvSpPr/>
          <p:nvPr/>
        </p:nvSpPr>
        <p:spPr>
          <a:xfrm>
            <a:off x="822960" y="3063240"/>
            <a:ext cx="2651760" cy="365760"/>
          </a:xfrm>
          <a:prstGeom prst="rect">
            <a:avLst/>
          </a:prstGeom>
          <a:noFill/>
          <a:ln/>
        </p:spPr>
        <p:txBody>
          <a:bodyPr wrap="square"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Perplexity</a:t>
            </a:r>
            <a:endParaRPr lang="en-US" sz="1700" dirty="0"/>
          </a:p>
        </p:txBody>
      </p:sp>
      <p:sp>
        <p:nvSpPr>
          <p:cNvPr id="8" name="Text 6"/>
          <p:cNvSpPr/>
          <p:nvPr/>
        </p:nvSpPr>
        <p:spPr>
          <a:xfrm>
            <a:off x="822960" y="3429000"/>
            <a:ext cx="2651760" cy="640080"/>
          </a:xfrm>
          <a:prstGeom prst="rect">
            <a:avLst/>
          </a:prstGeom>
          <a:noFill/>
          <a:ln/>
        </p:spPr>
        <p:txBody>
          <a:bodyPr wrap="square" rtlCol="0" anchor="ctr"/>
          <a:lstStyle/>
          <a:p>
            <a:pPr algn="ctr" indent="0" marL="0">
              <a:buNone/>
            </a:pPr>
            <a:r>
              <a:rPr lang="en-US" sz="1100" i="1" dirty="0">
                <a:solidFill>
                  <a:srgbClr val="8B98AC"/>
                </a:solidFill>
                <a:latin typeface="Calibri" pitchFamily="34" charset="0"/>
                <a:ea typeface="Calibri" pitchFamily="34" charset="-122"/>
                <a:cs typeface="Calibri" pitchFamily="34" charset="-120"/>
              </a:rPr>
              <a:t>AI-powered answer engine</a:t>
            </a:r>
            <a:endParaRPr lang="en-US" sz="1100" dirty="0"/>
          </a:p>
        </p:txBody>
      </p:sp>
      <p:sp>
        <p:nvSpPr>
          <p:cNvPr id="9" name="Shape 7"/>
          <p:cNvSpPr/>
          <p:nvPr/>
        </p:nvSpPr>
        <p:spPr>
          <a:xfrm>
            <a:off x="868680" y="4160520"/>
            <a:ext cx="2560320" cy="0"/>
          </a:xfrm>
          <a:prstGeom prst="line">
            <a:avLst/>
          </a:prstGeom>
          <a:noFill/>
          <a:ln w="12700">
            <a:solidFill>
              <a:srgbClr val="3A5580"/>
            </a:solidFill>
            <a:prstDash val="solid"/>
          </a:ln>
        </p:spPr>
      </p:sp>
      <p:sp>
        <p:nvSpPr>
          <p:cNvPr id="10" name="Text 8"/>
          <p:cNvSpPr/>
          <p:nvPr/>
        </p:nvSpPr>
        <p:spPr>
          <a:xfrm>
            <a:off x="822960" y="4297680"/>
            <a:ext cx="2651760" cy="274320"/>
          </a:xfrm>
          <a:prstGeom prst="rect">
            <a:avLst/>
          </a:prstGeom>
          <a:noFill/>
          <a:ln/>
        </p:spPr>
        <p:txBody>
          <a:bodyPr wrap="square" rtlCol="0" anchor="ctr"/>
          <a:lstStyle/>
          <a:p>
            <a:pPr algn="ctr" indent="0" marL="0">
              <a:buNone/>
            </a:pPr>
            <a:r>
              <a:rPr lang="en-US" sz="1000" b="1" spc="150" kern="0" dirty="0">
                <a:solidFill>
                  <a:srgbClr val="2FE6D6"/>
                </a:solidFill>
                <a:latin typeface="Calibri" pitchFamily="34" charset="0"/>
                <a:ea typeface="Calibri" pitchFamily="34" charset="-122"/>
                <a:cs typeface="Calibri" pitchFamily="34" charset="-120"/>
              </a:rPr>
              <a:t>BEST USED FOR</a:t>
            </a:r>
            <a:endParaRPr lang="en-US" sz="1000" dirty="0"/>
          </a:p>
        </p:txBody>
      </p:sp>
      <p:sp>
        <p:nvSpPr>
          <p:cNvPr id="11" name="Text 9"/>
          <p:cNvSpPr/>
          <p:nvPr/>
        </p:nvSpPr>
        <p:spPr>
          <a:xfrm>
            <a:off x="822960" y="4617720"/>
            <a:ext cx="2651760" cy="1371600"/>
          </a:xfrm>
          <a:prstGeom prst="rect">
            <a:avLst/>
          </a:prstGeom>
          <a:noFill/>
          <a:ln/>
        </p:spPr>
        <p:txBody>
          <a:bodyPr wrap="square" rtlCol="0" anchor="ctr"/>
          <a:lstStyle/>
          <a:p>
            <a:pPr algn="ctr" indent="0" marL="0">
              <a:buNone/>
            </a:pPr>
            <a:r>
              <a:rPr lang="en-US" sz="1100" dirty="0">
                <a:solidFill>
                  <a:srgbClr val="D6DEEC"/>
                </a:solidFill>
                <a:latin typeface="Calibri" pitchFamily="34" charset="0"/>
                <a:ea typeface="Calibri" pitchFamily="34" charset="-122"/>
                <a:cs typeface="Calibri" pitchFamily="34" charset="-120"/>
              </a:rPr>
              <a:t>Research questions requiring current information, with inline source citations.</a:t>
            </a:r>
            <a:endParaRPr lang="en-US" sz="1100" dirty="0"/>
          </a:p>
        </p:txBody>
      </p:sp>
      <p:sp>
        <p:nvSpPr>
          <p:cNvPr id="12" name="Shape 10"/>
          <p:cNvSpPr/>
          <p:nvPr/>
        </p:nvSpPr>
        <p:spPr>
          <a:xfrm>
            <a:off x="3977640" y="1508760"/>
            <a:ext cx="7635240" cy="1051560"/>
          </a:xfrm>
          <a:prstGeom prst="roundRect">
            <a:avLst>
              <a:gd name="adj" fmla="val 6957"/>
            </a:avLst>
          </a:prstGeom>
          <a:solidFill>
            <a:srgbClr val="F4F6FA"/>
          </a:solidFill>
          <a:ln w="12700">
            <a:solidFill>
              <a:srgbClr val="D8DEE9"/>
            </a:solidFill>
            <a:prstDash val="solid"/>
          </a:ln>
        </p:spPr>
      </p:sp>
      <p:sp>
        <p:nvSpPr>
          <p:cNvPr id="13" name="Shape 11"/>
          <p:cNvSpPr/>
          <p:nvPr/>
        </p:nvSpPr>
        <p:spPr>
          <a:xfrm>
            <a:off x="4142232" y="1815084"/>
            <a:ext cx="438912" cy="438912"/>
          </a:xfrm>
          <a:prstGeom prst="ellipse">
            <a:avLst/>
          </a:prstGeom>
          <a:solidFill>
            <a:srgbClr val="16213E"/>
          </a:solidFill>
          <a:ln/>
        </p:spPr>
      </p:sp>
      <p:sp>
        <p:nvSpPr>
          <p:cNvPr id="14" name="Text 12"/>
          <p:cNvSpPr/>
          <p:nvPr/>
        </p:nvSpPr>
        <p:spPr>
          <a:xfrm>
            <a:off x="4142232" y="1815084"/>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4709160" y="1600200"/>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Access the Official Source</a:t>
            </a:r>
            <a:endParaRPr lang="en-US" sz="1250" dirty="0"/>
          </a:p>
        </p:txBody>
      </p:sp>
      <p:sp>
        <p:nvSpPr>
          <p:cNvPr id="16" name="Text 14"/>
          <p:cNvSpPr/>
          <p:nvPr/>
        </p:nvSpPr>
        <p:spPr>
          <a:xfrm>
            <a:off x="4709160" y="1929384"/>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Navigate to the vendor's official website or your organization's approved app store listing — avoid third-party download links.</a:t>
            </a:r>
            <a:endParaRPr lang="en-US" sz="1000" dirty="0"/>
          </a:p>
        </p:txBody>
      </p:sp>
      <p:sp>
        <p:nvSpPr>
          <p:cNvPr id="17" name="Shape 15"/>
          <p:cNvSpPr/>
          <p:nvPr/>
        </p:nvSpPr>
        <p:spPr>
          <a:xfrm>
            <a:off x="3977640" y="2670048"/>
            <a:ext cx="7635240" cy="1051560"/>
          </a:xfrm>
          <a:prstGeom prst="roundRect">
            <a:avLst>
              <a:gd name="adj" fmla="val 6957"/>
            </a:avLst>
          </a:prstGeom>
          <a:solidFill>
            <a:srgbClr val="FFFFFF"/>
          </a:solidFill>
          <a:ln w="12700">
            <a:solidFill>
              <a:srgbClr val="D8DEE9"/>
            </a:solidFill>
            <a:prstDash val="solid"/>
          </a:ln>
        </p:spPr>
      </p:sp>
      <p:sp>
        <p:nvSpPr>
          <p:cNvPr id="18" name="Shape 16"/>
          <p:cNvSpPr/>
          <p:nvPr/>
        </p:nvSpPr>
        <p:spPr>
          <a:xfrm>
            <a:off x="4142232" y="2976372"/>
            <a:ext cx="438912" cy="438912"/>
          </a:xfrm>
          <a:prstGeom prst="ellipse">
            <a:avLst/>
          </a:prstGeom>
          <a:solidFill>
            <a:srgbClr val="16213E"/>
          </a:solidFill>
          <a:ln/>
        </p:spPr>
      </p:sp>
      <p:sp>
        <p:nvSpPr>
          <p:cNvPr id="19" name="Text 17"/>
          <p:cNvSpPr/>
          <p:nvPr/>
        </p:nvSpPr>
        <p:spPr>
          <a:xfrm>
            <a:off x="4142232" y="2976372"/>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4709160" y="2761488"/>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Create or Sign In to an Account</a:t>
            </a:r>
            <a:endParaRPr lang="en-US" sz="1250" dirty="0"/>
          </a:p>
        </p:txBody>
      </p:sp>
      <p:sp>
        <p:nvSpPr>
          <p:cNvPr id="21" name="Text 19"/>
          <p:cNvSpPr/>
          <p:nvPr/>
        </p:nvSpPr>
        <p:spPr>
          <a:xfrm>
            <a:off x="4709160" y="3090672"/>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Use a supported sign-in method. Enterprise/education users should confirm whether an organizational plan is already provisioned.</a:t>
            </a:r>
            <a:endParaRPr lang="en-US" sz="1000" dirty="0"/>
          </a:p>
        </p:txBody>
      </p:sp>
      <p:sp>
        <p:nvSpPr>
          <p:cNvPr id="22" name="Shape 20"/>
          <p:cNvSpPr/>
          <p:nvPr/>
        </p:nvSpPr>
        <p:spPr>
          <a:xfrm>
            <a:off x="3977640" y="3831336"/>
            <a:ext cx="7635240" cy="1051560"/>
          </a:xfrm>
          <a:prstGeom prst="roundRect">
            <a:avLst>
              <a:gd name="adj" fmla="val 6957"/>
            </a:avLst>
          </a:prstGeom>
          <a:solidFill>
            <a:srgbClr val="F4F6FA"/>
          </a:solidFill>
          <a:ln w="12700">
            <a:solidFill>
              <a:srgbClr val="D8DEE9"/>
            </a:solidFill>
            <a:prstDash val="solid"/>
          </a:ln>
        </p:spPr>
      </p:sp>
      <p:sp>
        <p:nvSpPr>
          <p:cNvPr id="23" name="Shape 21"/>
          <p:cNvSpPr/>
          <p:nvPr/>
        </p:nvSpPr>
        <p:spPr>
          <a:xfrm>
            <a:off x="4142232" y="4137660"/>
            <a:ext cx="438912" cy="438912"/>
          </a:xfrm>
          <a:prstGeom prst="ellipse">
            <a:avLst/>
          </a:prstGeom>
          <a:solidFill>
            <a:srgbClr val="16213E"/>
          </a:solidFill>
          <a:ln/>
        </p:spPr>
      </p:sp>
      <p:sp>
        <p:nvSpPr>
          <p:cNvPr id="24" name="Text 22"/>
          <p:cNvSpPr/>
          <p:nvPr/>
        </p:nvSpPr>
        <p:spPr>
          <a:xfrm>
            <a:off x="4142232" y="4137660"/>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3</a:t>
            </a:r>
            <a:endParaRPr lang="en-US" sz="1100" dirty="0"/>
          </a:p>
        </p:txBody>
      </p:sp>
      <p:sp>
        <p:nvSpPr>
          <p:cNvPr id="25" name="Text 23"/>
          <p:cNvSpPr/>
          <p:nvPr/>
        </p:nvSpPr>
        <p:spPr>
          <a:xfrm>
            <a:off x="4709160" y="3922776"/>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Review Current Plan &amp; Data Settings</a:t>
            </a:r>
            <a:endParaRPr lang="en-US" sz="1250" dirty="0"/>
          </a:p>
        </p:txBody>
      </p:sp>
      <p:sp>
        <p:nvSpPr>
          <p:cNvPr id="26" name="Text 24"/>
          <p:cNvSpPr/>
          <p:nvPr/>
        </p:nvSpPr>
        <p:spPr>
          <a:xfrm>
            <a:off x="4709160" y="4251960"/>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Check the free vs. paid tier differences and any data-usage / training-opt-out settings before entering sensitive information.</a:t>
            </a:r>
            <a:endParaRPr lang="en-US" sz="1000" dirty="0"/>
          </a:p>
        </p:txBody>
      </p:sp>
      <p:sp>
        <p:nvSpPr>
          <p:cNvPr id="27" name="Shape 25"/>
          <p:cNvSpPr/>
          <p:nvPr/>
        </p:nvSpPr>
        <p:spPr>
          <a:xfrm>
            <a:off x="3977640" y="4992624"/>
            <a:ext cx="7635240" cy="1051560"/>
          </a:xfrm>
          <a:prstGeom prst="roundRect">
            <a:avLst>
              <a:gd name="adj" fmla="val 6957"/>
            </a:avLst>
          </a:prstGeom>
          <a:solidFill>
            <a:srgbClr val="FFFFFF"/>
          </a:solidFill>
          <a:ln w="12700">
            <a:solidFill>
              <a:srgbClr val="D8DEE9"/>
            </a:solidFill>
            <a:prstDash val="solid"/>
          </a:ln>
        </p:spPr>
      </p:sp>
      <p:sp>
        <p:nvSpPr>
          <p:cNvPr id="28" name="Shape 26"/>
          <p:cNvSpPr/>
          <p:nvPr/>
        </p:nvSpPr>
        <p:spPr>
          <a:xfrm>
            <a:off x="4142232" y="5298948"/>
            <a:ext cx="438912" cy="438912"/>
          </a:xfrm>
          <a:prstGeom prst="ellipse">
            <a:avLst/>
          </a:prstGeom>
          <a:solidFill>
            <a:srgbClr val="16213E"/>
          </a:solidFill>
          <a:ln/>
        </p:spPr>
      </p:sp>
      <p:sp>
        <p:nvSpPr>
          <p:cNvPr id="29" name="Text 27"/>
          <p:cNvSpPr/>
          <p:nvPr/>
        </p:nvSpPr>
        <p:spPr>
          <a:xfrm>
            <a:off x="4142232" y="5298948"/>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4</a:t>
            </a:r>
            <a:endParaRPr lang="en-US" sz="1100" dirty="0"/>
          </a:p>
        </p:txBody>
      </p:sp>
      <p:sp>
        <p:nvSpPr>
          <p:cNvPr id="30" name="Text 28"/>
          <p:cNvSpPr/>
          <p:nvPr/>
        </p:nvSpPr>
        <p:spPr>
          <a:xfrm>
            <a:off x="4709160" y="5084064"/>
            <a:ext cx="6675120" cy="292608"/>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Practical Exploration Task</a:t>
            </a:r>
            <a:endParaRPr lang="en-US" sz="1250" dirty="0"/>
          </a:p>
        </p:txBody>
      </p:sp>
      <p:sp>
        <p:nvSpPr>
          <p:cNvPr id="31" name="Text 29"/>
          <p:cNvSpPr/>
          <p:nvPr/>
        </p:nvSpPr>
        <p:spPr>
          <a:xfrm>
            <a:off x="4709160" y="5413248"/>
            <a:ext cx="6675120" cy="566928"/>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Complete the guided activity below using the tool's current interface.</a:t>
            </a:r>
            <a:endParaRPr lang="en-US" sz="1000" dirty="0"/>
          </a:p>
        </p:txBody>
      </p:sp>
      <p:sp>
        <p:nvSpPr>
          <p:cNvPr id="32" name="Text 30"/>
          <p:cNvSpPr/>
          <p:nvPr/>
        </p:nvSpPr>
        <p:spPr>
          <a:xfrm>
            <a:off x="3977640" y="6172200"/>
            <a:ext cx="7635240" cy="320040"/>
          </a:xfrm>
          <a:prstGeom prst="rect">
            <a:avLst/>
          </a:prstGeom>
          <a:noFill/>
          <a:ln/>
        </p:spPr>
        <p:txBody>
          <a:bodyPr wrap="square" rtlCol="0" anchor="ctr"/>
          <a:lstStyle/>
          <a:p>
            <a:pPr indent="0" marL="0">
              <a:buNone/>
            </a:pPr>
            <a:r>
              <a:rPr lang="en-US" sz="950" i="1" dirty="0">
                <a:solidFill>
                  <a:srgbClr val="8B98AC"/>
                </a:solidFill>
                <a:latin typeface="Calibri" pitchFamily="34" charset="0"/>
                <a:ea typeface="Calibri" pitchFamily="34" charset="-122"/>
                <a:cs typeface="Calibri" pitchFamily="34" charset="-120"/>
              </a:rPr>
              <a:t>Note: Interfaces change frequently. Always follow the vendor's current official documentation for exact steps.</a:t>
            </a:r>
            <a:endParaRPr lang="en-US" sz="950" dirty="0"/>
          </a:p>
        </p:txBody>
      </p:sp>
      <p:sp>
        <p:nvSpPr>
          <p:cNvPr id="33" name="Text 31"/>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20 / 30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HEAD-TO-HEAD</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Copilot vs Claude vs Perplexity</a:t>
            </a:r>
            <a:endParaRPr lang="en-US" sz="3000" dirty="0"/>
          </a:p>
        </p:txBody>
      </p:sp>
      <p:sp>
        <p:nvSpPr>
          <p:cNvPr id="4" name="Shape 2"/>
          <p:cNvSpPr/>
          <p:nvPr/>
        </p:nvSpPr>
        <p:spPr>
          <a:xfrm>
            <a:off x="2468880" y="1554480"/>
            <a:ext cx="3063240" cy="502920"/>
          </a:xfrm>
          <a:prstGeom prst="roundRect">
            <a:avLst>
              <a:gd name="adj" fmla="val 14545"/>
            </a:avLst>
          </a:prstGeom>
          <a:solidFill>
            <a:srgbClr val="16213E"/>
          </a:solidFill>
          <a:ln w="12700">
            <a:solidFill>
              <a:srgbClr val="D8DEE9"/>
            </a:solidFill>
            <a:prstDash val="solid"/>
          </a:ln>
        </p:spPr>
      </p:sp>
      <p:sp>
        <p:nvSpPr>
          <p:cNvPr id="5" name="Text 3"/>
          <p:cNvSpPr/>
          <p:nvPr/>
        </p:nvSpPr>
        <p:spPr>
          <a:xfrm>
            <a:off x="2468880" y="1554480"/>
            <a:ext cx="306324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MICROSOFT COPILOT</a:t>
            </a:r>
            <a:endParaRPr lang="en-US" sz="1150" dirty="0"/>
          </a:p>
        </p:txBody>
      </p:sp>
      <p:sp>
        <p:nvSpPr>
          <p:cNvPr id="6" name="Shape 4"/>
          <p:cNvSpPr/>
          <p:nvPr/>
        </p:nvSpPr>
        <p:spPr>
          <a:xfrm>
            <a:off x="5650992" y="1554480"/>
            <a:ext cx="3063240" cy="502920"/>
          </a:xfrm>
          <a:prstGeom prst="roundRect">
            <a:avLst>
              <a:gd name="adj" fmla="val 14545"/>
            </a:avLst>
          </a:prstGeom>
          <a:solidFill>
            <a:srgbClr val="0FBFAE"/>
          </a:solidFill>
          <a:ln w="12700">
            <a:solidFill>
              <a:srgbClr val="D8DEE9"/>
            </a:solidFill>
            <a:prstDash val="solid"/>
          </a:ln>
        </p:spPr>
      </p:sp>
      <p:sp>
        <p:nvSpPr>
          <p:cNvPr id="7" name="Text 5"/>
          <p:cNvSpPr/>
          <p:nvPr/>
        </p:nvSpPr>
        <p:spPr>
          <a:xfrm>
            <a:off x="5650992" y="1554480"/>
            <a:ext cx="3063240" cy="502920"/>
          </a:xfrm>
          <a:prstGeom prst="rect">
            <a:avLst/>
          </a:prstGeom>
          <a:noFill/>
          <a:ln/>
        </p:spPr>
        <p:txBody>
          <a:bodyPr wrap="square" rtlCol="0" anchor="ctr"/>
          <a:lstStyle/>
          <a:p>
            <a:pPr algn="ctr" indent="0" marL="0">
              <a:buNone/>
            </a:pPr>
            <a:r>
              <a:rPr lang="en-US" sz="1150" b="1" dirty="0">
                <a:solidFill>
                  <a:srgbClr val="16213E"/>
                </a:solidFill>
                <a:latin typeface="Calibri" pitchFamily="34" charset="0"/>
                <a:ea typeface="Calibri" pitchFamily="34" charset="-122"/>
                <a:cs typeface="Calibri" pitchFamily="34" charset="-120"/>
              </a:rPr>
              <a:t>CLAUDE</a:t>
            </a:r>
            <a:endParaRPr lang="en-US" sz="1150" dirty="0"/>
          </a:p>
        </p:txBody>
      </p:sp>
      <p:sp>
        <p:nvSpPr>
          <p:cNvPr id="8" name="Shape 6"/>
          <p:cNvSpPr/>
          <p:nvPr/>
        </p:nvSpPr>
        <p:spPr>
          <a:xfrm>
            <a:off x="8833104" y="1554480"/>
            <a:ext cx="3063240" cy="502920"/>
          </a:xfrm>
          <a:prstGeom prst="roundRect">
            <a:avLst>
              <a:gd name="adj" fmla="val 14545"/>
            </a:avLst>
          </a:prstGeom>
          <a:solidFill>
            <a:srgbClr val="16213E"/>
          </a:solidFill>
          <a:ln w="12700">
            <a:solidFill>
              <a:srgbClr val="D8DEE9"/>
            </a:solidFill>
            <a:prstDash val="solid"/>
          </a:ln>
        </p:spPr>
      </p:sp>
      <p:sp>
        <p:nvSpPr>
          <p:cNvPr id="9" name="Text 7"/>
          <p:cNvSpPr/>
          <p:nvPr/>
        </p:nvSpPr>
        <p:spPr>
          <a:xfrm>
            <a:off x="8833104" y="1554480"/>
            <a:ext cx="3063240" cy="502920"/>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PERPLEXITY</a:t>
            </a:r>
            <a:endParaRPr lang="en-US" sz="1150" dirty="0"/>
          </a:p>
        </p:txBody>
      </p:sp>
      <p:sp>
        <p:nvSpPr>
          <p:cNvPr id="10" name="Text 8"/>
          <p:cNvSpPr/>
          <p:nvPr/>
        </p:nvSpPr>
        <p:spPr>
          <a:xfrm>
            <a:off x="548640" y="2148840"/>
            <a:ext cx="1783080" cy="73152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Primary Strength</a:t>
            </a:r>
            <a:endParaRPr lang="en-US" sz="1050" dirty="0"/>
          </a:p>
        </p:txBody>
      </p:sp>
      <p:sp>
        <p:nvSpPr>
          <p:cNvPr id="11" name="Shape 9"/>
          <p:cNvSpPr/>
          <p:nvPr/>
        </p:nvSpPr>
        <p:spPr>
          <a:xfrm>
            <a:off x="2468880" y="2148840"/>
            <a:ext cx="3063240" cy="731520"/>
          </a:xfrm>
          <a:prstGeom prst="roundRect">
            <a:avLst>
              <a:gd name="adj" fmla="val 10000"/>
            </a:avLst>
          </a:prstGeom>
          <a:solidFill>
            <a:srgbClr val="F4F6FA"/>
          </a:solidFill>
          <a:ln w="12700">
            <a:solidFill>
              <a:srgbClr val="D8DEE9"/>
            </a:solidFill>
            <a:prstDash val="solid"/>
          </a:ln>
        </p:spPr>
      </p:sp>
      <p:sp>
        <p:nvSpPr>
          <p:cNvPr id="12" name="Text 10"/>
          <p:cNvSpPr/>
          <p:nvPr/>
        </p:nvSpPr>
        <p:spPr>
          <a:xfrm>
            <a:off x="2606040" y="2148840"/>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Office/productivity integration</a:t>
            </a:r>
            <a:endParaRPr lang="en-US" sz="980" dirty="0"/>
          </a:p>
        </p:txBody>
      </p:sp>
      <p:sp>
        <p:nvSpPr>
          <p:cNvPr id="13" name="Shape 11"/>
          <p:cNvSpPr/>
          <p:nvPr/>
        </p:nvSpPr>
        <p:spPr>
          <a:xfrm>
            <a:off x="5650992" y="2148840"/>
            <a:ext cx="3063240" cy="731520"/>
          </a:xfrm>
          <a:prstGeom prst="roundRect">
            <a:avLst>
              <a:gd name="adj" fmla="val 10000"/>
            </a:avLst>
          </a:prstGeom>
          <a:solidFill>
            <a:srgbClr val="F4F6FA"/>
          </a:solidFill>
          <a:ln w="12700">
            <a:solidFill>
              <a:srgbClr val="D8DEE9"/>
            </a:solidFill>
            <a:prstDash val="solid"/>
          </a:ln>
        </p:spPr>
      </p:sp>
      <p:sp>
        <p:nvSpPr>
          <p:cNvPr id="14" name="Text 12"/>
          <p:cNvSpPr/>
          <p:nvPr/>
        </p:nvSpPr>
        <p:spPr>
          <a:xfrm>
            <a:off x="5788152" y="2148840"/>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Long-form reasoning &amp; writing</a:t>
            </a:r>
            <a:endParaRPr lang="en-US" sz="980" dirty="0"/>
          </a:p>
        </p:txBody>
      </p:sp>
      <p:sp>
        <p:nvSpPr>
          <p:cNvPr id="15" name="Shape 13"/>
          <p:cNvSpPr/>
          <p:nvPr/>
        </p:nvSpPr>
        <p:spPr>
          <a:xfrm>
            <a:off x="8833104" y="2148840"/>
            <a:ext cx="3063240" cy="731520"/>
          </a:xfrm>
          <a:prstGeom prst="roundRect">
            <a:avLst>
              <a:gd name="adj" fmla="val 10000"/>
            </a:avLst>
          </a:prstGeom>
          <a:solidFill>
            <a:srgbClr val="F4F6FA"/>
          </a:solidFill>
          <a:ln w="12700">
            <a:solidFill>
              <a:srgbClr val="D8DEE9"/>
            </a:solidFill>
            <a:prstDash val="solid"/>
          </a:ln>
        </p:spPr>
      </p:sp>
      <p:sp>
        <p:nvSpPr>
          <p:cNvPr id="16" name="Text 14"/>
          <p:cNvSpPr/>
          <p:nvPr/>
        </p:nvSpPr>
        <p:spPr>
          <a:xfrm>
            <a:off x="8970264" y="2148840"/>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Cited, current-web research</a:t>
            </a:r>
            <a:endParaRPr lang="en-US" sz="980" dirty="0"/>
          </a:p>
        </p:txBody>
      </p:sp>
      <p:sp>
        <p:nvSpPr>
          <p:cNvPr id="17" name="Text 15"/>
          <p:cNvSpPr/>
          <p:nvPr/>
        </p:nvSpPr>
        <p:spPr>
          <a:xfrm>
            <a:off x="548640" y="2935224"/>
            <a:ext cx="1783080" cy="73152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Typical Use Case</a:t>
            </a:r>
            <a:endParaRPr lang="en-US" sz="1050" dirty="0"/>
          </a:p>
        </p:txBody>
      </p:sp>
      <p:sp>
        <p:nvSpPr>
          <p:cNvPr id="18" name="Shape 16"/>
          <p:cNvSpPr/>
          <p:nvPr/>
        </p:nvSpPr>
        <p:spPr>
          <a:xfrm>
            <a:off x="2468880" y="2935224"/>
            <a:ext cx="3063240" cy="731520"/>
          </a:xfrm>
          <a:prstGeom prst="roundRect">
            <a:avLst>
              <a:gd name="adj" fmla="val 10000"/>
            </a:avLst>
          </a:prstGeom>
          <a:solidFill>
            <a:srgbClr val="FFFFFF"/>
          </a:solidFill>
          <a:ln w="12700">
            <a:solidFill>
              <a:srgbClr val="D8DEE9"/>
            </a:solidFill>
            <a:prstDash val="solid"/>
          </a:ln>
        </p:spPr>
      </p:sp>
      <p:sp>
        <p:nvSpPr>
          <p:cNvPr id="19" name="Text 17"/>
          <p:cNvSpPr/>
          <p:nvPr/>
        </p:nvSpPr>
        <p:spPr>
          <a:xfrm>
            <a:off x="2606040" y="2935224"/>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Drafting in Word/Outlook, meeting summaries</a:t>
            </a:r>
            <a:endParaRPr lang="en-US" sz="980" dirty="0"/>
          </a:p>
        </p:txBody>
      </p:sp>
      <p:sp>
        <p:nvSpPr>
          <p:cNvPr id="20" name="Shape 18"/>
          <p:cNvSpPr/>
          <p:nvPr/>
        </p:nvSpPr>
        <p:spPr>
          <a:xfrm>
            <a:off x="5650992" y="2935224"/>
            <a:ext cx="3063240" cy="731520"/>
          </a:xfrm>
          <a:prstGeom prst="roundRect">
            <a:avLst>
              <a:gd name="adj" fmla="val 10000"/>
            </a:avLst>
          </a:prstGeom>
          <a:solidFill>
            <a:srgbClr val="FFFFFF"/>
          </a:solidFill>
          <a:ln w="12700">
            <a:solidFill>
              <a:srgbClr val="D8DEE9"/>
            </a:solidFill>
            <a:prstDash val="solid"/>
          </a:ln>
        </p:spPr>
      </p:sp>
      <p:sp>
        <p:nvSpPr>
          <p:cNvPr id="21" name="Text 19"/>
          <p:cNvSpPr/>
          <p:nvPr/>
        </p:nvSpPr>
        <p:spPr>
          <a:xfrm>
            <a:off x="5788152" y="2935224"/>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Analysis, document review, structured reasoning</a:t>
            </a:r>
            <a:endParaRPr lang="en-US" sz="980" dirty="0"/>
          </a:p>
        </p:txBody>
      </p:sp>
      <p:sp>
        <p:nvSpPr>
          <p:cNvPr id="22" name="Shape 20"/>
          <p:cNvSpPr/>
          <p:nvPr/>
        </p:nvSpPr>
        <p:spPr>
          <a:xfrm>
            <a:off x="8833104" y="2935224"/>
            <a:ext cx="3063240" cy="731520"/>
          </a:xfrm>
          <a:prstGeom prst="roundRect">
            <a:avLst>
              <a:gd name="adj" fmla="val 10000"/>
            </a:avLst>
          </a:prstGeom>
          <a:solidFill>
            <a:srgbClr val="FFFFFF"/>
          </a:solidFill>
          <a:ln w="12700">
            <a:solidFill>
              <a:srgbClr val="D8DEE9"/>
            </a:solidFill>
            <a:prstDash val="solid"/>
          </a:ln>
        </p:spPr>
      </p:sp>
      <p:sp>
        <p:nvSpPr>
          <p:cNvPr id="23" name="Text 21"/>
          <p:cNvSpPr/>
          <p:nvPr/>
        </p:nvSpPr>
        <p:spPr>
          <a:xfrm>
            <a:off x="8970264" y="2935224"/>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Fact-finding with source verification</a:t>
            </a:r>
            <a:endParaRPr lang="en-US" sz="980" dirty="0"/>
          </a:p>
        </p:txBody>
      </p:sp>
      <p:sp>
        <p:nvSpPr>
          <p:cNvPr id="24" name="Text 22"/>
          <p:cNvSpPr/>
          <p:nvPr/>
        </p:nvSpPr>
        <p:spPr>
          <a:xfrm>
            <a:off x="548640" y="3721608"/>
            <a:ext cx="1783080" cy="73152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Source Citations</a:t>
            </a:r>
            <a:endParaRPr lang="en-US" sz="1050" dirty="0"/>
          </a:p>
        </p:txBody>
      </p:sp>
      <p:sp>
        <p:nvSpPr>
          <p:cNvPr id="25" name="Shape 23"/>
          <p:cNvSpPr/>
          <p:nvPr/>
        </p:nvSpPr>
        <p:spPr>
          <a:xfrm>
            <a:off x="2468880" y="3721608"/>
            <a:ext cx="3063240" cy="731520"/>
          </a:xfrm>
          <a:prstGeom prst="roundRect">
            <a:avLst>
              <a:gd name="adj" fmla="val 10000"/>
            </a:avLst>
          </a:prstGeom>
          <a:solidFill>
            <a:srgbClr val="F4F6FA"/>
          </a:solidFill>
          <a:ln w="12700">
            <a:solidFill>
              <a:srgbClr val="D8DEE9"/>
            </a:solidFill>
            <a:prstDash val="solid"/>
          </a:ln>
        </p:spPr>
      </p:sp>
      <p:sp>
        <p:nvSpPr>
          <p:cNvPr id="26" name="Text 24"/>
          <p:cNvSpPr/>
          <p:nvPr/>
        </p:nvSpPr>
        <p:spPr>
          <a:xfrm>
            <a:off x="2606040" y="3721608"/>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Varies by mode / web plugin</a:t>
            </a:r>
            <a:endParaRPr lang="en-US" sz="980" dirty="0"/>
          </a:p>
        </p:txBody>
      </p:sp>
      <p:sp>
        <p:nvSpPr>
          <p:cNvPr id="27" name="Shape 25"/>
          <p:cNvSpPr/>
          <p:nvPr/>
        </p:nvSpPr>
        <p:spPr>
          <a:xfrm>
            <a:off x="5650992" y="3721608"/>
            <a:ext cx="3063240" cy="731520"/>
          </a:xfrm>
          <a:prstGeom prst="roundRect">
            <a:avLst>
              <a:gd name="adj" fmla="val 10000"/>
            </a:avLst>
          </a:prstGeom>
          <a:solidFill>
            <a:srgbClr val="F4F6FA"/>
          </a:solidFill>
          <a:ln w="12700">
            <a:solidFill>
              <a:srgbClr val="D8DEE9"/>
            </a:solidFill>
            <a:prstDash val="solid"/>
          </a:ln>
        </p:spPr>
      </p:sp>
      <p:sp>
        <p:nvSpPr>
          <p:cNvPr id="28" name="Text 26"/>
          <p:cNvSpPr/>
          <p:nvPr/>
        </p:nvSpPr>
        <p:spPr>
          <a:xfrm>
            <a:off x="5788152" y="3721608"/>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Available when web search is used</a:t>
            </a:r>
            <a:endParaRPr lang="en-US" sz="980" dirty="0"/>
          </a:p>
        </p:txBody>
      </p:sp>
      <p:sp>
        <p:nvSpPr>
          <p:cNvPr id="29" name="Shape 27"/>
          <p:cNvSpPr/>
          <p:nvPr/>
        </p:nvSpPr>
        <p:spPr>
          <a:xfrm>
            <a:off x="8833104" y="3721608"/>
            <a:ext cx="3063240" cy="731520"/>
          </a:xfrm>
          <a:prstGeom prst="roundRect">
            <a:avLst>
              <a:gd name="adj" fmla="val 10000"/>
            </a:avLst>
          </a:prstGeom>
          <a:solidFill>
            <a:srgbClr val="F4F6FA"/>
          </a:solidFill>
          <a:ln w="12700">
            <a:solidFill>
              <a:srgbClr val="D8DEE9"/>
            </a:solidFill>
            <a:prstDash val="solid"/>
          </a:ln>
        </p:spPr>
      </p:sp>
      <p:sp>
        <p:nvSpPr>
          <p:cNvPr id="30" name="Text 28"/>
          <p:cNvSpPr/>
          <p:nvPr/>
        </p:nvSpPr>
        <p:spPr>
          <a:xfrm>
            <a:off x="8970264" y="3721608"/>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Core design feature — always cited</a:t>
            </a:r>
            <a:endParaRPr lang="en-US" sz="980" dirty="0"/>
          </a:p>
        </p:txBody>
      </p:sp>
      <p:sp>
        <p:nvSpPr>
          <p:cNvPr id="31" name="Text 29"/>
          <p:cNvSpPr/>
          <p:nvPr/>
        </p:nvSpPr>
        <p:spPr>
          <a:xfrm>
            <a:off x="548640" y="4507992"/>
            <a:ext cx="1783080" cy="73152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Ecosystem Fit</a:t>
            </a:r>
            <a:endParaRPr lang="en-US" sz="1050" dirty="0"/>
          </a:p>
        </p:txBody>
      </p:sp>
      <p:sp>
        <p:nvSpPr>
          <p:cNvPr id="32" name="Shape 30"/>
          <p:cNvSpPr/>
          <p:nvPr/>
        </p:nvSpPr>
        <p:spPr>
          <a:xfrm>
            <a:off x="2468880" y="4507992"/>
            <a:ext cx="3063240" cy="731520"/>
          </a:xfrm>
          <a:prstGeom prst="roundRect">
            <a:avLst>
              <a:gd name="adj" fmla="val 10000"/>
            </a:avLst>
          </a:prstGeom>
          <a:solidFill>
            <a:srgbClr val="FFFFFF"/>
          </a:solidFill>
          <a:ln w="12700">
            <a:solidFill>
              <a:srgbClr val="D8DEE9"/>
            </a:solidFill>
            <a:prstDash val="solid"/>
          </a:ln>
        </p:spPr>
      </p:sp>
      <p:sp>
        <p:nvSpPr>
          <p:cNvPr id="33" name="Text 31"/>
          <p:cNvSpPr/>
          <p:nvPr/>
        </p:nvSpPr>
        <p:spPr>
          <a:xfrm>
            <a:off x="2606040" y="4507992"/>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Deep Microsoft 365 integration</a:t>
            </a:r>
            <a:endParaRPr lang="en-US" sz="980" dirty="0"/>
          </a:p>
        </p:txBody>
      </p:sp>
      <p:sp>
        <p:nvSpPr>
          <p:cNvPr id="34" name="Shape 32"/>
          <p:cNvSpPr/>
          <p:nvPr/>
        </p:nvSpPr>
        <p:spPr>
          <a:xfrm>
            <a:off x="5650992" y="4507992"/>
            <a:ext cx="3063240" cy="731520"/>
          </a:xfrm>
          <a:prstGeom prst="roundRect">
            <a:avLst>
              <a:gd name="adj" fmla="val 10000"/>
            </a:avLst>
          </a:prstGeom>
          <a:solidFill>
            <a:srgbClr val="FFFFFF"/>
          </a:solidFill>
          <a:ln w="12700">
            <a:solidFill>
              <a:srgbClr val="D8DEE9"/>
            </a:solidFill>
            <a:prstDash val="solid"/>
          </a:ln>
        </p:spPr>
      </p:sp>
      <p:sp>
        <p:nvSpPr>
          <p:cNvPr id="35" name="Text 33"/>
          <p:cNvSpPr/>
          <p:nvPr/>
        </p:nvSpPr>
        <p:spPr>
          <a:xfrm>
            <a:off x="5788152" y="4507992"/>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Standalone app, API, and IDE integrations</a:t>
            </a:r>
            <a:endParaRPr lang="en-US" sz="980" dirty="0"/>
          </a:p>
        </p:txBody>
      </p:sp>
      <p:sp>
        <p:nvSpPr>
          <p:cNvPr id="36" name="Shape 34"/>
          <p:cNvSpPr/>
          <p:nvPr/>
        </p:nvSpPr>
        <p:spPr>
          <a:xfrm>
            <a:off x="8833104" y="4507992"/>
            <a:ext cx="3063240" cy="731520"/>
          </a:xfrm>
          <a:prstGeom prst="roundRect">
            <a:avLst>
              <a:gd name="adj" fmla="val 10000"/>
            </a:avLst>
          </a:prstGeom>
          <a:solidFill>
            <a:srgbClr val="FFFFFF"/>
          </a:solidFill>
          <a:ln w="12700">
            <a:solidFill>
              <a:srgbClr val="D8DEE9"/>
            </a:solidFill>
            <a:prstDash val="solid"/>
          </a:ln>
        </p:spPr>
      </p:sp>
      <p:sp>
        <p:nvSpPr>
          <p:cNvPr id="37" name="Text 35"/>
          <p:cNvSpPr/>
          <p:nvPr/>
        </p:nvSpPr>
        <p:spPr>
          <a:xfrm>
            <a:off x="8970264" y="4507992"/>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Standalone web/app research tool</a:t>
            </a:r>
            <a:endParaRPr lang="en-US" sz="980" dirty="0"/>
          </a:p>
        </p:txBody>
      </p:sp>
      <p:sp>
        <p:nvSpPr>
          <p:cNvPr id="38" name="Text 36"/>
          <p:cNvSpPr/>
          <p:nvPr/>
        </p:nvSpPr>
        <p:spPr>
          <a:xfrm>
            <a:off x="548640" y="5294376"/>
            <a:ext cx="1783080" cy="73152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Best For This Audience</a:t>
            </a:r>
            <a:endParaRPr lang="en-US" sz="1050" dirty="0"/>
          </a:p>
        </p:txBody>
      </p:sp>
      <p:sp>
        <p:nvSpPr>
          <p:cNvPr id="39" name="Shape 37"/>
          <p:cNvSpPr/>
          <p:nvPr/>
        </p:nvSpPr>
        <p:spPr>
          <a:xfrm>
            <a:off x="2468880" y="5294376"/>
            <a:ext cx="3063240" cy="731520"/>
          </a:xfrm>
          <a:prstGeom prst="roundRect">
            <a:avLst>
              <a:gd name="adj" fmla="val 10000"/>
            </a:avLst>
          </a:prstGeom>
          <a:solidFill>
            <a:srgbClr val="F4F6FA"/>
          </a:solidFill>
          <a:ln w="12700">
            <a:solidFill>
              <a:srgbClr val="D8DEE9"/>
            </a:solidFill>
            <a:prstDash val="solid"/>
          </a:ln>
        </p:spPr>
      </p:sp>
      <p:sp>
        <p:nvSpPr>
          <p:cNvPr id="40" name="Text 38"/>
          <p:cNvSpPr/>
          <p:nvPr/>
        </p:nvSpPr>
        <p:spPr>
          <a:xfrm>
            <a:off x="2606040" y="5294376"/>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Daily office productivity tasks</a:t>
            </a:r>
            <a:endParaRPr lang="en-US" sz="980" dirty="0"/>
          </a:p>
        </p:txBody>
      </p:sp>
      <p:sp>
        <p:nvSpPr>
          <p:cNvPr id="41" name="Shape 39"/>
          <p:cNvSpPr/>
          <p:nvPr/>
        </p:nvSpPr>
        <p:spPr>
          <a:xfrm>
            <a:off x="5650992" y="5294376"/>
            <a:ext cx="3063240" cy="731520"/>
          </a:xfrm>
          <a:prstGeom prst="roundRect">
            <a:avLst>
              <a:gd name="adj" fmla="val 10000"/>
            </a:avLst>
          </a:prstGeom>
          <a:solidFill>
            <a:srgbClr val="F4F6FA"/>
          </a:solidFill>
          <a:ln w="12700">
            <a:solidFill>
              <a:srgbClr val="D8DEE9"/>
            </a:solidFill>
            <a:prstDash val="solid"/>
          </a:ln>
        </p:spPr>
      </p:sp>
      <p:sp>
        <p:nvSpPr>
          <p:cNvPr id="42" name="Text 40"/>
          <p:cNvSpPr/>
          <p:nvPr/>
        </p:nvSpPr>
        <p:spPr>
          <a:xfrm>
            <a:off x="5788152" y="5294376"/>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Deeper analytical or writing-heavy work</a:t>
            </a:r>
            <a:endParaRPr lang="en-US" sz="980" dirty="0"/>
          </a:p>
        </p:txBody>
      </p:sp>
      <p:sp>
        <p:nvSpPr>
          <p:cNvPr id="43" name="Shape 41"/>
          <p:cNvSpPr/>
          <p:nvPr/>
        </p:nvSpPr>
        <p:spPr>
          <a:xfrm>
            <a:off x="8833104" y="5294376"/>
            <a:ext cx="3063240" cy="731520"/>
          </a:xfrm>
          <a:prstGeom prst="roundRect">
            <a:avLst>
              <a:gd name="adj" fmla="val 10000"/>
            </a:avLst>
          </a:prstGeom>
          <a:solidFill>
            <a:srgbClr val="F4F6FA"/>
          </a:solidFill>
          <a:ln w="12700">
            <a:solidFill>
              <a:srgbClr val="D8DEE9"/>
            </a:solidFill>
            <a:prstDash val="solid"/>
          </a:ln>
        </p:spPr>
      </p:sp>
      <p:sp>
        <p:nvSpPr>
          <p:cNvPr id="44" name="Text 42"/>
          <p:cNvSpPr/>
          <p:nvPr/>
        </p:nvSpPr>
        <p:spPr>
          <a:xfrm>
            <a:off x="8970264" y="5294376"/>
            <a:ext cx="2788920" cy="731520"/>
          </a:xfrm>
          <a:prstGeom prst="rect">
            <a:avLst/>
          </a:prstGeom>
          <a:noFill/>
          <a:ln/>
        </p:spPr>
        <p:txBody>
          <a:bodyPr wrap="square" rtlCol="0" anchor="ctr"/>
          <a:lstStyle/>
          <a:p>
            <a:pPr indent="0" marL="0">
              <a:buNone/>
            </a:pPr>
            <a:r>
              <a:rPr lang="en-US" sz="980" dirty="0">
                <a:solidFill>
                  <a:srgbClr val="5B6B82"/>
                </a:solidFill>
                <a:latin typeface="Calibri" pitchFamily="34" charset="0"/>
                <a:ea typeface="Calibri" pitchFamily="34" charset="-122"/>
                <a:cs typeface="Calibri" pitchFamily="34" charset="-120"/>
              </a:rPr>
              <a:t>Verifying facts, current events, sources</a:t>
            </a:r>
            <a:endParaRPr lang="en-US" sz="980" dirty="0"/>
          </a:p>
        </p:txBody>
      </p:sp>
      <p:sp>
        <p:nvSpPr>
          <p:cNvPr id="45" name="Text 43"/>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21 / 30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6213E"/>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13E"/>
          </a:solidFill>
          <a:ln/>
        </p:spPr>
      </p:sp>
      <p:sp>
        <p:nvSpPr>
          <p:cNvPr id="3" name="Text 1"/>
          <p:cNvSpPr/>
          <p:nvPr/>
        </p:nvSpPr>
        <p:spPr>
          <a:xfrm>
            <a:off x="548640" y="457200"/>
            <a:ext cx="7315200" cy="320040"/>
          </a:xfrm>
          <a:prstGeom prst="rect">
            <a:avLst/>
          </a:prstGeom>
          <a:noFill/>
          <a:ln/>
        </p:spPr>
        <p:txBody>
          <a:bodyPr wrap="square" rtlCol="0" anchor="ctr"/>
          <a:lstStyle/>
          <a:p>
            <a:pPr indent="0" marL="0">
              <a:buNone/>
            </a:pPr>
            <a:r>
              <a:rPr lang="en-US" sz="1300" b="1" spc="200" kern="0" dirty="0">
                <a:solidFill>
                  <a:srgbClr val="2FE6D6"/>
                </a:solidFill>
                <a:latin typeface="Calibri" pitchFamily="34" charset="0"/>
                <a:ea typeface="Calibri" pitchFamily="34" charset="-122"/>
                <a:cs typeface="Calibri" pitchFamily="34" charset="-120"/>
              </a:rPr>
              <a:t>HANDS-ON ACTIVITY</a:t>
            </a:r>
            <a:endParaRPr lang="en-US" sz="1300" dirty="0"/>
          </a:p>
        </p:txBody>
      </p:sp>
      <p:sp>
        <p:nvSpPr>
          <p:cNvPr id="4" name="Text 2"/>
          <p:cNvSpPr/>
          <p:nvPr/>
        </p:nvSpPr>
        <p:spPr>
          <a:xfrm>
            <a:off x="548640" y="7772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One Problem, Three AI Tools</a:t>
            </a:r>
            <a:endParaRPr lang="en-US" sz="3000" dirty="0"/>
          </a:p>
        </p:txBody>
      </p:sp>
      <p:sp>
        <p:nvSpPr>
          <p:cNvPr id="5" name="Shape 3"/>
          <p:cNvSpPr/>
          <p:nvPr/>
        </p:nvSpPr>
        <p:spPr>
          <a:xfrm>
            <a:off x="548640" y="1691640"/>
            <a:ext cx="11064240" cy="1188720"/>
          </a:xfrm>
          <a:prstGeom prst="roundRect">
            <a:avLst>
              <a:gd name="adj" fmla="val 6154"/>
            </a:avLst>
          </a:prstGeom>
          <a:solidFill>
            <a:srgbClr val="1F3A5F"/>
          </a:solidFill>
          <a:ln/>
        </p:spPr>
      </p:sp>
      <p:sp>
        <p:nvSpPr>
          <p:cNvPr id="6" name="Text 4"/>
          <p:cNvSpPr/>
          <p:nvPr/>
        </p:nvSpPr>
        <p:spPr>
          <a:xfrm>
            <a:off x="822960" y="1828800"/>
            <a:ext cx="1828800" cy="274320"/>
          </a:xfrm>
          <a:prstGeom prst="rect">
            <a:avLst/>
          </a:prstGeom>
          <a:noFill/>
          <a:ln/>
        </p:spPr>
        <p:txBody>
          <a:bodyPr wrap="square" rtlCol="0" anchor="ctr"/>
          <a:lstStyle/>
          <a:p>
            <a:pPr indent="0" marL="0">
              <a:buNone/>
            </a:pPr>
            <a:r>
              <a:rPr lang="en-US" sz="1100" b="1" dirty="0">
                <a:solidFill>
                  <a:srgbClr val="2FE6D6"/>
                </a:solidFill>
                <a:latin typeface="Calibri" pitchFamily="34" charset="0"/>
                <a:ea typeface="Calibri" pitchFamily="34" charset="-122"/>
                <a:cs typeface="Calibri" pitchFamily="34" charset="-120"/>
              </a:rPr>
              <a:t>TASK</a:t>
            </a:r>
            <a:endParaRPr lang="en-US" sz="1100" dirty="0"/>
          </a:p>
        </p:txBody>
      </p:sp>
      <p:sp>
        <p:nvSpPr>
          <p:cNvPr id="7" name="Text 5"/>
          <p:cNvSpPr/>
          <p:nvPr/>
        </p:nvSpPr>
        <p:spPr>
          <a:xfrm>
            <a:off x="822960" y="2103120"/>
            <a:ext cx="10515600" cy="685800"/>
          </a:xfrm>
          <a:prstGeom prst="rect">
            <a:avLst/>
          </a:prstGeom>
          <a:noFill/>
          <a:ln/>
        </p:spPr>
        <p:txBody>
          <a:bodyPr wrap="square" rtlCol="0" anchor="ctr"/>
          <a:lstStyle/>
          <a:p>
            <a:pPr indent="0" marL="0">
              <a:buNone/>
            </a:pPr>
            <a:r>
              <a:rPr lang="en-US" sz="1300" dirty="0">
                <a:solidFill>
                  <a:srgbClr val="E6EAF2"/>
                </a:solidFill>
                <a:latin typeface="Calibri" pitchFamily="34" charset="0"/>
                <a:ea typeface="Calibri" pitchFamily="34" charset="-122"/>
                <a:cs typeface="Calibri" pitchFamily="34" charset="-120"/>
              </a:rPr>
              <a:t>Choose one realistic prompt (e.g., "Summarize the key risks of remote work for a small business" or a topic relevant to your role). Submit the identical prompt to Copilot, Claude, and Perplexity.</a:t>
            </a:r>
            <a:endParaRPr lang="en-US" sz="1300" dirty="0"/>
          </a:p>
        </p:txBody>
      </p:sp>
      <p:sp>
        <p:nvSpPr>
          <p:cNvPr id="8" name="Shape 6"/>
          <p:cNvSpPr/>
          <p:nvPr/>
        </p:nvSpPr>
        <p:spPr>
          <a:xfrm>
            <a:off x="548640" y="3154680"/>
            <a:ext cx="2606040" cy="2286000"/>
          </a:xfrm>
          <a:prstGeom prst="roundRect">
            <a:avLst>
              <a:gd name="adj" fmla="val 3200"/>
            </a:avLst>
          </a:prstGeom>
          <a:solidFill>
            <a:srgbClr val="0D1B2A"/>
          </a:solidFill>
          <a:ln/>
        </p:spPr>
      </p:sp>
      <p:sp>
        <p:nvSpPr>
          <p:cNvPr id="9" name="Shape 7"/>
          <p:cNvSpPr/>
          <p:nvPr/>
        </p:nvSpPr>
        <p:spPr>
          <a:xfrm>
            <a:off x="1577340" y="3337560"/>
            <a:ext cx="548640" cy="548640"/>
          </a:xfrm>
          <a:prstGeom prst="ellipse">
            <a:avLst/>
          </a:prstGeom>
          <a:solidFill>
            <a:srgbClr val="2FE6D6"/>
          </a:solidFill>
          <a:ln/>
        </p:spPr>
      </p:sp>
      <p:sp>
        <p:nvSpPr>
          <p:cNvPr id="10" name="Text 8"/>
          <p:cNvSpPr/>
          <p:nvPr/>
        </p:nvSpPr>
        <p:spPr>
          <a:xfrm>
            <a:off x="1577340" y="3337560"/>
            <a:ext cx="548640" cy="548640"/>
          </a:xfrm>
          <a:prstGeom prst="rect">
            <a:avLst/>
          </a:prstGeom>
          <a:noFill/>
          <a:ln/>
        </p:spPr>
        <p:txBody>
          <a:bodyPr wrap="square" rtlCol="0" anchor="ctr"/>
          <a:lstStyle/>
          <a:p>
            <a:pPr algn="ctr" indent="0" marL="0">
              <a:buNone/>
            </a:pPr>
            <a:r>
              <a:rPr lang="en-US" sz="1300" b="1" dirty="0">
                <a:solidFill>
                  <a:srgbClr val="16213E"/>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685800" y="4023360"/>
            <a:ext cx="2331720" cy="45720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Run the Prompt</a:t>
            </a:r>
            <a:endParaRPr lang="en-US" sz="1250" dirty="0"/>
          </a:p>
        </p:txBody>
      </p:sp>
      <p:sp>
        <p:nvSpPr>
          <p:cNvPr id="12" name="Text 10"/>
          <p:cNvSpPr/>
          <p:nvPr/>
        </p:nvSpPr>
        <p:spPr>
          <a:xfrm>
            <a:off x="685800" y="4480560"/>
            <a:ext cx="2331720" cy="822960"/>
          </a:xfrm>
          <a:prstGeom prst="rect">
            <a:avLst/>
          </a:prstGeom>
          <a:noFill/>
          <a:ln/>
        </p:spPr>
        <p:txBody>
          <a:bodyPr wrap="square" rtlCol="0" anchor="ctr"/>
          <a:lstStyle/>
          <a:p>
            <a:pPr algn="ctr" indent="0" marL="0">
              <a:buNone/>
            </a:pPr>
            <a:r>
              <a:rPr lang="en-US" sz="1000" dirty="0">
                <a:solidFill>
                  <a:srgbClr val="8B98AC"/>
                </a:solidFill>
                <a:latin typeface="Calibri" pitchFamily="34" charset="0"/>
                <a:ea typeface="Calibri" pitchFamily="34" charset="-122"/>
                <a:cs typeface="Calibri" pitchFamily="34" charset="-120"/>
              </a:rPr>
              <a:t>Submit the exact same wording to all three tools.</a:t>
            </a:r>
            <a:endParaRPr lang="en-US" sz="1000" dirty="0"/>
          </a:p>
        </p:txBody>
      </p:sp>
      <p:sp>
        <p:nvSpPr>
          <p:cNvPr id="13" name="Shape 11"/>
          <p:cNvSpPr/>
          <p:nvPr/>
        </p:nvSpPr>
        <p:spPr>
          <a:xfrm>
            <a:off x="3383280" y="3154680"/>
            <a:ext cx="2606040" cy="2286000"/>
          </a:xfrm>
          <a:prstGeom prst="roundRect">
            <a:avLst>
              <a:gd name="adj" fmla="val 3200"/>
            </a:avLst>
          </a:prstGeom>
          <a:solidFill>
            <a:srgbClr val="0D1B2A"/>
          </a:solidFill>
          <a:ln/>
        </p:spPr>
      </p:sp>
      <p:sp>
        <p:nvSpPr>
          <p:cNvPr id="14" name="Shape 12"/>
          <p:cNvSpPr/>
          <p:nvPr/>
        </p:nvSpPr>
        <p:spPr>
          <a:xfrm>
            <a:off x="4411980" y="3337560"/>
            <a:ext cx="548640" cy="548640"/>
          </a:xfrm>
          <a:prstGeom prst="ellipse">
            <a:avLst/>
          </a:prstGeom>
          <a:solidFill>
            <a:srgbClr val="2FE6D6"/>
          </a:solidFill>
          <a:ln/>
        </p:spPr>
      </p:sp>
      <p:sp>
        <p:nvSpPr>
          <p:cNvPr id="15" name="Text 13"/>
          <p:cNvSpPr/>
          <p:nvPr/>
        </p:nvSpPr>
        <p:spPr>
          <a:xfrm>
            <a:off x="4411980" y="3337560"/>
            <a:ext cx="548640" cy="548640"/>
          </a:xfrm>
          <a:prstGeom prst="rect">
            <a:avLst/>
          </a:prstGeom>
          <a:noFill/>
          <a:ln/>
        </p:spPr>
        <p:txBody>
          <a:bodyPr wrap="square" rtlCol="0" anchor="ctr"/>
          <a:lstStyle/>
          <a:p>
            <a:pPr algn="ctr" indent="0" marL="0">
              <a:buNone/>
            </a:pPr>
            <a:r>
              <a:rPr lang="en-US" sz="1300" b="1" dirty="0">
                <a:solidFill>
                  <a:srgbClr val="16213E"/>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3520440" y="4023360"/>
            <a:ext cx="2331720" cy="45720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Compare Structure</a:t>
            </a:r>
            <a:endParaRPr lang="en-US" sz="1250" dirty="0"/>
          </a:p>
        </p:txBody>
      </p:sp>
      <p:sp>
        <p:nvSpPr>
          <p:cNvPr id="17" name="Text 15"/>
          <p:cNvSpPr/>
          <p:nvPr/>
        </p:nvSpPr>
        <p:spPr>
          <a:xfrm>
            <a:off x="3520440" y="4480560"/>
            <a:ext cx="2331720" cy="822960"/>
          </a:xfrm>
          <a:prstGeom prst="rect">
            <a:avLst/>
          </a:prstGeom>
          <a:noFill/>
          <a:ln/>
        </p:spPr>
        <p:txBody>
          <a:bodyPr wrap="square" rtlCol="0" anchor="ctr"/>
          <a:lstStyle/>
          <a:p>
            <a:pPr algn="ctr" indent="0" marL="0">
              <a:buNone/>
            </a:pPr>
            <a:r>
              <a:rPr lang="en-US" sz="1000" dirty="0">
                <a:solidFill>
                  <a:srgbClr val="8B98AC"/>
                </a:solidFill>
                <a:latin typeface="Calibri" pitchFamily="34" charset="0"/>
                <a:ea typeface="Calibri" pitchFamily="34" charset="-122"/>
                <a:cs typeface="Calibri" pitchFamily="34" charset="-120"/>
              </a:rPr>
              <a:t>Note length, tone, formatting, and organization differences.</a:t>
            </a:r>
            <a:endParaRPr lang="en-US" sz="1000" dirty="0"/>
          </a:p>
        </p:txBody>
      </p:sp>
      <p:sp>
        <p:nvSpPr>
          <p:cNvPr id="18" name="Shape 16"/>
          <p:cNvSpPr/>
          <p:nvPr/>
        </p:nvSpPr>
        <p:spPr>
          <a:xfrm>
            <a:off x="6217920" y="3154680"/>
            <a:ext cx="2606040" cy="2286000"/>
          </a:xfrm>
          <a:prstGeom prst="roundRect">
            <a:avLst>
              <a:gd name="adj" fmla="val 3200"/>
            </a:avLst>
          </a:prstGeom>
          <a:solidFill>
            <a:srgbClr val="0D1B2A"/>
          </a:solidFill>
          <a:ln/>
        </p:spPr>
      </p:sp>
      <p:sp>
        <p:nvSpPr>
          <p:cNvPr id="19" name="Shape 17"/>
          <p:cNvSpPr/>
          <p:nvPr/>
        </p:nvSpPr>
        <p:spPr>
          <a:xfrm>
            <a:off x="7246620" y="3337560"/>
            <a:ext cx="548640" cy="548640"/>
          </a:xfrm>
          <a:prstGeom prst="ellipse">
            <a:avLst/>
          </a:prstGeom>
          <a:solidFill>
            <a:srgbClr val="2FE6D6"/>
          </a:solidFill>
          <a:ln/>
        </p:spPr>
      </p:sp>
      <p:sp>
        <p:nvSpPr>
          <p:cNvPr id="20" name="Text 18"/>
          <p:cNvSpPr/>
          <p:nvPr/>
        </p:nvSpPr>
        <p:spPr>
          <a:xfrm>
            <a:off x="7246620" y="3337560"/>
            <a:ext cx="548640" cy="548640"/>
          </a:xfrm>
          <a:prstGeom prst="rect">
            <a:avLst/>
          </a:prstGeom>
          <a:noFill/>
          <a:ln/>
        </p:spPr>
        <p:txBody>
          <a:bodyPr wrap="square" rtlCol="0" anchor="ctr"/>
          <a:lstStyle/>
          <a:p>
            <a:pPr algn="ctr" indent="0" marL="0">
              <a:buNone/>
            </a:pPr>
            <a:r>
              <a:rPr lang="en-US" sz="1300" b="1" dirty="0">
                <a:solidFill>
                  <a:srgbClr val="16213E"/>
                </a:solidFill>
                <a:latin typeface="Calibri" pitchFamily="34" charset="0"/>
                <a:ea typeface="Calibri" pitchFamily="34" charset="-122"/>
                <a:cs typeface="Calibri" pitchFamily="34" charset="-120"/>
              </a:rPr>
              <a:t>3</a:t>
            </a:r>
            <a:endParaRPr lang="en-US" sz="1300" dirty="0"/>
          </a:p>
        </p:txBody>
      </p:sp>
      <p:sp>
        <p:nvSpPr>
          <p:cNvPr id="21" name="Text 19"/>
          <p:cNvSpPr/>
          <p:nvPr/>
        </p:nvSpPr>
        <p:spPr>
          <a:xfrm>
            <a:off x="6355080" y="4023360"/>
            <a:ext cx="2331720" cy="45720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Check Sources</a:t>
            </a:r>
            <a:endParaRPr lang="en-US" sz="1250" dirty="0"/>
          </a:p>
        </p:txBody>
      </p:sp>
      <p:sp>
        <p:nvSpPr>
          <p:cNvPr id="22" name="Text 20"/>
          <p:cNvSpPr/>
          <p:nvPr/>
        </p:nvSpPr>
        <p:spPr>
          <a:xfrm>
            <a:off x="6355080" y="4480560"/>
            <a:ext cx="2331720" cy="822960"/>
          </a:xfrm>
          <a:prstGeom prst="rect">
            <a:avLst/>
          </a:prstGeom>
          <a:noFill/>
          <a:ln/>
        </p:spPr>
        <p:txBody>
          <a:bodyPr wrap="square" rtlCol="0" anchor="ctr"/>
          <a:lstStyle/>
          <a:p>
            <a:pPr algn="ctr" indent="0" marL="0">
              <a:buNone/>
            </a:pPr>
            <a:r>
              <a:rPr lang="en-US" sz="1000" dirty="0">
                <a:solidFill>
                  <a:srgbClr val="8B98AC"/>
                </a:solidFill>
                <a:latin typeface="Calibri" pitchFamily="34" charset="0"/>
                <a:ea typeface="Calibri" pitchFamily="34" charset="-122"/>
                <a:cs typeface="Calibri" pitchFamily="34" charset="-120"/>
              </a:rPr>
              <a:t>Which tool cited sources? Are they verifiable and current?</a:t>
            </a:r>
            <a:endParaRPr lang="en-US" sz="1000" dirty="0"/>
          </a:p>
        </p:txBody>
      </p:sp>
      <p:sp>
        <p:nvSpPr>
          <p:cNvPr id="23" name="Shape 21"/>
          <p:cNvSpPr/>
          <p:nvPr/>
        </p:nvSpPr>
        <p:spPr>
          <a:xfrm>
            <a:off x="9052560" y="3154680"/>
            <a:ext cx="2606040" cy="2286000"/>
          </a:xfrm>
          <a:prstGeom prst="roundRect">
            <a:avLst>
              <a:gd name="adj" fmla="val 3200"/>
            </a:avLst>
          </a:prstGeom>
          <a:solidFill>
            <a:srgbClr val="0D1B2A"/>
          </a:solidFill>
          <a:ln/>
        </p:spPr>
      </p:sp>
      <p:sp>
        <p:nvSpPr>
          <p:cNvPr id="24" name="Shape 22"/>
          <p:cNvSpPr/>
          <p:nvPr/>
        </p:nvSpPr>
        <p:spPr>
          <a:xfrm>
            <a:off x="10081260" y="3337560"/>
            <a:ext cx="548640" cy="548640"/>
          </a:xfrm>
          <a:prstGeom prst="ellipse">
            <a:avLst/>
          </a:prstGeom>
          <a:solidFill>
            <a:srgbClr val="2FE6D6"/>
          </a:solidFill>
          <a:ln/>
        </p:spPr>
      </p:sp>
      <p:sp>
        <p:nvSpPr>
          <p:cNvPr id="25" name="Text 23"/>
          <p:cNvSpPr/>
          <p:nvPr/>
        </p:nvSpPr>
        <p:spPr>
          <a:xfrm>
            <a:off x="10081260" y="3337560"/>
            <a:ext cx="548640" cy="548640"/>
          </a:xfrm>
          <a:prstGeom prst="rect">
            <a:avLst/>
          </a:prstGeom>
          <a:noFill/>
          <a:ln/>
        </p:spPr>
        <p:txBody>
          <a:bodyPr wrap="square" rtlCol="0" anchor="ctr"/>
          <a:lstStyle/>
          <a:p>
            <a:pPr algn="ctr" indent="0" marL="0">
              <a:buNone/>
            </a:pPr>
            <a:r>
              <a:rPr lang="en-US" sz="1300" b="1" dirty="0">
                <a:solidFill>
                  <a:srgbClr val="16213E"/>
                </a:solidFill>
                <a:latin typeface="Calibri" pitchFamily="34" charset="0"/>
                <a:ea typeface="Calibri" pitchFamily="34" charset="-122"/>
                <a:cs typeface="Calibri" pitchFamily="34" charset="-120"/>
              </a:rPr>
              <a:t>4</a:t>
            </a:r>
            <a:endParaRPr lang="en-US" sz="1300" dirty="0"/>
          </a:p>
        </p:txBody>
      </p:sp>
      <p:sp>
        <p:nvSpPr>
          <p:cNvPr id="26" name="Text 24"/>
          <p:cNvSpPr/>
          <p:nvPr/>
        </p:nvSpPr>
        <p:spPr>
          <a:xfrm>
            <a:off x="9189720" y="4023360"/>
            <a:ext cx="2331720" cy="45720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Spot Differences</a:t>
            </a:r>
            <a:endParaRPr lang="en-US" sz="1250" dirty="0"/>
          </a:p>
        </p:txBody>
      </p:sp>
      <p:sp>
        <p:nvSpPr>
          <p:cNvPr id="27" name="Text 25"/>
          <p:cNvSpPr/>
          <p:nvPr/>
        </p:nvSpPr>
        <p:spPr>
          <a:xfrm>
            <a:off x="9189720" y="4480560"/>
            <a:ext cx="2331720" cy="822960"/>
          </a:xfrm>
          <a:prstGeom prst="rect">
            <a:avLst/>
          </a:prstGeom>
          <a:noFill/>
          <a:ln/>
        </p:spPr>
        <p:txBody>
          <a:bodyPr wrap="square" rtlCol="0" anchor="ctr"/>
          <a:lstStyle/>
          <a:p>
            <a:pPr algn="ctr" indent="0" marL="0">
              <a:buNone/>
            </a:pPr>
            <a:r>
              <a:rPr lang="en-US" sz="1000" dirty="0">
                <a:solidFill>
                  <a:srgbClr val="8B98AC"/>
                </a:solidFill>
                <a:latin typeface="Calibri" pitchFamily="34" charset="0"/>
                <a:ea typeface="Calibri" pitchFamily="34" charset="-122"/>
                <a:cs typeface="Calibri" pitchFamily="34" charset="-120"/>
              </a:rPr>
              <a:t>Did any tool give conflicting facts or unsupported claims?</a:t>
            </a:r>
            <a:endParaRPr lang="en-US" sz="1000" dirty="0"/>
          </a:p>
        </p:txBody>
      </p:sp>
      <p:sp>
        <p:nvSpPr>
          <p:cNvPr id="28" name="Text 26"/>
          <p:cNvSpPr/>
          <p:nvPr/>
        </p:nvSpPr>
        <p:spPr>
          <a:xfrm>
            <a:off x="548640" y="5715000"/>
            <a:ext cx="2743200" cy="274320"/>
          </a:xfrm>
          <a:prstGeom prst="rect">
            <a:avLst/>
          </a:prstGeom>
          <a:noFill/>
          <a:ln/>
        </p:spPr>
        <p:txBody>
          <a:bodyPr wrap="square" rtlCol="0" anchor="ctr"/>
          <a:lstStyle/>
          <a:p>
            <a:pPr indent="0" marL="0">
              <a:buNone/>
            </a:pPr>
            <a:r>
              <a:rPr lang="en-US" sz="1100" b="1" dirty="0">
                <a:solidFill>
                  <a:srgbClr val="2FE6D6"/>
                </a:solidFill>
                <a:latin typeface="Calibri" pitchFamily="34" charset="0"/>
                <a:ea typeface="Calibri" pitchFamily="34" charset="-122"/>
                <a:cs typeface="Calibri" pitchFamily="34" charset="-120"/>
              </a:rPr>
              <a:t>DELIVERABLE</a:t>
            </a:r>
            <a:endParaRPr lang="en-US" sz="1100" dirty="0"/>
          </a:p>
        </p:txBody>
      </p:sp>
      <p:sp>
        <p:nvSpPr>
          <p:cNvPr id="29" name="Text 27"/>
          <p:cNvSpPr/>
          <p:nvPr/>
        </p:nvSpPr>
        <p:spPr>
          <a:xfrm>
            <a:off x="548640" y="5989320"/>
            <a:ext cx="10972800" cy="548640"/>
          </a:xfrm>
          <a:prstGeom prst="rect">
            <a:avLst/>
          </a:prstGeom>
          <a:noFill/>
          <a:ln/>
        </p:spPr>
        <p:txBody>
          <a:bodyPr wrap="square" rtlCol="0" anchor="ctr"/>
          <a:lstStyle/>
          <a:p>
            <a:pPr indent="0" marL="0">
              <a:buNone/>
            </a:pPr>
            <a:r>
              <a:rPr lang="en-US" sz="1250" dirty="0">
                <a:solidFill>
                  <a:srgbClr val="E6EAF2"/>
                </a:solidFill>
                <a:latin typeface="Calibri" pitchFamily="34" charset="0"/>
                <a:ea typeface="Calibri" pitchFamily="34" charset="-122"/>
                <a:cs typeface="Calibri" pitchFamily="34" charset="-120"/>
              </a:rPr>
              <a:t>In pairs or small groups, be ready to share one notable difference between the three outputs — 5 minutes for the exercise, 5 minutes for group share-back.</a:t>
            </a:r>
            <a:endParaRPr lang="en-US" sz="1250" dirty="0"/>
          </a:p>
        </p:txBody>
      </p:sp>
      <p:sp>
        <p:nvSpPr>
          <p:cNvPr id="30" name="Text 28"/>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22 / 30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PRACTICAL SKILL</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Prompt Engineering Fundamentals</a:t>
            </a:r>
            <a:endParaRPr lang="en-US" sz="3000" dirty="0"/>
          </a:p>
        </p:txBody>
      </p:sp>
      <p:sp>
        <p:nvSpPr>
          <p:cNvPr id="4" name="Shape 2"/>
          <p:cNvSpPr/>
          <p:nvPr/>
        </p:nvSpPr>
        <p:spPr>
          <a:xfrm>
            <a:off x="548640" y="1554480"/>
            <a:ext cx="3611880" cy="1554480"/>
          </a:xfrm>
          <a:prstGeom prst="roundRect">
            <a:avLst>
              <a:gd name="adj" fmla="val 4706"/>
            </a:avLst>
          </a:prstGeom>
          <a:solidFill>
            <a:srgbClr val="F4F6FA"/>
          </a:solidFill>
          <a:ln w="12700">
            <a:solidFill>
              <a:srgbClr val="D8DEE9"/>
            </a:solidFill>
            <a:prstDash val="solid"/>
          </a:ln>
        </p:spPr>
      </p:sp>
      <p:sp>
        <p:nvSpPr>
          <p:cNvPr id="5" name="Shape 3"/>
          <p:cNvSpPr/>
          <p:nvPr/>
        </p:nvSpPr>
        <p:spPr>
          <a:xfrm>
            <a:off x="694944" y="1700784"/>
            <a:ext cx="438912" cy="438912"/>
          </a:xfrm>
          <a:prstGeom prst="ellipse">
            <a:avLst/>
          </a:prstGeom>
          <a:solidFill>
            <a:srgbClr val="16213E"/>
          </a:solidFill>
          <a:ln/>
        </p:spPr>
      </p:sp>
      <p:sp>
        <p:nvSpPr>
          <p:cNvPr id="6" name="Text 4"/>
          <p:cNvSpPr/>
          <p:nvPr/>
        </p:nvSpPr>
        <p:spPr>
          <a:xfrm>
            <a:off x="694944" y="1700784"/>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731520" y="2176272"/>
            <a:ext cx="3246120" cy="32004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Be Specific</a:t>
            </a:r>
            <a:endParaRPr lang="en-US" sz="1250" dirty="0"/>
          </a:p>
        </p:txBody>
      </p:sp>
      <p:sp>
        <p:nvSpPr>
          <p:cNvPr id="8" name="Text 6"/>
          <p:cNvSpPr/>
          <p:nvPr/>
        </p:nvSpPr>
        <p:spPr>
          <a:xfrm>
            <a:off x="731520" y="2468880"/>
            <a:ext cx="3246120" cy="5943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State exactly what you want, the format, and the intended audience.</a:t>
            </a:r>
            <a:endParaRPr lang="en-US" sz="1000" dirty="0"/>
          </a:p>
        </p:txBody>
      </p:sp>
      <p:sp>
        <p:nvSpPr>
          <p:cNvPr id="9" name="Shape 7"/>
          <p:cNvSpPr/>
          <p:nvPr/>
        </p:nvSpPr>
        <p:spPr>
          <a:xfrm>
            <a:off x="4343400" y="1554480"/>
            <a:ext cx="3611880" cy="1554480"/>
          </a:xfrm>
          <a:prstGeom prst="roundRect">
            <a:avLst>
              <a:gd name="adj" fmla="val 4706"/>
            </a:avLst>
          </a:prstGeom>
          <a:solidFill>
            <a:srgbClr val="F4F6FA"/>
          </a:solidFill>
          <a:ln w="12700">
            <a:solidFill>
              <a:srgbClr val="D8DEE9"/>
            </a:solidFill>
            <a:prstDash val="solid"/>
          </a:ln>
        </p:spPr>
      </p:sp>
      <p:sp>
        <p:nvSpPr>
          <p:cNvPr id="10" name="Shape 8"/>
          <p:cNvSpPr/>
          <p:nvPr/>
        </p:nvSpPr>
        <p:spPr>
          <a:xfrm>
            <a:off x="4489704" y="1700784"/>
            <a:ext cx="438912" cy="438912"/>
          </a:xfrm>
          <a:prstGeom prst="ellipse">
            <a:avLst/>
          </a:prstGeom>
          <a:solidFill>
            <a:srgbClr val="16213E"/>
          </a:solidFill>
          <a:ln/>
        </p:spPr>
      </p:sp>
      <p:sp>
        <p:nvSpPr>
          <p:cNvPr id="11" name="Text 9"/>
          <p:cNvSpPr/>
          <p:nvPr/>
        </p:nvSpPr>
        <p:spPr>
          <a:xfrm>
            <a:off x="4489704" y="1700784"/>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4526280" y="2176272"/>
            <a:ext cx="3246120" cy="32004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Provide Context</a:t>
            </a:r>
            <a:endParaRPr lang="en-US" sz="1250" dirty="0"/>
          </a:p>
        </p:txBody>
      </p:sp>
      <p:sp>
        <p:nvSpPr>
          <p:cNvPr id="13" name="Text 11"/>
          <p:cNvSpPr/>
          <p:nvPr/>
        </p:nvSpPr>
        <p:spPr>
          <a:xfrm>
            <a:off x="4526280" y="2468880"/>
            <a:ext cx="3246120" cy="5943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Share relevant background, constraints, or examples the model needs.</a:t>
            </a:r>
            <a:endParaRPr lang="en-US" sz="1000" dirty="0"/>
          </a:p>
        </p:txBody>
      </p:sp>
      <p:sp>
        <p:nvSpPr>
          <p:cNvPr id="14" name="Shape 12"/>
          <p:cNvSpPr/>
          <p:nvPr/>
        </p:nvSpPr>
        <p:spPr>
          <a:xfrm>
            <a:off x="8138160" y="1554480"/>
            <a:ext cx="3611880" cy="1554480"/>
          </a:xfrm>
          <a:prstGeom prst="roundRect">
            <a:avLst>
              <a:gd name="adj" fmla="val 4706"/>
            </a:avLst>
          </a:prstGeom>
          <a:solidFill>
            <a:srgbClr val="F4F6FA"/>
          </a:solidFill>
          <a:ln w="12700">
            <a:solidFill>
              <a:srgbClr val="D8DEE9"/>
            </a:solidFill>
            <a:prstDash val="solid"/>
          </a:ln>
        </p:spPr>
      </p:sp>
      <p:sp>
        <p:nvSpPr>
          <p:cNvPr id="15" name="Shape 13"/>
          <p:cNvSpPr/>
          <p:nvPr/>
        </p:nvSpPr>
        <p:spPr>
          <a:xfrm>
            <a:off x="8284464" y="1700784"/>
            <a:ext cx="438912" cy="438912"/>
          </a:xfrm>
          <a:prstGeom prst="ellipse">
            <a:avLst/>
          </a:prstGeom>
          <a:solidFill>
            <a:srgbClr val="16213E"/>
          </a:solidFill>
          <a:ln/>
        </p:spPr>
      </p:sp>
      <p:sp>
        <p:nvSpPr>
          <p:cNvPr id="16" name="Text 14"/>
          <p:cNvSpPr/>
          <p:nvPr/>
        </p:nvSpPr>
        <p:spPr>
          <a:xfrm>
            <a:off x="8284464" y="1700784"/>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8321040" y="2176272"/>
            <a:ext cx="3246120" cy="32004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Assign a Role or Goal</a:t>
            </a:r>
            <a:endParaRPr lang="en-US" sz="1250" dirty="0"/>
          </a:p>
        </p:txBody>
      </p:sp>
      <p:sp>
        <p:nvSpPr>
          <p:cNvPr id="18" name="Text 16"/>
          <p:cNvSpPr/>
          <p:nvPr/>
        </p:nvSpPr>
        <p:spPr>
          <a:xfrm>
            <a:off x="8321040" y="2468880"/>
            <a:ext cx="3246120" cy="5943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e.g., "Act as a technical reviewer" focuses tone and depth.</a:t>
            </a:r>
            <a:endParaRPr lang="en-US" sz="1000" dirty="0"/>
          </a:p>
        </p:txBody>
      </p:sp>
      <p:sp>
        <p:nvSpPr>
          <p:cNvPr id="19" name="Shape 17"/>
          <p:cNvSpPr/>
          <p:nvPr/>
        </p:nvSpPr>
        <p:spPr>
          <a:xfrm>
            <a:off x="548640" y="3291840"/>
            <a:ext cx="3611880" cy="1554480"/>
          </a:xfrm>
          <a:prstGeom prst="roundRect">
            <a:avLst>
              <a:gd name="adj" fmla="val 4706"/>
            </a:avLst>
          </a:prstGeom>
          <a:solidFill>
            <a:srgbClr val="F4F6FA"/>
          </a:solidFill>
          <a:ln w="12700">
            <a:solidFill>
              <a:srgbClr val="D8DEE9"/>
            </a:solidFill>
            <a:prstDash val="solid"/>
          </a:ln>
        </p:spPr>
      </p:sp>
      <p:sp>
        <p:nvSpPr>
          <p:cNvPr id="20" name="Shape 18"/>
          <p:cNvSpPr/>
          <p:nvPr/>
        </p:nvSpPr>
        <p:spPr>
          <a:xfrm>
            <a:off x="694944" y="3438144"/>
            <a:ext cx="438912" cy="438912"/>
          </a:xfrm>
          <a:prstGeom prst="ellipse">
            <a:avLst/>
          </a:prstGeom>
          <a:solidFill>
            <a:srgbClr val="16213E"/>
          </a:solidFill>
          <a:ln/>
        </p:spPr>
      </p:sp>
      <p:sp>
        <p:nvSpPr>
          <p:cNvPr id="21" name="Text 19"/>
          <p:cNvSpPr/>
          <p:nvPr/>
        </p:nvSpPr>
        <p:spPr>
          <a:xfrm>
            <a:off x="694944" y="3438144"/>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731520" y="3913632"/>
            <a:ext cx="3246120" cy="32004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Request Step-by-Step Reasoning</a:t>
            </a:r>
            <a:endParaRPr lang="en-US" sz="1250" dirty="0"/>
          </a:p>
        </p:txBody>
      </p:sp>
      <p:sp>
        <p:nvSpPr>
          <p:cNvPr id="23" name="Text 21"/>
          <p:cNvSpPr/>
          <p:nvPr/>
        </p:nvSpPr>
        <p:spPr>
          <a:xfrm>
            <a:off x="731520" y="4206240"/>
            <a:ext cx="3246120" cy="5943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For complex tasks, ask the model to work through steps explicitly.</a:t>
            </a:r>
            <a:endParaRPr lang="en-US" sz="1000" dirty="0"/>
          </a:p>
        </p:txBody>
      </p:sp>
      <p:sp>
        <p:nvSpPr>
          <p:cNvPr id="24" name="Shape 22"/>
          <p:cNvSpPr/>
          <p:nvPr/>
        </p:nvSpPr>
        <p:spPr>
          <a:xfrm>
            <a:off x="4343400" y="3291840"/>
            <a:ext cx="3611880" cy="1554480"/>
          </a:xfrm>
          <a:prstGeom prst="roundRect">
            <a:avLst>
              <a:gd name="adj" fmla="val 4706"/>
            </a:avLst>
          </a:prstGeom>
          <a:solidFill>
            <a:srgbClr val="F4F6FA"/>
          </a:solidFill>
          <a:ln w="12700">
            <a:solidFill>
              <a:srgbClr val="D8DEE9"/>
            </a:solidFill>
            <a:prstDash val="solid"/>
          </a:ln>
        </p:spPr>
      </p:sp>
      <p:sp>
        <p:nvSpPr>
          <p:cNvPr id="25" name="Shape 23"/>
          <p:cNvSpPr/>
          <p:nvPr/>
        </p:nvSpPr>
        <p:spPr>
          <a:xfrm>
            <a:off x="4489704" y="3438144"/>
            <a:ext cx="438912" cy="438912"/>
          </a:xfrm>
          <a:prstGeom prst="ellipse">
            <a:avLst/>
          </a:prstGeom>
          <a:solidFill>
            <a:srgbClr val="16213E"/>
          </a:solidFill>
          <a:ln/>
        </p:spPr>
      </p:sp>
      <p:sp>
        <p:nvSpPr>
          <p:cNvPr id="26" name="Text 24"/>
          <p:cNvSpPr/>
          <p:nvPr/>
        </p:nvSpPr>
        <p:spPr>
          <a:xfrm>
            <a:off x="4489704" y="3438144"/>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4526280" y="3913632"/>
            <a:ext cx="3246120" cy="32004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Iterate</a:t>
            </a:r>
            <a:endParaRPr lang="en-US" sz="1250" dirty="0"/>
          </a:p>
        </p:txBody>
      </p:sp>
      <p:sp>
        <p:nvSpPr>
          <p:cNvPr id="28" name="Text 26"/>
          <p:cNvSpPr/>
          <p:nvPr/>
        </p:nvSpPr>
        <p:spPr>
          <a:xfrm>
            <a:off x="4526280" y="4206240"/>
            <a:ext cx="3246120" cy="5943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Treat the first response as a draft — refine with follow-up instructions.</a:t>
            </a:r>
            <a:endParaRPr lang="en-US" sz="1000" dirty="0"/>
          </a:p>
        </p:txBody>
      </p:sp>
      <p:sp>
        <p:nvSpPr>
          <p:cNvPr id="29" name="Shape 27"/>
          <p:cNvSpPr/>
          <p:nvPr/>
        </p:nvSpPr>
        <p:spPr>
          <a:xfrm>
            <a:off x="8138160" y="3291840"/>
            <a:ext cx="3611880" cy="1554480"/>
          </a:xfrm>
          <a:prstGeom prst="roundRect">
            <a:avLst>
              <a:gd name="adj" fmla="val 4706"/>
            </a:avLst>
          </a:prstGeom>
          <a:solidFill>
            <a:srgbClr val="F4F6FA"/>
          </a:solidFill>
          <a:ln w="12700">
            <a:solidFill>
              <a:srgbClr val="D8DEE9"/>
            </a:solidFill>
            <a:prstDash val="solid"/>
          </a:ln>
        </p:spPr>
      </p:sp>
      <p:sp>
        <p:nvSpPr>
          <p:cNvPr id="30" name="Shape 28"/>
          <p:cNvSpPr/>
          <p:nvPr/>
        </p:nvSpPr>
        <p:spPr>
          <a:xfrm>
            <a:off x="8284464" y="3438144"/>
            <a:ext cx="438912" cy="438912"/>
          </a:xfrm>
          <a:prstGeom prst="ellipse">
            <a:avLst/>
          </a:prstGeom>
          <a:solidFill>
            <a:srgbClr val="16213E"/>
          </a:solidFill>
          <a:ln/>
        </p:spPr>
      </p:sp>
      <p:sp>
        <p:nvSpPr>
          <p:cNvPr id="31" name="Text 29"/>
          <p:cNvSpPr/>
          <p:nvPr/>
        </p:nvSpPr>
        <p:spPr>
          <a:xfrm>
            <a:off x="8284464" y="3438144"/>
            <a:ext cx="438912" cy="438912"/>
          </a:xfrm>
          <a:prstGeom prst="rect">
            <a:avLst/>
          </a:prstGeom>
          <a:noFill/>
          <a:ln/>
        </p:spPr>
        <p:txBody>
          <a:bodyPr wrap="square" rtlCol="0" anchor="ctr"/>
          <a:lstStyle/>
          <a:p>
            <a:pPr algn="ctr" indent="0" marL="0">
              <a:buNone/>
            </a:pPr>
            <a:r>
              <a:rPr lang="en-US" sz="1100" b="1" dirty="0">
                <a:solidFill>
                  <a:srgbClr val="2FE6D6"/>
                </a:solidFill>
                <a:latin typeface="Calibri" pitchFamily="34" charset="0"/>
                <a:ea typeface="Calibri" pitchFamily="34" charset="-122"/>
                <a:cs typeface="Calibri" pitchFamily="34" charset="-120"/>
              </a:rPr>
              <a:t>6</a:t>
            </a:r>
            <a:endParaRPr lang="en-US" sz="1100" dirty="0"/>
          </a:p>
        </p:txBody>
      </p:sp>
      <p:sp>
        <p:nvSpPr>
          <p:cNvPr id="32" name="Text 30"/>
          <p:cNvSpPr/>
          <p:nvPr/>
        </p:nvSpPr>
        <p:spPr>
          <a:xfrm>
            <a:off x="8321040" y="3913632"/>
            <a:ext cx="3246120" cy="320040"/>
          </a:xfrm>
          <a:prstGeom prst="rect">
            <a:avLst/>
          </a:prstGeom>
          <a:noFill/>
          <a:ln/>
        </p:spPr>
        <p:txBody>
          <a:bodyPr wrap="square" rtlCol="0" anchor="ctr"/>
          <a:lstStyle/>
          <a:p>
            <a:pPr indent="0" marL="0">
              <a:buNone/>
            </a:pPr>
            <a:r>
              <a:rPr lang="en-US" sz="1250" b="1" dirty="0">
                <a:solidFill>
                  <a:srgbClr val="16213E"/>
                </a:solidFill>
                <a:latin typeface="Cambria" pitchFamily="34" charset="0"/>
                <a:ea typeface="Cambria" pitchFamily="34" charset="-122"/>
                <a:cs typeface="Cambria" pitchFamily="34" charset="-120"/>
              </a:rPr>
              <a:t>Specify Format</a:t>
            </a:r>
            <a:endParaRPr lang="en-US" sz="1250" dirty="0"/>
          </a:p>
        </p:txBody>
      </p:sp>
      <p:sp>
        <p:nvSpPr>
          <p:cNvPr id="33" name="Text 31"/>
          <p:cNvSpPr/>
          <p:nvPr/>
        </p:nvSpPr>
        <p:spPr>
          <a:xfrm>
            <a:off x="8321040" y="4206240"/>
            <a:ext cx="3246120" cy="5943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Ask for bullet points, tables, word counts, or specific structure.</a:t>
            </a:r>
            <a:endParaRPr lang="en-US" sz="1000" dirty="0"/>
          </a:p>
        </p:txBody>
      </p:sp>
      <p:sp>
        <p:nvSpPr>
          <p:cNvPr id="34" name="Shape 32"/>
          <p:cNvSpPr/>
          <p:nvPr/>
        </p:nvSpPr>
        <p:spPr>
          <a:xfrm>
            <a:off x="548640" y="5120640"/>
            <a:ext cx="5394960" cy="868680"/>
          </a:xfrm>
          <a:prstGeom prst="roundRect">
            <a:avLst>
              <a:gd name="adj" fmla="val 8421"/>
            </a:avLst>
          </a:prstGeom>
          <a:solidFill>
            <a:srgbClr val="FFFFFF"/>
          </a:solidFill>
          <a:ln w="12700">
            <a:solidFill>
              <a:srgbClr val="C24C4C"/>
            </a:solidFill>
            <a:prstDash val="solid"/>
          </a:ln>
          <a:effectLst>
            <a:outerShdw sx="100000" sy="100000" kx="0" ky="0" algn="bl" rotWithShape="0" blurRad="101600" dist="38100" dir="5400000">
              <a:srgbClr val="0D1B2A">
                <a:alpha val="12000"/>
              </a:srgbClr>
            </a:outerShdw>
          </a:effectLst>
        </p:spPr>
      </p:sp>
      <p:sp>
        <p:nvSpPr>
          <p:cNvPr id="35" name="Text 33"/>
          <p:cNvSpPr/>
          <p:nvPr/>
        </p:nvSpPr>
        <p:spPr>
          <a:xfrm>
            <a:off x="777240" y="5193792"/>
            <a:ext cx="3657600" cy="228600"/>
          </a:xfrm>
          <a:prstGeom prst="rect">
            <a:avLst/>
          </a:prstGeom>
          <a:noFill/>
          <a:ln/>
        </p:spPr>
        <p:txBody>
          <a:bodyPr wrap="square" rtlCol="0" anchor="ctr"/>
          <a:lstStyle/>
          <a:p>
            <a:pPr indent="0" marL="0">
              <a:buNone/>
            </a:pPr>
            <a:r>
              <a:rPr lang="en-US" sz="950" b="1" dirty="0">
                <a:solidFill>
                  <a:srgbClr val="C24C4C"/>
                </a:solidFill>
                <a:latin typeface="Calibri" pitchFamily="34" charset="0"/>
                <a:ea typeface="Calibri" pitchFamily="34" charset="-122"/>
                <a:cs typeface="Calibri" pitchFamily="34" charset="-120"/>
              </a:rPr>
              <a:t>WEAK PROMPT</a:t>
            </a:r>
            <a:endParaRPr lang="en-US" sz="950" dirty="0"/>
          </a:p>
        </p:txBody>
      </p:sp>
      <p:sp>
        <p:nvSpPr>
          <p:cNvPr id="36" name="Text 34"/>
          <p:cNvSpPr/>
          <p:nvPr/>
        </p:nvSpPr>
        <p:spPr>
          <a:xfrm>
            <a:off x="777240" y="5440680"/>
            <a:ext cx="4937760" cy="457200"/>
          </a:xfrm>
          <a:prstGeom prst="rect">
            <a:avLst/>
          </a:prstGeom>
          <a:noFill/>
          <a:ln/>
        </p:spPr>
        <p:txBody>
          <a:bodyPr wrap="square" rtlCol="0" anchor="ctr"/>
          <a:lstStyle/>
          <a:p>
            <a:pPr indent="0" marL="0">
              <a:buNone/>
            </a:pPr>
            <a:r>
              <a:rPr lang="en-US" sz="1200" i="1" dirty="0">
                <a:solidFill>
                  <a:srgbClr val="5B6B82"/>
                </a:solidFill>
                <a:latin typeface="Calibri" pitchFamily="34" charset="0"/>
                <a:ea typeface="Calibri" pitchFamily="34" charset="-122"/>
                <a:cs typeface="Calibri" pitchFamily="34" charset="-120"/>
              </a:rPr>
              <a:t>"Write about marketing."</a:t>
            </a:r>
            <a:endParaRPr lang="en-US" sz="1200" dirty="0"/>
          </a:p>
        </p:txBody>
      </p:sp>
      <p:sp>
        <p:nvSpPr>
          <p:cNvPr id="37" name="Shape 35"/>
          <p:cNvSpPr/>
          <p:nvPr/>
        </p:nvSpPr>
        <p:spPr>
          <a:xfrm>
            <a:off x="6126480" y="5120640"/>
            <a:ext cx="5486400" cy="868680"/>
          </a:xfrm>
          <a:prstGeom prst="roundRect">
            <a:avLst>
              <a:gd name="adj" fmla="val 8421"/>
            </a:avLst>
          </a:prstGeom>
          <a:solidFill>
            <a:srgbClr val="FFFFFF"/>
          </a:solidFill>
          <a:ln w="12700">
            <a:solidFill>
              <a:srgbClr val="2FA36B"/>
            </a:solidFill>
            <a:prstDash val="solid"/>
          </a:ln>
          <a:effectLst>
            <a:outerShdw sx="100000" sy="100000" kx="0" ky="0" algn="bl" rotWithShape="0" blurRad="101600" dist="38100" dir="5400000">
              <a:srgbClr val="0D1B2A">
                <a:alpha val="12000"/>
              </a:srgbClr>
            </a:outerShdw>
          </a:effectLst>
        </p:spPr>
      </p:sp>
      <p:sp>
        <p:nvSpPr>
          <p:cNvPr id="38" name="Text 36"/>
          <p:cNvSpPr/>
          <p:nvPr/>
        </p:nvSpPr>
        <p:spPr>
          <a:xfrm>
            <a:off x="6355080" y="5193792"/>
            <a:ext cx="3657600" cy="228600"/>
          </a:xfrm>
          <a:prstGeom prst="rect">
            <a:avLst/>
          </a:prstGeom>
          <a:noFill/>
          <a:ln/>
        </p:spPr>
        <p:txBody>
          <a:bodyPr wrap="square" rtlCol="0" anchor="ctr"/>
          <a:lstStyle/>
          <a:p>
            <a:pPr indent="0" marL="0">
              <a:buNone/>
            </a:pPr>
            <a:r>
              <a:rPr lang="en-US" sz="950" b="1" dirty="0">
                <a:solidFill>
                  <a:srgbClr val="2FA36B"/>
                </a:solidFill>
                <a:latin typeface="Calibri" pitchFamily="34" charset="0"/>
                <a:ea typeface="Calibri" pitchFamily="34" charset="-122"/>
                <a:cs typeface="Calibri" pitchFamily="34" charset="-120"/>
              </a:rPr>
              <a:t>STRONG PROMPT</a:t>
            </a:r>
            <a:endParaRPr lang="en-US" sz="950" dirty="0"/>
          </a:p>
        </p:txBody>
      </p:sp>
      <p:sp>
        <p:nvSpPr>
          <p:cNvPr id="39" name="Text 37"/>
          <p:cNvSpPr/>
          <p:nvPr/>
        </p:nvSpPr>
        <p:spPr>
          <a:xfrm>
            <a:off x="6355080" y="5440680"/>
            <a:ext cx="5074920" cy="502920"/>
          </a:xfrm>
          <a:prstGeom prst="rect">
            <a:avLst/>
          </a:prstGeom>
          <a:noFill/>
          <a:ln/>
        </p:spPr>
        <p:txBody>
          <a:bodyPr wrap="square" rtlCol="0" anchor="ctr"/>
          <a:lstStyle/>
          <a:p>
            <a:pPr indent="0" marL="0">
              <a:buNone/>
            </a:pPr>
            <a:r>
              <a:rPr lang="en-US" sz="1100" i="1" dirty="0">
                <a:solidFill>
                  <a:srgbClr val="5B6B82"/>
                </a:solidFill>
                <a:latin typeface="Calibri" pitchFamily="34" charset="0"/>
                <a:ea typeface="Calibri" pitchFamily="34" charset="-122"/>
                <a:cs typeface="Calibri" pitchFamily="34" charset="-120"/>
              </a:rPr>
              <a:t>"Act as a marketing consultant. Write 3 bullet points on low-cost customer retention tactics for a small local retail store."</a:t>
            </a:r>
            <a:endParaRPr lang="en-US" sz="1100" dirty="0"/>
          </a:p>
        </p:txBody>
      </p:sp>
      <p:sp>
        <p:nvSpPr>
          <p:cNvPr id="40" name="Text 38"/>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23 / 30</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CRITICAL THINKING SKILL</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Output Evaluation Framework</a:t>
            </a:r>
            <a:endParaRPr lang="en-US" sz="3000" dirty="0"/>
          </a:p>
        </p:txBody>
      </p:sp>
      <p:sp>
        <p:nvSpPr>
          <p:cNvPr id="4" name="Text 2"/>
          <p:cNvSpPr/>
          <p:nvPr/>
        </p:nvSpPr>
        <p:spPr>
          <a:xfrm>
            <a:off x="548640" y="1417320"/>
            <a:ext cx="10058400" cy="365760"/>
          </a:xfrm>
          <a:prstGeom prst="rect">
            <a:avLst/>
          </a:prstGeom>
          <a:noFill/>
          <a:ln/>
        </p:spPr>
        <p:txBody>
          <a:bodyPr wrap="square" rtlCol="0" anchor="ctr"/>
          <a:lstStyle/>
          <a:p>
            <a:pPr indent="0" marL="0">
              <a:buNone/>
            </a:pPr>
            <a:r>
              <a:rPr lang="en-US" sz="1300" i="1" dirty="0">
                <a:solidFill>
                  <a:srgbClr val="5B6B82"/>
                </a:solidFill>
                <a:latin typeface="Calibri" pitchFamily="34" charset="0"/>
                <a:ea typeface="Calibri" pitchFamily="34" charset="-122"/>
                <a:cs typeface="Calibri" pitchFamily="34" charset="-120"/>
              </a:rPr>
              <a:t>Before trusting or using AI-generated content, apply the C.R.A.F.T. check:</a:t>
            </a:r>
            <a:endParaRPr lang="en-US" sz="1300" dirty="0"/>
          </a:p>
        </p:txBody>
      </p:sp>
      <p:sp>
        <p:nvSpPr>
          <p:cNvPr id="5" name="Shape 3"/>
          <p:cNvSpPr/>
          <p:nvPr/>
        </p:nvSpPr>
        <p:spPr>
          <a:xfrm>
            <a:off x="548640" y="1965960"/>
            <a:ext cx="11064240" cy="749808"/>
          </a:xfrm>
          <a:prstGeom prst="roundRect">
            <a:avLst>
              <a:gd name="adj" fmla="val 9756"/>
            </a:avLst>
          </a:prstGeom>
          <a:solidFill>
            <a:srgbClr val="F4F6FA"/>
          </a:solidFill>
          <a:ln w="12700">
            <a:solidFill>
              <a:srgbClr val="D8DEE9"/>
            </a:solidFill>
            <a:prstDash val="solid"/>
          </a:ln>
        </p:spPr>
      </p:sp>
      <p:sp>
        <p:nvSpPr>
          <p:cNvPr id="6" name="Shape 4"/>
          <p:cNvSpPr/>
          <p:nvPr/>
        </p:nvSpPr>
        <p:spPr>
          <a:xfrm>
            <a:off x="850392" y="2048256"/>
            <a:ext cx="585216" cy="585216"/>
          </a:xfrm>
          <a:prstGeom prst="ellipse">
            <a:avLst/>
          </a:prstGeom>
          <a:solidFill>
            <a:srgbClr val="16213E"/>
          </a:solidFill>
          <a:ln/>
        </p:spPr>
      </p:sp>
      <p:sp>
        <p:nvSpPr>
          <p:cNvPr id="7" name="Text 5"/>
          <p:cNvSpPr/>
          <p:nvPr/>
        </p:nvSpPr>
        <p:spPr>
          <a:xfrm>
            <a:off x="850392" y="2048256"/>
            <a:ext cx="585216" cy="585216"/>
          </a:xfrm>
          <a:prstGeom prst="rect">
            <a:avLst/>
          </a:prstGeom>
          <a:noFill/>
          <a:ln/>
        </p:spPr>
        <p:txBody>
          <a:bodyPr wrap="square" rtlCol="0" anchor="ctr"/>
          <a:lstStyle/>
          <a:p>
            <a:pPr algn="ctr" indent="0" marL="0">
              <a:buNone/>
            </a:pPr>
            <a:r>
              <a:rPr lang="en-US" sz="1500" b="1" dirty="0">
                <a:solidFill>
                  <a:srgbClr val="2FE6D6"/>
                </a:solidFill>
                <a:latin typeface="Calibri" pitchFamily="34" charset="0"/>
                <a:ea typeface="Calibri" pitchFamily="34" charset="-122"/>
                <a:cs typeface="Calibri" pitchFamily="34" charset="-120"/>
              </a:rPr>
              <a:t>C</a:t>
            </a:r>
            <a:endParaRPr lang="en-US" sz="1500" dirty="0"/>
          </a:p>
        </p:txBody>
      </p:sp>
      <p:sp>
        <p:nvSpPr>
          <p:cNvPr id="8" name="Text 6"/>
          <p:cNvSpPr/>
          <p:nvPr/>
        </p:nvSpPr>
        <p:spPr>
          <a:xfrm>
            <a:off x="1691640" y="2020824"/>
            <a:ext cx="2468880" cy="658368"/>
          </a:xfrm>
          <a:prstGeom prst="rect">
            <a:avLst/>
          </a:prstGeom>
          <a:noFill/>
          <a:ln/>
        </p:spPr>
        <p:txBody>
          <a:bodyPr wrap="square"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Credibility</a:t>
            </a:r>
            <a:endParaRPr lang="en-US" sz="1400" dirty="0"/>
          </a:p>
        </p:txBody>
      </p:sp>
      <p:sp>
        <p:nvSpPr>
          <p:cNvPr id="9" name="Text 7"/>
          <p:cNvSpPr/>
          <p:nvPr/>
        </p:nvSpPr>
        <p:spPr>
          <a:xfrm>
            <a:off x="4206240" y="2020824"/>
            <a:ext cx="7223760" cy="658368"/>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Are claims backed by identifiable, checkable sources — not just confident phrasing?</a:t>
            </a:r>
            <a:endParaRPr lang="en-US" sz="1150" dirty="0"/>
          </a:p>
        </p:txBody>
      </p:sp>
      <p:sp>
        <p:nvSpPr>
          <p:cNvPr id="10" name="Shape 8"/>
          <p:cNvSpPr/>
          <p:nvPr/>
        </p:nvSpPr>
        <p:spPr>
          <a:xfrm>
            <a:off x="548640" y="2807208"/>
            <a:ext cx="11064240" cy="749808"/>
          </a:xfrm>
          <a:prstGeom prst="roundRect">
            <a:avLst>
              <a:gd name="adj" fmla="val 9756"/>
            </a:avLst>
          </a:prstGeom>
          <a:solidFill>
            <a:srgbClr val="FFFFFF"/>
          </a:solidFill>
          <a:ln w="12700">
            <a:solidFill>
              <a:srgbClr val="D8DEE9"/>
            </a:solidFill>
            <a:prstDash val="solid"/>
          </a:ln>
        </p:spPr>
      </p:sp>
      <p:sp>
        <p:nvSpPr>
          <p:cNvPr id="11" name="Shape 9"/>
          <p:cNvSpPr/>
          <p:nvPr/>
        </p:nvSpPr>
        <p:spPr>
          <a:xfrm>
            <a:off x="850392" y="2889504"/>
            <a:ext cx="585216" cy="585216"/>
          </a:xfrm>
          <a:prstGeom prst="ellipse">
            <a:avLst/>
          </a:prstGeom>
          <a:solidFill>
            <a:srgbClr val="16213E"/>
          </a:solidFill>
          <a:ln/>
        </p:spPr>
      </p:sp>
      <p:sp>
        <p:nvSpPr>
          <p:cNvPr id="12" name="Text 10"/>
          <p:cNvSpPr/>
          <p:nvPr/>
        </p:nvSpPr>
        <p:spPr>
          <a:xfrm>
            <a:off x="850392" y="2889504"/>
            <a:ext cx="585216" cy="585216"/>
          </a:xfrm>
          <a:prstGeom prst="rect">
            <a:avLst/>
          </a:prstGeom>
          <a:noFill/>
          <a:ln/>
        </p:spPr>
        <p:txBody>
          <a:bodyPr wrap="square" rtlCol="0" anchor="ctr"/>
          <a:lstStyle/>
          <a:p>
            <a:pPr algn="ctr" indent="0" marL="0">
              <a:buNone/>
            </a:pPr>
            <a:r>
              <a:rPr lang="en-US" sz="1500" b="1" dirty="0">
                <a:solidFill>
                  <a:srgbClr val="2FE6D6"/>
                </a:solidFill>
                <a:latin typeface="Calibri" pitchFamily="34" charset="0"/>
                <a:ea typeface="Calibri" pitchFamily="34" charset="-122"/>
                <a:cs typeface="Calibri" pitchFamily="34" charset="-120"/>
              </a:rPr>
              <a:t>R</a:t>
            </a:r>
            <a:endParaRPr lang="en-US" sz="1500" dirty="0"/>
          </a:p>
        </p:txBody>
      </p:sp>
      <p:sp>
        <p:nvSpPr>
          <p:cNvPr id="13" name="Text 11"/>
          <p:cNvSpPr/>
          <p:nvPr/>
        </p:nvSpPr>
        <p:spPr>
          <a:xfrm>
            <a:off x="1691640" y="2862072"/>
            <a:ext cx="2468880" cy="658368"/>
          </a:xfrm>
          <a:prstGeom prst="rect">
            <a:avLst/>
          </a:prstGeom>
          <a:noFill/>
          <a:ln/>
        </p:spPr>
        <p:txBody>
          <a:bodyPr wrap="square"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Reasoning</a:t>
            </a:r>
            <a:endParaRPr lang="en-US" sz="1400" dirty="0"/>
          </a:p>
        </p:txBody>
      </p:sp>
      <p:sp>
        <p:nvSpPr>
          <p:cNvPr id="14" name="Text 12"/>
          <p:cNvSpPr/>
          <p:nvPr/>
        </p:nvSpPr>
        <p:spPr>
          <a:xfrm>
            <a:off x="4206240" y="2862072"/>
            <a:ext cx="7223760" cy="658368"/>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Does the logic hold together? Are there unsupported leaps or contradictions?</a:t>
            </a:r>
            <a:endParaRPr lang="en-US" sz="1150" dirty="0"/>
          </a:p>
        </p:txBody>
      </p:sp>
      <p:sp>
        <p:nvSpPr>
          <p:cNvPr id="15" name="Shape 13"/>
          <p:cNvSpPr/>
          <p:nvPr/>
        </p:nvSpPr>
        <p:spPr>
          <a:xfrm>
            <a:off x="548640" y="3648456"/>
            <a:ext cx="11064240" cy="749808"/>
          </a:xfrm>
          <a:prstGeom prst="roundRect">
            <a:avLst>
              <a:gd name="adj" fmla="val 9756"/>
            </a:avLst>
          </a:prstGeom>
          <a:solidFill>
            <a:srgbClr val="F4F6FA"/>
          </a:solidFill>
          <a:ln w="12700">
            <a:solidFill>
              <a:srgbClr val="D8DEE9"/>
            </a:solidFill>
            <a:prstDash val="solid"/>
          </a:ln>
        </p:spPr>
      </p:sp>
      <p:sp>
        <p:nvSpPr>
          <p:cNvPr id="16" name="Shape 14"/>
          <p:cNvSpPr/>
          <p:nvPr/>
        </p:nvSpPr>
        <p:spPr>
          <a:xfrm>
            <a:off x="850392" y="3730752"/>
            <a:ext cx="585216" cy="585216"/>
          </a:xfrm>
          <a:prstGeom prst="ellipse">
            <a:avLst/>
          </a:prstGeom>
          <a:solidFill>
            <a:srgbClr val="16213E"/>
          </a:solidFill>
          <a:ln/>
        </p:spPr>
      </p:sp>
      <p:sp>
        <p:nvSpPr>
          <p:cNvPr id="17" name="Text 15"/>
          <p:cNvSpPr/>
          <p:nvPr/>
        </p:nvSpPr>
        <p:spPr>
          <a:xfrm>
            <a:off x="850392" y="3730752"/>
            <a:ext cx="585216" cy="585216"/>
          </a:xfrm>
          <a:prstGeom prst="rect">
            <a:avLst/>
          </a:prstGeom>
          <a:noFill/>
          <a:ln/>
        </p:spPr>
        <p:txBody>
          <a:bodyPr wrap="square" rtlCol="0" anchor="ctr"/>
          <a:lstStyle/>
          <a:p>
            <a:pPr algn="ctr" indent="0" marL="0">
              <a:buNone/>
            </a:pPr>
            <a:r>
              <a:rPr lang="en-US" sz="1500" b="1" dirty="0">
                <a:solidFill>
                  <a:srgbClr val="2FE6D6"/>
                </a:solidFill>
                <a:latin typeface="Calibri" pitchFamily="34" charset="0"/>
                <a:ea typeface="Calibri" pitchFamily="34" charset="-122"/>
                <a:cs typeface="Calibri" pitchFamily="34" charset="-120"/>
              </a:rPr>
              <a:t>A</a:t>
            </a:r>
            <a:endParaRPr lang="en-US" sz="1500" dirty="0"/>
          </a:p>
        </p:txBody>
      </p:sp>
      <p:sp>
        <p:nvSpPr>
          <p:cNvPr id="18" name="Text 16"/>
          <p:cNvSpPr/>
          <p:nvPr/>
        </p:nvSpPr>
        <p:spPr>
          <a:xfrm>
            <a:off x="1691640" y="3703320"/>
            <a:ext cx="2468880" cy="658368"/>
          </a:xfrm>
          <a:prstGeom prst="rect">
            <a:avLst/>
          </a:prstGeom>
          <a:noFill/>
          <a:ln/>
        </p:spPr>
        <p:txBody>
          <a:bodyPr wrap="square"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Accuracy</a:t>
            </a:r>
            <a:endParaRPr lang="en-US" sz="1400" dirty="0"/>
          </a:p>
        </p:txBody>
      </p:sp>
      <p:sp>
        <p:nvSpPr>
          <p:cNvPr id="19" name="Text 17"/>
          <p:cNvSpPr/>
          <p:nvPr/>
        </p:nvSpPr>
        <p:spPr>
          <a:xfrm>
            <a:off x="4206240" y="3703320"/>
            <a:ext cx="7223760" cy="658368"/>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Can key facts be independently verified against authoritative sources?</a:t>
            </a:r>
            <a:endParaRPr lang="en-US" sz="1150" dirty="0"/>
          </a:p>
        </p:txBody>
      </p:sp>
      <p:sp>
        <p:nvSpPr>
          <p:cNvPr id="20" name="Shape 18"/>
          <p:cNvSpPr/>
          <p:nvPr/>
        </p:nvSpPr>
        <p:spPr>
          <a:xfrm>
            <a:off x="548640" y="4489704"/>
            <a:ext cx="11064240" cy="749808"/>
          </a:xfrm>
          <a:prstGeom prst="roundRect">
            <a:avLst>
              <a:gd name="adj" fmla="val 9756"/>
            </a:avLst>
          </a:prstGeom>
          <a:solidFill>
            <a:srgbClr val="FFFFFF"/>
          </a:solidFill>
          <a:ln w="12700">
            <a:solidFill>
              <a:srgbClr val="D8DEE9"/>
            </a:solidFill>
            <a:prstDash val="solid"/>
          </a:ln>
        </p:spPr>
      </p:sp>
      <p:sp>
        <p:nvSpPr>
          <p:cNvPr id="21" name="Shape 19"/>
          <p:cNvSpPr/>
          <p:nvPr/>
        </p:nvSpPr>
        <p:spPr>
          <a:xfrm>
            <a:off x="850392" y="4572000"/>
            <a:ext cx="585216" cy="585216"/>
          </a:xfrm>
          <a:prstGeom prst="ellipse">
            <a:avLst/>
          </a:prstGeom>
          <a:solidFill>
            <a:srgbClr val="16213E"/>
          </a:solidFill>
          <a:ln/>
        </p:spPr>
      </p:sp>
      <p:sp>
        <p:nvSpPr>
          <p:cNvPr id="22" name="Text 20"/>
          <p:cNvSpPr/>
          <p:nvPr/>
        </p:nvSpPr>
        <p:spPr>
          <a:xfrm>
            <a:off x="850392" y="4572000"/>
            <a:ext cx="585216" cy="585216"/>
          </a:xfrm>
          <a:prstGeom prst="rect">
            <a:avLst/>
          </a:prstGeom>
          <a:noFill/>
          <a:ln/>
        </p:spPr>
        <p:txBody>
          <a:bodyPr wrap="square" rtlCol="0" anchor="ctr"/>
          <a:lstStyle/>
          <a:p>
            <a:pPr algn="ctr" indent="0" marL="0">
              <a:buNone/>
            </a:pPr>
            <a:r>
              <a:rPr lang="en-US" sz="1500" b="1" dirty="0">
                <a:solidFill>
                  <a:srgbClr val="2FE6D6"/>
                </a:solidFill>
                <a:latin typeface="Calibri" pitchFamily="34" charset="0"/>
                <a:ea typeface="Calibri" pitchFamily="34" charset="-122"/>
                <a:cs typeface="Calibri" pitchFamily="34" charset="-120"/>
              </a:rPr>
              <a:t>F</a:t>
            </a:r>
            <a:endParaRPr lang="en-US" sz="1500" dirty="0"/>
          </a:p>
        </p:txBody>
      </p:sp>
      <p:sp>
        <p:nvSpPr>
          <p:cNvPr id="23" name="Text 21"/>
          <p:cNvSpPr/>
          <p:nvPr/>
        </p:nvSpPr>
        <p:spPr>
          <a:xfrm>
            <a:off x="1691640" y="4544568"/>
            <a:ext cx="2468880" cy="658368"/>
          </a:xfrm>
          <a:prstGeom prst="rect">
            <a:avLst/>
          </a:prstGeom>
          <a:noFill/>
          <a:ln/>
        </p:spPr>
        <p:txBody>
          <a:bodyPr wrap="square"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Freshness</a:t>
            </a:r>
            <a:endParaRPr lang="en-US" sz="1400" dirty="0"/>
          </a:p>
        </p:txBody>
      </p:sp>
      <p:sp>
        <p:nvSpPr>
          <p:cNvPr id="24" name="Text 22"/>
          <p:cNvSpPr/>
          <p:nvPr/>
        </p:nvSpPr>
        <p:spPr>
          <a:xfrm>
            <a:off x="4206240" y="4544568"/>
            <a:ext cx="7223760" cy="658368"/>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Is the information current, or could it reflect outdated training data?</a:t>
            </a:r>
            <a:endParaRPr lang="en-US" sz="1150" dirty="0"/>
          </a:p>
        </p:txBody>
      </p:sp>
      <p:sp>
        <p:nvSpPr>
          <p:cNvPr id="25" name="Shape 23"/>
          <p:cNvSpPr/>
          <p:nvPr/>
        </p:nvSpPr>
        <p:spPr>
          <a:xfrm>
            <a:off x="548640" y="5330952"/>
            <a:ext cx="11064240" cy="749808"/>
          </a:xfrm>
          <a:prstGeom prst="roundRect">
            <a:avLst>
              <a:gd name="adj" fmla="val 9756"/>
            </a:avLst>
          </a:prstGeom>
          <a:solidFill>
            <a:srgbClr val="F4F6FA"/>
          </a:solidFill>
          <a:ln w="12700">
            <a:solidFill>
              <a:srgbClr val="D8DEE9"/>
            </a:solidFill>
            <a:prstDash val="solid"/>
          </a:ln>
        </p:spPr>
      </p:sp>
      <p:sp>
        <p:nvSpPr>
          <p:cNvPr id="26" name="Shape 24"/>
          <p:cNvSpPr/>
          <p:nvPr/>
        </p:nvSpPr>
        <p:spPr>
          <a:xfrm>
            <a:off x="850392" y="5413248"/>
            <a:ext cx="585216" cy="585216"/>
          </a:xfrm>
          <a:prstGeom prst="ellipse">
            <a:avLst/>
          </a:prstGeom>
          <a:solidFill>
            <a:srgbClr val="16213E"/>
          </a:solidFill>
          <a:ln/>
        </p:spPr>
      </p:sp>
      <p:sp>
        <p:nvSpPr>
          <p:cNvPr id="27" name="Text 25"/>
          <p:cNvSpPr/>
          <p:nvPr/>
        </p:nvSpPr>
        <p:spPr>
          <a:xfrm>
            <a:off x="850392" y="5413248"/>
            <a:ext cx="585216" cy="585216"/>
          </a:xfrm>
          <a:prstGeom prst="rect">
            <a:avLst/>
          </a:prstGeom>
          <a:noFill/>
          <a:ln/>
        </p:spPr>
        <p:txBody>
          <a:bodyPr wrap="square" rtlCol="0" anchor="ctr"/>
          <a:lstStyle/>
          <a:p>
            <a:pPr algn="ctr" indent="0" marL="0">
              <a:buNone/>
            </a:pPr>
            <a:r>
              <a:rPr lang="en-US" sz="1500" b="1" dirty="0">
                <a:solidFill>
                  <a:srgbClr val="2FE6D6"/>
                </a:solidFill>
                <a:latin typeface="Calibri" pitchFamily="34" charset="0"/>
                <a:ea typeface="Calibri" pitchFamily="34" charset="-122"/>
                <a:cs typeface="Calibri" pitchFamily="34" charset="-120"/>
              </a:rPr>
              <a:t>T</a:t>
            </a:r>
            <a:endParaRPr lang="en-US" sz="1500" dirty="0"/>
          </a:p>
        </p:txBody>
      </p:sp>
      <p:sp>
        <p:nvSpPr>
          <p:cNvPr id="28" name="Text 26"/>
          <p:cNvSpPr/>
          <p:nvPr/>
        </p:nvSpPr>
        <p:spPr>
          <a:xfrm>
            <a:off x="1691640" y="5385816"/>
            <a:ext cx="2468880" cy="658368"/>
          </a:xfrm>
          <a:prstGeom prst="rect">
            <a:avLst/>
          </a:prstGeom>
          <a:noFill/>
          <a:ln/>
        </p:spPr>
        <p:txBody>
          <a:bodyPr wrap="square" rtlCol="0" anchor="ctr"/>
          <a:lstStyle/>
          <a:p>
            <a:pPr indent="0" marL="0">
              <a:buNone/>
            </a:pPr>
            <a:r>
              <a:rPr lang="en-US" sz="1400" b="1" dirty="0">
                <a:solidFill>
                  <a:srgbClr val="16213E"/>
                </a:solidFill>
                <a:latin typeface="Cambria" pitchFamily="34" charset="0"/>
                <a:ea typeface="Cambria" pitchFamily="34" charset="-122"/>
                <a:cs typeface="Cambria" pitchFamily="34" charset="-120"/>
              </a:rPr>
              <a:t>Tone &amp; Bias</a:t>
            </a:r>
            <a:endParaRPr lang="en-US" sz="1400" dirty="0"/>
          </a:p>
        </p:txBody>
      </p:sp>
      <p:sp>
        <p:nvSpPr>
          <p:cNvPr id="29" name="Text 27"/>
          <p:cNvSpPr/>
          <p:nvPr/>
        </p:nvSpPr>
        <p:spPr>
          <a:xfrm>
            <a:off x="4206240" y="5385816"/>
            <a:ext cx="7223760" cy="658368"/>
          </a:xfrm>
          <a:prstGeom prst="rect">
            <a:avLst/>
          </a:prstGeom>
          <a:noFill/>
          <a:ln/>
        </p:spPr>
        <p:txBody>
          <a:bodyPr wrap="square" rtlCol="0" anchor="ctr"/>
          <a:lstStyle/>
          <a:p>
            <a:pPr indent="0" marL="0">
              <a:buNone/>
            </a:pPr>
            <a:r>
              <a:rPr lang="en-US" sz="1150" dirty="0">
                <a:solidFill>
                  <a:srgbClr val="5B6B82"/>
                </a:solidFill>
                <a:latin typeface="Calibri" pitchFamily="34" charset="0"/>
                <a:ea typeface="Calibri" pitchFamily="34" charset="-122"/>
                <a:cs typeface="Calibri" pitchFamily="34" charset="-120"/>
              </a:rPr>
              <a:t>Does the output show one-sided framing, stereotyping, or missing perspectives?</a:t>
            </a:r>
            <a:endParaRPr lang="en-US" sz="1150" dirty="0"/>
          </a:p>
        </p:txBody>
      </p:sp>
      <p:sp>
        <p:nvSpPr>
          <p:cNvPr id="30" name="Text 28"/>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24 / 30</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CASE STUDY</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Case Study — AI in Education</a:t>
            </a:r>
            <a:endParaRPr lang="en-US" sz="3000" dirty="0"/>
          </a:p>
        </p:txBody>
      </p:sp>
      <p:sp>
        <p:nvSpPr>
          <p:cNvPr id="4" name="Shape 2"/>
          <p:cNvSpPr/>
          <p:nvPr/>
        </p:nvSpPr>
        <p:spPr>
          <a:xfrm>
            <a:off x="548640" y="1417320"/>
            <a:ext cx="11064240" cy="777240"/>
          </a:xfrm>
          <a:prstGeom prst="roundRect">
            <a:avLst>
              <a:gd name="adj" fmla="val 9412"/>
            </a:avLst>
          </a:prstGeom>
          <a:solidFill>
            <a:srgbClr val="16213E"/>
          </a:solidFill>
          <a:ln w="12700">
            <a:solidFill>
              <a:srgbClr val="D8DEE9"/>
            </a:solidFill>
            <a:prstDash val="solid"/>
          </a:ln>
        </p:spPr>
      </p:sp>
      <p:sp>
        <p:nvSpPr>
          <p:cNvPr id="5" name="Shape 3"/>
          <p:cNvSpPr/>
          <p:nvPr/>
        </p:nvSpPr>
        <p:spPr>
          <a:xfrm>
            <a:off x="795528" y="1549908"/>
            <a:ext cx="512064" cy="512064"/>
          </a:xfrm>
          <a:prstGeom prst="ellipse">
            <a:avLst/>
          </a:prstGeom>
          <a:solidFill>
            <a:srgbClr val="2FE6D6"/>
          </a:solidFill>
          <a:ln/>
        </p:spPr>
      </p:sp>
      <p:sp>
        <p:nvSpPr>
          <p:cNvPr id="6" name="Text 4"/>
          <p:cNvSpPr/>
          <p:nvPr/>
        </p:nvSpPr>
        <p:spPr>
          <a:xfrm>
            <a:off x="795528" y="1549908"/>
            <a:ext cx="512064" cy="512064"/>
          </a:xfrm>
          <a:prstGeom prst="rect">
            <a:avLst/>
          </a:prstGeom>
          <a:noFill/>
          <a:ln/>
        </p:spPr>
        <p:txBody>
          <a:bodyPr wrap="square" rtlCol="0" anchor="ctr"/>
          <a:lstStyle/>
          <a:p>
            <a:pPr algn="ctr" indent="0" marL="0">
              <a:buNone/>
            </a:pPr>
            <a:r>
              <a:rPr lang="en-US" sz="1100" b="1" dirty="0">
                <a:solidFill>
                  <a:srgbClr val="16213E"/>
                </a:solidFill>
                <a:latin typeface="Calibri" pitchFamily="34" charset="0"/>
                <a:ea typeface="Calibri" pitchFamily="34" charset="-122"/>
                <a:cs typeface="Calibri" pitchFamily="34" charset="-120"/>
              </a:rPr>
              <a:t>ED</a:t>
            </a:r>
            <a:endParaRPr lang="en-US" sz="1100" dirty="0"/>
          </a:p>
        </p:txBody>
      </p:sp>
      <p:sp>
        <p:nvSpPr>
          <p:cNvPr id="7" name="Text 5"/>
          <p:cNvSpPr/>
          <p:nvPr/>
        </p:nvSpPr>
        <p:spPr>
          <a:xfrm>
            <a:off x="1417320" y="1481328"/>
            <a:ext cx="9966960" cy="658368"/>
          </a:xfrm>
          <a:prstGeom prst="rect">
            <a:avLst/>
          </a:prstGeom>
          <a:noFill/>
          <a:ln/>
        </p:spPr>
        <p:txBody>
          <a:bodyPr wrap="square" rtlCol="0" anchor="ctr"/>
          <a:lstStyle/>
          <a:p>
            <a:pPr indent="0" marL="0">
              <a:buNone/>
            </a:pPr>
            <a:r>
              <a:rPr lang="en-US" sz="1150" dirty="0">
                <a:solidFill>
                  <a:srgbClr val="E6EAF2"/>
                </a:solidFill>
                <a:latin typeface="Calibri" pitchFamily="34" charset="0"/>
                <a:ea typeface="Calibri" pitchFamily="34" charset="-122"/>
                <a:cs typeface="Calibri" pitchFamily="34" charset="-120"/>
              </a:rPr>
              <a:t>Problem/Business Context: A university wants to reduce time instructors spend on repetitive grading of formative (low-stakes) written assignments, freeing time for higher-value teaching activities, while maintaining fair and consistent evaluation standards.</a:t>
            </a:r>
            <a:endParaRPr lang="en-US" sz="1150" dirty="0"/>
          </a:p>
        </p:txBody>
      </p:sp>
      <p:sp>
        <p:nvSpPr>
          <p:cNvPr id="8" name="Shape 6"/>
          <p:cNvSpPr/>
          <p:nvPr/>
        </p:nvSpPr>
        <p:spPr>
          <a:xfrm>
            <a:off x="548640" y="2377440"/>
            <a:ext cx="3596640" cy="1874520"/>
          </a:xfrm>
          <a:prstGeom prst="roundRect">
            <a:avLst>
              <a:gd name="adj" fmla="val 3902"/>
            </a:avLst>
          </a:prstGeom>
          <a:solidFill>
            <a:srgbClr val="F4F6FA"/>
          </a:solidFill>
          <a:ln w="12700">
            <a:solidFill>
              <a:srgbClr val="D8DEE9"/>
            </a:solidFill>
            <a:prstDash val="solid"/>
          </a:ln>
        </p:spPr>
      </p:sp>
      <p:sp>
        <p:nvSpPr>
          <p:cNvPr id="9" name="Text 7"/>
          <p:cNvSpPr/>
          <p:nvPr/>
        </p:nvSpPr>
        <p:spPr>
          <a:xfrm>
            <a:off x="731520" y="2514600"/>
            <a:ext cx="3230880" cy="274320"/>
          </a:xfrm>
          <a:prstGeom prst="rect">
            <a:avLst/>
          </a:prstGeom>
          <a:noFill/>
          <a:ln/>
        </p:spPr>
        <p:txBody>
          <a:bodyPr wrap="square" rtlCol="0" anchor="ctr"/>
          <a:lstStyle/>
          <a:p>
            <a:pPr indent="0" marL="0">
              <a:buNone/>
            </a:pPr>
            <a:r>
              <a:rPr lang="en-US" sz="1000" b="1" spc="100" kern="0" dirty="0">
                <a:solidFill>
                  <a:srgbClr val="0FBFAE"/>
                </a:solidFill>
                <a:latin typeface="Calibri" pitchFamily="34" charset="0"/>
                <a:ea typeface="Calibri" pitchFamily="34" charset="-122"/>
                <a:cs typeface="Calibri" pitchFamily="34" charset="-120"/>
              </a:rPr>
              <a:t>HOW AI IS APPLIED</a:t>
            </a:r>
            <a:endParaRPr lang="en-US" sz="1000" dirty="0"/>
          </a:p>
        </p:txBody>
      </p:sp>
      <p:sp>
        <p:nvSpPr>
          <p:cNvPr id="10" name="Text 8"/>
          <p:cNvSpPr/>
          <p:nvPr/>
        </p:nvSpPr>
        <p:spPr>
          <a:xfrm>
            <a:off x="731520" y="2816352"/>
            <a:ext cx="3230880" cy="1325880"/>
          </a:xfrm>
          <a:prstGeom prst="rect">
            <a:avLst/>
          </a:prstGeom>
          <a:noFill/>
          <a:ln/>
        </p:spPr>
        <p:txBody>
          <a:bodyPr wrap="square" rtlCol="0" anchor="t"/>
          <a:lstStyle/>
          <a:p>
            <a:pPr indent="0" marL="0">
              <a:buNone/>
            </a:pPr>
            <a:r>
              <a:rPr lang="en-US" sz="1000" dirty="0">
                <a:solidFill>
                  <a:srgbClr val="5B6B82"/>
                </a:solidFill>
                <a:latin typeface="Calibri" pitchFamily="34" charset="0"/>
                <a:ea typeface="Calibri" pitchFamily="34" charset="-122"/>
                <a:cs typeface="Calibri" pitchFamily="34" charset="-120"/>
              </a:rPr>
              <a:t>An AI writing-assessment tool provides students with draft feedback on structure, clarity, and grammar before final submission; instructors retain final grading authority and review AI-flagged items.</a:t>
            </a:r>
            <a:endParaRPr lang="en-US" sz="1000" dirty="0"/>
          </a:p>
        </p:txBody>
      </p:sp>
      <p:sp>
        <p:nvSpPr>
          <p:cNvPr id="11" name="Shape 9"/>
          <p:cNvSpPr/>
          <p:nvPr/>
        </p:nvSpPr>
        <p:spPr>
          <a:xfrm>
            <a:off x="4282440" y="2377440"/>
            <a:ext cx="3596640" cy="1874520"/>
          </a:xfrm>
          <a:prstGeom prst="roundRect">
            <a:avLst>
              <a:gd name="adj" fmla="val 3902"/>
            </a:avLst>
          </a:prstGeom>
          <a:solidFill>
            <a:srgbClr val="F4F6FA"/>
          </a:solidFill>
          <a:ln w="12700">
            <a:solidFill>
              <a:srgbClr val="D8DEE9"/>
            </a:solidFill>
            <a:prstDash val="solid"/>
          </a:ln>
        </p:spPr>
      </p:sp>
      <p:sp>
        <p:nvSpPr>
          <p:cNvPr id="12" name="Text 10"/>
          <p:cNvSpPr/>
          <p:nvPr/>
        </p:nvSpPr>
        <p:spPr>
          <a:xfrm>
            <a:off x="4465320" y="2514600"/>
            <a:ext cx="3230880" cy="274320"/>
          </a:xfrm>
          <a:prstGeom prst="rect">
            <a:avLst/>
          </a:prstGeom>
          <a:noFill/>
          <a:ln/>
        </p:spPr>
        <p:txBody>
          <a:bodyPr wrap="square" rtlCol="0" anchor="ctr"/>
          <a:lstStyle/>
          <a:p>
            <a:pPr indent="0" marL="0">
              <a:buNone/>
            </a:pPr>
            <a:r>
              <a:rPr lang="en-US" sz="1000" b="1" spc="100" kern="0" dirty="0">
                <a:solidFill>
                  <a:srgbClr val="0FBFAE"/>
                </a:solidFill>
                <a:latin typeface="Calibri" pitchFamily="34" charset="0"/>
                <a:ea typeface="Calibri" pitchFamily="34" charset="-122"/>
                <a:cs typeface="Calibri" pitchFamily="34" charset="-120"/>
              </a:rPr>
              <a:t>REQUIRED DATA</a:t>
            </a:r>
            <a:endParaRPr lang="en-US" sz="1000" dirty="0"/>
          </a:p>
        </p:txBody>
      </p:sp>
      <p:sp>
        <p:nvSpPr>
          <p:cNvPr id="13" name="Text 11"/>
          <p:cNvSpPr/>
          <p:nvPr/>
        </p:nvSpPr>
        <p:spPr>
          <a:xfrm>
            <a:off x="4465320" y="2816352"/>
            <a:ext cx="3230880" cy="1325880"/>
          </a:xfrm>
          <a:prstGeom prst="rect">
            <a:avLst/>
          </a:prstGeom>
          <a:noFill/>
          <a:ln/>
        </p:spPr>
        <p:txBody>
          <a:bodyPr wrap="square" rtlCol="0" anchor="t"/>
          <a:lstStyle/>
          <a:p>
            <a:pPr indent="0" marL="0">
              <a:buNone/>
            </a:pPr>
            <a:r>
              <a:rPr lang="en-US" sz="1000" dirty="0">
                <a:solidFill>
                  <a:srgbClr val="5B6B82"/>
                </a:solidFill>
                <a:latin typeface="Calibri" pitchFamily="34" charset="0"/>
                <a:ea typeface="Calibri" pitchFamily="34" charset="-122"/>
                <a:cs typeface="Calibri" pitchFamily="34" charset="-120"/>
              </a:rPr>
              <a:t>De-identified sample essays for calibration, instructor-defined rubrics, and institution data-handling policies compliant with student privacy regulations (e.g., FERPA or local equivalent).</a:t>
            </a:r>
            <a:endParaRPr lang="en-US" sz="1000" dirty="0"/>
          </a:p>
        </p:txBody>
      </p:sp>
      <p:sp>
        <p:nvSpPr>
          <p:cNvPr id="14" name="Shape 12"/>
          <p:cNvSpPr/>
          <p:nvPr/>
        </p:nvSpPr>
        <p:spPr>
          <a:xfrm>
            <a:off x="8016240" y="2377440"/>
            <a:ext cx="3596640" cy="1874520"/>
          </a:xfrm>
          <a:prstGeom prst="roundRect">
            <a:avLst>
              <a:gd name="adj" fmla="val 3902"/>
            </a:avLst>
          </a:prstGeom>
          <a:solidFill>
            <a:srgbClr val="F4F6FA"/>
          </a:solidFill>
          <a:ln w="12700">
            <a:solidFill>
              <a:srgbClr val="D8DEE9"/>
            </a:solidFill>
            <a:prstDash val="solid"/>
          </a:ln>
        </p:spPr>
      </p:sp>
      <p:sp>
        <p:nvSpPr>
          <p:cNvPr id="15" name="Text 13"/>
          <p:cNvSpPr/>
          <p:nvPr/>
        </p:nvSpPr>
        <p:spPr>
          <a:xfrm>
            <a:off x="8199120" y="2514600"/>
            <a:ext cx="3230880" cy="274320"/>
          </a:xfrm>
          <a:prstGeom prst="rect">
            <a:avLst/>
          </a:prstGeom>
          <a:noFill/>
          <a:ln/>
        </p:spPr>
        <p:txBody>
          <a:bodyPr wrap="square" rtlCol="0" anchor="ctr"/>
          <a:lstStyle/>
          <a:p>
            <a:pPr indent="0" marL="0">
              <a:buNone/>
            </a:pPr>
            <a:r>
              <a:rPr lang="en-US" sz="1000" b="1" spc="100" kern="0" dirty="0">
                <a:solidFill>
                  <a:srgbClr val="0FBFAE"/>
                </a:solidFill>
                <a:latin typeface="Calibri" pitchFamily="34" charset="0"/>
                <a:ea typeface="Calibri" pitchFamily="34" charset="-122"/>
                <a:cs typeface="Calibri" pitchFamily="34" charset="-120"/>
              </a:rPr>
              <a:t>AI WORKFLOW</a:t>
            </a:r>
            <a:endParaRPr lang="en-US" sz="1000" dirty="0"/>
          </a:p>
        </p:txBody>
      </p:sp>
      <p:sp>
        <p:nvSpPr>
          <p:cNvPr id="16" name="Text 14"/>
          <p:cNvSpPr/>
          <p:nvPr/>
        </p:nvSpPr>
        <p:spPr>
          <a:xfrm>
            <a:off x="8199120" y="2816352"/>
            <a:ext cx="3230880" cy="1325880"/>
          </a:xfrm>
          <a:prstGeom prst="rect">
            <a:avLst/>
          </a:prstGeom>
          <a:noFill/>
          <a:ln/>
        </p:spPr>
        <p:txBody>
          <a:bodyPr wrap="square" rtlCol="0" anchor="t"/>
          <a:lstStyle/>
          <a:p>
            <a:pPr indent="0" marL="0">
              <a:buNone/>
            </a:pPr>
            <a:r>
              <a:rPr lang="en-US" sz="1000" dirty="0">
                <a:solidFill>
                  <a:srgbClr val="5B6B82"/>
                </a:solidFill>
                <a:latin typeface="Calibri" pitchFamily="34" charset="0"/>
                <a:ea typeface="Calibri" pitchFamily="34" charset="-122"/>
                <a:cs typeface="Calibri" pitchFamily="34" charset="-120"/>
              </a:rPr>
              <a:t>Student submits draft → AI reviews against rubric criteria → generates structured feedback → instructor reviews AI flags and finalizes grade → feedback delivered to student.</a:t>
            </a:r>
            <a:endParaRPr lang="en-US" sz="1000" dirty="0"/>
          </a:p>
        </p:txBody>
      </p:sp>
      <p:sp>
        <p:nvSpPr>
          <p:cNvPr id="17" name="Shape 15"/>
          <p:cNvSpPr/>
          <p:nvPr/>
        </p:nvSpPr>
        <p:spPr>
          <a:xfrm>
            <a:off x="548640" y="4389120"/>
            <a:ext cx="5394960" cy="1554480"/>
          </a:xfrm>
          <a:prstGeom prst="roundRect">
            <a:avLst>
              <a:gd name="adj" fmla="val 4706"/>
            </a:avLst>
          </a:prstGeom>
          <a:solidFill>
            <a:srgbClr val="FFFFFF"/>
          </a:solidFill>
          <a:ln w="12700">
            <a:solidFill>
              <a:srgbClr val="2FA36B"/>
            </a:solidFill>
            <a:prstDash val="solid"/>
          </a:ln>
        </p:spPr>
      </p:sp>
      <p:sp>
        <p:nvSpPr>
          <p:cNvPr id="18" name="Text 16"/>
          <p:cNvSpPr/>
          <p:nvPr/>
        </p:nvSpPr>
        <p:spPr>
          <a:xfrm>
            <a:off x="777240" y="4507992"/>
            <a:ext cx="4937760" cy="274320"/>
          </a:xfrm>
          <a:prstGeom prst="rect">
            <a:avLst/>
          </a:prstGeom>
          <a:noFill/>
          <a:ln/>
        </p:spPr>
        <p:txBody>
          <a:bodyPr wrap="square" rtlCol="0" anchor="ctr"/>
          <a:lstStyle/>
          <a:p>
            <a:pPr indent="0" marL="0">
              <a:buNone/>
            </a:pPr>
            <a:r>
              <a:rPr lang="en-US" sz="1000" b="1" dirty="0">
                <a:solidFill>
                  <a:srgbClr val="2FA36B"/>
                </a:solidFill>
                <a:latin typeface="Calibri" pitchFamily="34" charset="0"/>
                <a:ea typeface="Calibri" pitchFamily="34" charset="-122"/>
                <a:cs typeface="Calibri" pitchFamily="34" charset="-120"/>
              </a:rPr>
              <a:t>MEASURABLE POTENTIAL BENEFITS</a:t>
            </a:r>
            <a:endParaRPr lang="en-US" sz="1000" dirty="0"/>
          </a:p>
        </p:txBody>
      </p:sp>
      <p:sp>
        <p:nvSpPr>
          <p:cNvPr id="19" name="Text 17"/>
          <p:cNvSpPr/>
          <p:nvPr/>
        </p:nvSpPr>
        <p:spPr>
          <a:xfrm>
            <a:off x="777240" y="4809744"/>
            <a:ext cx="4937760" cy="10515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Potential reduction in instructor time spent on first-pass feedback; more frequent formative feedback cycles for students; consistent rubric application across large course sections. Exact time savings should be measured per institution rather than assumed.</a:t>
            </a:r>
            <a:endParaRPr lang="en-US" sz="1000" dirty="0"/>
          </a:p>
        </p:txBody>
      </p:sp>
      <p:sp>
        <p:nvSpPr>
          <p:cNvPr id="20" name="Shape 18"/>
          <p:cNvSpPr/>
          <p:nvPr/>
        </p:nvSpPr>
        <p:spPr>
          <a:xfrm>
            <a:off x="6080760" y="4389120"/>
            <a:ext cx="5532120" cy="1554480"/>
          </a:xfrm>
          <a:prstGeom prst="roundRect">
            <a:avLst>
              <a:gd name="adj" fmla="val 4706"/>
            </a:avLst>
          </a:prstGeom>
          <a:solidFill>
            <a:srgbClr val="FFFFFF"/>
          </a:solidFill>
          <a:ln w="12700">
            <a:solidFill>
              <a:srgbClr val="D98C2B"/>
            </a:solidFill>
            <a:prstDash val="solid"/>
          </a:ln>
        </p:spPr>
      </p:sp>
      <p:sp>
        <p:nvSpPr>
          <p:cNvPr id="21" name="Text 19"/>
          <p:cNvSpPr/>
          <p:nvPr/>
        </p:nvSpPr>
        <p:spPr>
          <a:xfrm>
            <a:off x="6309360" y="4507992"/>
            <a:ext cx="5120640" cy="274320"/>
          </a:xfrm>
          <a:prstGeom prst="rect">
            <a:avLst/>
          </a:prstGeom>
          <a:noFill/>
          <a:ln/>
        </p:spPr>
        <p:txBody>
          <a:bodyPr wrap="square" rtlCol="0" anchor="ctr"/>
          <a:lstStyle/>
          <a:p>
            <a:pPr indent="0" marL="0">
              <a:buNone/>
            </a:pPr>
            <a:r>
              <a:rPr lang="en-US" sz="1000" b="1" dirty="0">
                <a:solidFill>
                  <a:srgbClr val="D98C2B"/>
                </a:solidFill>
                <a:latin typeface="Calibri" pitchFamily="34" charset="0"/>
                <a:ea typeface="Calibri" pitchFamily="34" charset="-122"/>
                <a:cs typeface="Calibri" pitchFamily="34" charset="-120"/>
              </a:rPr>
              <a:t>LIMITATIONS, RISKS &amp; ETHICAL CONSIDERATIONS</a:t>
            </a:r>
            <a:endParaRPr lang="en-US" sz="1000" dirty="0"/>
          </a:p>
        </p:txBody>
      </p:sp>
      <p:sp>
        <p:nvSpPr>
          <p:cNvPr id="22" name="Text 20"/>
          <p:cNvSpPr/>
          <p:nvPr/>
        </p:nvSpPr>
        <p:spPr>
          <a:xfrm>
            <a:off x="6309360" y="4809744"/>
            <a:ext cx="5120640" cy="10515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Risk of over-reliance reducing students' independent revision skills; possible rubric misalignment or scoring bias if not properly calibrated; requires transparent disclosure to students that AI is used in the feedback loop; instructor oversight remains mandatory for final grades.</a:t>
            </a:r>
            <a:endParaRPr lang="en-US" sz="1000" dirty="0"/>
          </a:p>
        </p:txBody>
      </p:sp>
      <p:sp>
        <p:nvSpPr>
          <p:cNvPr id="23" name="Shape 21"/>
          <p:cNvSpPr/>
          <p:nvPr/>
        </p:nvSpPr>
        <p:spPr>
          <a:xfrm>
            <a:off x="548640" y="6080760"/>
            <a:ext cx="11064240" cy="594360"/>
          </a:xfrm>
          <a:prstGeom prst="roundRect">
            <a:avLst>
              <a:gd name="adj" fmla="val 12308"/>
            </a:avLst>
          </a:prstGeom>
          <a:solidFill>
            <a:srgbClr val="0D1B2A"/>
          </a:solidFill>
          <a:ln/>
        </p:spPr>
      </p:sp>
      <p:sp>
        <p:nvSpPr>
          <p:cNvPr id="24" name="Text 22"/>
          <p:cNvSpPr/>
          <p:nvPr/>
        </p:nvSpPr>
        <p:spPr>
          <a:xfrm>
            <a:off x="822960" y="6080760"/>
            <a:ext cx="10515600" cy="594360"/>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CRITICAL-THINKING QUESTION:  If an AI consistently under-scores a particular writing style or dialect, who is responsible for detecting and correcting that pattern — and how?</a:t>
            </a:r>
            <a:endParaRPr lang="en-US" sz="1150" dirty="0"/>
          </a:p>
        </p:txBody>
      </p:sp>
      <p:sp>
        <p:nvSpPr>
          <p:cNvPr id="25" name="Text 23"/>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25 / 30</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CASE STUDY</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Case Study — AI in Healthcare</a:t>
            </a:r>
            <a:endParaRPr lang="en-US" sz="3000" dirty="0"/>
          </a:p>
        </p:txBody>
      </p:sp>
      <p:sp>
        <p:nvSpPr>
          <p:cNvPr id="4" name="Shape 2"/>
          <p:cNvSpPr/>
          <p:nvPr/>
        </p:nvSpPr>
        <p:spPr>
          <a:xfrm>
            <a:off x="548640" y="1417320"/>
            <a:ext cx="11064240" cy="777240"/>
          </a:xfrm>
          <a:prstGeom prst="roundRect">
            <a:avLst>
              <a:gd name="adj" fmla="val 9412"/>
            </a:avLst>
          </a:prstGeom>
          <a:solidFill>
            <a:srgbClr val="16213E"/>
          </a:solidFill>
          <a:ln w="12700">
            <a:solidFill>
              <a:srgbClr val="D8DEE9"/>
            </a:solidFill>
            <a:prstDash val="solid"/>
          </a:ln>
        </p:spPr>
      </p:sp>
      <p:sp>
        <p:nvSpPr>
          <p:cNvPr id="5" name="Shape 3"/>
          <p:cNvSpPr/>
          <p:nvPr/>
        </p:nvSpPr>
        <p:spPr>
          <a:xfrm>
            <a:off x="795528" y="1549908"/>
            <a:ext cx="512064" cy="512064"/>
          </a:xfrm>
          <a:prstGeom prst="ellipse">
            <a:avLst/>
          </a:prstGeom>
          <a:solidFill>
            <a:srgbClr val="2FE6D6"/>
          </a:solidFill>
          <a:ln/>
        </p:spPr>
      </p:sp>
      <p:sp>
        <p:nvSpPr>
          <p:cNvPr id="6" name="Text 4"/>
          <p:cNvSpPr/>
          <p:nvPr/>
        </p:nvSpPr>
        <p:spPr>
          <a:xfrm>
            <a:off x="795528" y="1549908"/>
            <a:ext cx="512064" cy="512064"/>
          </a:xfrm>
          <a:prstGeom prst="rect">
            <a:avLst/>
          </a:prstGeom>
          <a:noFill/>
          <a:ln/>
        </p:spPr>
        <p:txBody>
          <a:bodyPr wrap="square" rtlCol="0" anchor="ctr"/>
          <a:lstStyle/>
          <a:p>
            <a:pPr algn="ctr" indent="0" marL="0">
              <a:buNone/>
            </a:pPr>
            <a:r>
              <a:rPr lang="en-US" sz="1100" b="1" dirty="0">
                <a:solidFill>
                  <a:srgbClr val="16213E"/>
                </a:solidFill>
                <a:latin typeface="Calibri" pitchFamily="34" charset="0"/>
                <a:ea typeface="Calibri" pitchFamily="34" charset="-122"/>
                <a:cs typeface="Calibri" pitchFamily="34" charset="-120"/>
              </a:rPr>
              <a:t>HC</a:t>
            </a:r>
            <a:endParaRPr lang="en-US" sz="1100" dirty="0"/>
          </a:p>
        </p:txBody>
      </p:sp>
      <p:sp>
        <p:nvSpPr>
          <p:cNvPr id="7" name="Text 5"/>
          <p:cNvSpPr/>
          <p:nvPr/>
        </p:nvSpPr>
        <p:spPr>
          <a:xfrm>
            <a:off x="1417320" y="1481328"/>
            <a:ext cx="9966960" cy="658368"/>
          </a:xfrm>
          <a:prstGeom prst="rect">
            <a:avLst/>
          </a:prstGeom>
          <a:noFill/>
          <a:ln/>
        </p:spPr>
        <p:txBody>
          <a:bodyPr wrap="square" rtlCol="0" anchor="ctr"/>
          <a:lstStyle/>
          <a:p>
            <a:pPr indent="0" marL="0">
              <a:buNone/>
            </a:pPr>
            <a:r>
              <a:rPr lang="en-US" sz="1150" dirty="0">
                <a:solidFill>
                  <a:srgbClr val="E6EAF2"/>
                </a:solidFill>
                <a:latin typeface="Calibri" pitchFamily="34" charset="0"/>
                <a:ea typeface="Calibri" pitchFamily="34" charset="-122"/>
                <a:cs typeface="Calibri" pitchFamily="34" charset="-120"/>
              </a:rPr>
              <a:t>Problem/Business Context: A radiology department faces high imaging volume and wants decision-support tooling to help prioritize scans most likely to show urgent findings, reducing time-to-review for critical cases.</a:t>
            </a:r>
            <a:endParaRPr lang="en-US" sz="1150" dirty="0"/>
          </a:p>
        </p:txBody>
      </p:sp>
      <p:sp>
        <p:nvSpPr>
          <p:cNvPr id="8" name="Shape 6"/>
          <p:cNvSpPr/>
          <p:nvPr/>
        </p:nvSpPr>
        <p:spPr>
          <a:xfrm>
            <a:off x="548640" y="2377440"/>
            <a:ext cx="3596640" cy="1874520"/>
          </a:xfrm>
          <a:prstGeom prst="roundRect">
            <a:avLst>
              <a:gd name="adj" fmla="val 3902"/>
            </a:avLst>
          </a:prstGeom>
          <a:solidFill>
            <a:srgbClr val="F4F6FA"/>
          </a:solidFill>
          <a:ln w="12700">
            <a:solidFill>
              <a:srgbClr val="D8DEE9"/>
            </a:solidFill>
            <a:prstDash val="solid"/>
          </a:ln>
        </p:spPr>
      </p:sp>
      <p:sp>
        <p:nvSpPr>
          <p:cNvPr id="9" name="Text 7"/>
          <p:cNvSpPr/>
          <p:nvPr/>
        </p:nvSpPr>
        <p:spPr>
          <a:xfrm>
            <a:off x="731520" y="2514600"/>
            <a:ext cx="3230880" cy="274320"/>
          </a:xfrm>
          <a:prstGeom prst="rect">
            <a:avLst/>
          </a:prstGeom>
          <a:noFill/>
          <a:ln/>
        </p:spPr>
        <p:txBody>
          <a:bodyPr wrap="square" rtlCol="0" anchor="ctr"/>
          <a:lstStyle/>
          <a:p>
            <a:pPr indent="0" marL="0">
              <a:buNone/>
            </a:pPr>
            <a:r>
              <a:rPr lang="en-US" sz="1000" b="1" spc="100" kern="0" dirty="0">
                <a:solidFill>
                  <a:srgbClr val="0FBFAE"/>
                </a:solidFill>
                <a:latin typeface="Calibri" pitchFamily="34" charset="0"/>
                <a:ea typeface="Calibri" pitchFamily="34" charset="-122"/>
                <a:cs typeface="Calibri" pitchFamily="34" charset="-120"/>
              </a:rPr>
              <a:t>HOW AI IS APPLIED</a:t>
            </a:r>
            <a:endParaRPr lang="en-US" sz="1000" dirty="0"/>
          </a:p>
        </p:txBody>
      </p:sp>
      <p:sp>
        <p:nvSpPr>
          <p:cNvPr id="10" name="Text 8"/>
          <p:cNvSpPr/>
          <p:nvPr/>
        </p:nvSpPr>
        <p:spPr>
          <a:xfrm>
            <a:off x="731520" y="2816352"/>
            <a:ext cx="3230880" cy="1325880"/>
          </a:xfrm>
          <a:prstGeom prst="rect">
            <a:avLst/>
          </a:prstGeom>
          <a:noFill/>
          <a:ln/>
        </p:spPr>
        <p:txBody>
          <a:bodyPr wrap="square" rtlCol="0" anchor="t"/>
          <a:lstStyle/>
          <a:p>
            <a:pPr indent="0" marL="0">
              <a:buNone/>
            </a:pPr>
            <a:r>
              <a:rPr lang="en-US" sz="1000" dirty="0">
                <a:solidFill>
                  <a:srgbClr val="5B6B82"/>
                </a:solidFill>
                <a:latin typeface="Calibri" pitchFamily="34" charset="0"/>
                <a:ea typeface="Calibri" pitchFamily="34" charset="-122"/>
                <a:cs typeface="Calibri" pitchFamily="34" charset="-120"/>
              </a:rPr>
              <a:t>An AI triage tool flags scans with a higher likelihood of urgent findings for prioritized radiologist review; it does not issue a final diagnosis — it reorders the review queue.</a:t>
            </a:r>
            <a:endParaRPr lang="en-US" sz="1000" dirty="0"/>
          </a:p>
        </p:txBody>
      </p:sp>
      <p:sp>
        <p:nvSpPr>
          <p:cNvPr id="11" name="Shape 9"/>
          <p:cNvSpPr/>
          <p:nvPr/>
        </p:nvSpPr>
        <p:spPr>
          <a:xfrm>
            <a:off x="4282440" y="2377440"/>
            <a:ext cx="3596640" cy="1874520"/>
          </a:xfrm>
          <a:prstGeom prst="roundRect">
            <a:avLst>
              <a:gd name="adj" fmla="val 3902"/>
            </a:avLst>
          </a:prstGeom>
          <a:solidFill>
            <a:srgbClr val="F4F6FA"/>
          </a:solidFill>
          <a:ln w="12700">
            <a:solidFill>
              <a:srgbClr val="D8DEE9"/>
            </a:solidFill>
            <a:prstDash val="solid"/>
          </a:ln>
        </p:spPr>
      </p:sp>
      <p:sp>
        <p:nvSpPr>
          <p:cNvPr id="12" name="Text 10"/>
          <p:cNvSpPr/>
          <p:nvPr/>
        </p:nvSpPr>
        <p:spPr>
          <a:xfrm>
            <a:off x="4465320" y="2514600"/>
            <a:ext cx="3230880" cy="274320"/>
          </a:xfrm>
          <a:prstGeom prst="rect">
            <a:avLst/>
          </a:prstGeom>
          <a:noFill/>
          <a:ln/>
        </p:spPr>
        <p:txBody>
          <a:bodyPr wrap="square" rtlCol="0" anchor="ctr"/>
          <a:lstStyle/>
          <a:p>
            <a:pPr indent="0" marL="0">
              <a:buNone/>
            </a:pPr>
            <a:r>
              <a:rPr lang="en-US" sz="1000" b="1" spc="100" kern="0" dirty="0">
                <a:solidFill>
                  <a:srgbClr val="0FBFAE"/>
                </a:solidFill>
                <a:latin typeface="Calibri" pitchFamily="34" charset="0"/>
                <a:ea typeface="Calibri" pitchFamily="34" charset="-122"/>
                <a:cs typeface="Calibri" pitchFamily="34" charset="-120"/>
              </a:rPr>
              <a:t>REQUIRED DATA</a:t>
            </a:r>
            <a:endParaRPr lang="en-US" sz="1000" dirty="0"/>
          </a:p>
        </p:txBody>
      </p:sp>
      <p:sp>
        <p:nvSpPr>
          <p:cNvPr id="13" name="Text 11"/>
          <p:cNvSpPr/>
          <p:nvPr/>
        </p:nvSpPr>
        <p:spPr>
          <a:xfrm>
            <a:off x="4465320" y="2816352"/>
            <a:ext cx="3230880" cy="1325880"/>
          </a:xfrm>
          <a:prstGeom prst="rect">
            <a:avLst/>
          </a:prstGeom>
          <a:noFill/>
          <a:ln/>
        </p:spPr>
        <p:txBody>
          <a:bodyPr wrap="square" rtlCol="0" anchor="t"/>
          <a:lstStyle/>
          <a:p>
            <a:pPr indent="0" marL="0">
              <a:buNone/>
            </a:pPr>
            <a:r>
              <a:rPr lang="en-US" sz="1000" dirty="0">
                <a:solidFill>
                  <a:srgbClr val="5B6B82"/>
                </a:solidFill>
                <a:latin typeface="Calibri" pitchFamily="34" charset="0"/>
                <a:ea typeface="Calibri" pitchFamily="34" charset="-122"/>
                <a:cs typeface="Calibri" pitchFamily="34" charset="-120"/>
              </a:rPr>
              <a:t>De-identified imaging datasets for validation, appropriate regulatory clearance documentation for the specific tool and jurisdiction, and strict patient-data handling under health-privacy law (e.g., HIPAA or local equivalent).</a:t>
            </a:r>
            <a:endParaRPr lang="en-US" sz="1000" dirty="0"/>
          </a:p>
        </p:txBody>
      </p:sp>
      <p:sp>
        <p:nvSpPr>
          <p:cNvPr id="14" name="Shape 12"/>
          <p:cNvSpPr/>
          <p:nvPr/>
        </p:nvSpPr>
        <p:spPr>
          <a:xfrm>
            <a:off x="8016240" y="2377440"/>
            <a:ext cx="3596640" cy="1874520"/>
          </a:xfrm>
          <a:prstGeom prst="roundRect">
            <a:avLst>
              <a:gd name="adj" fmla="val 3902"/>
            </a:avLst>
          </a:prstGeom>
          <a:solidFill>
            <a:srgbClr val="F4F6FA"/>
          </a:solidFill>
          <a:ln w="12700">
            <a:solidFill>
              <a:srgbClr val="D8DEE9"/>
            </a:solidFill>
            <a:prstDash val="solid"/>
          </a:ln>
        </p:spPr>
      </p:sp>
      <p:sp>
        <p:nvSpPr>
          <p:cNvPr id="15" name="Text 13"/>
          <p:cNvSpPr/>
          <p:nvPr/>
        </p:nvSpPr>
        <p:spPr>
          <a:xfrm>
            <a:off x="8199120" y="2514600"/>
            <a:ext cx="3230880" cy="274320"/>
          </a:xfrm>
          <a:prstGeom prst="rect">
            <a:avLst/>
          </a:prstGeom>
          <a:noFill/>
          <a:ln/>
        </p:spPr>
        <p:txBody>
          <a:bodyPr wrap="square" rtlCol="0" anchor="ctr"/>
          <a:lstStyle/>
          <a:p>
            <a:pPr indent="0" marL="0">
              <a:buNone/>
            </a:pPr>
            <a:r>
              <a:rPr lang="en-US" sz="1000" b="1" spc="100" kern="0" dirty="0">
                <a:solidFill>
                  <a:srgbClr val="0FBFAE"/>
                </a:solidFill>
                <a:latin typeface="Calibri" pitchFamily="34" charset="0"/>
                <a:ea typeface="Calibri" pitchFamily="34" charset="-122"/>
                <a:cs typeface="Calibri" pitchFamily="34" charset="-120"/>
              </a:rPr>
              <a:t>AI WORKFLOW</a:t>
            </a:r>
            <a:endParaRPr lang="en-US" sz="1000" dirty="0"/>
          </a:p>
        </p:txBody>
      </p:sp>
      <p:sp>
        <p:nvSpPr>
          <p:cNvPr id="16" name="Text 14"/>
          <p:cNvSpPr/>
          <p:nvPr/>
        </p:nvSpPr>
        <p:spPr>
          <a:xfrm>
            <a:off x="8199120" y="2816352"/>
            <a:ext cx="3230880" cy="1325880"/>
          </a:xfrm>
          <a:prstGeom prst="rect">
            <a:avLst/>
          </a:prstGeom>
          <a:noFill/>
          <a:ln/>
        </p:spPr>
        <p:txBody>
          <a:bodyPr wrap="square" rtlCol="0" anchor="t"/>
          <a:lstStyle/>
          <a:p>
            <a:pPr indent="0" marL="0">
              <a:buNone/>
            </a:pPr>
            <a:r>
              <a:rPr lang="en-US" sz="1000" dirty="0">
                <a:solidFill>
                  <a:srgbClr val="5B6B82"/>
                </a:solidFill>
                <a:latin typeface="Calibri" pitchFamily="34" charset="0"/>
                <a:ea typeface="Calibri" pitchFamily="34" charset="-122"/>
                <a:cs typeface="Calibri" pitchFamily="34" charset="-120"/>
              </a:rPr>
              <a:t>Scan captured → AI model scores likelihood of urgent finding → queue reprioritized → radiologist reviews flagged scan first → radiologist issues official diagnosis and report.</a:t>
            </a:r>
            <a:endParaRPr lang="en-US" sz="1000" dirty="0"/>
          </a:p>
        </p:txBody>
      </p:sp>
      <p:sp>
        <p:nvSpPr>
          <p:cNvPr id="17" name="Shape 15"/>
          <p:cNvSpPr/>
          <p:nvPr/>
        </p:nvSpPr>
        <p:spPr>
          <a:xfrm>
            <a:off x="548640" y="4389120"/>
            <a:ext cx="5394960" cy="1554480"/>
          </a:xfrm>
          <a:prstGeom prst="roundRect">
            <a:avLst>
              <a:gd name="adj" fmla="val 4706"/>
            </a:avLst>
          </a:prstGeom>
          <a:solidFill>
            <a:srgbClr val="FFFFFF"/>
          </a:solidFill>
          <a:ln w="12700">
            <a:solidFill>
              <a:srgbClr val="2FA36B"/>
            </a:solidFill>
            <a:prstDash val="solid"/>
          </a:ln>
        </p:spPr>
      </p:sp>
      <p:sp>
        <p:nvSpPr>
          <p:cNvPr id="18" name="Text 16"/>
          <p:cNvSpPr/>
          <p:nvPr/>
        </p:nvSpPr>
        <p:spPr>
          <a:xfrm>
            <a:off x="777240" y="4507992"/>
            <a:ext cx="4937760" cy="274320"/>
          </a:xfrm>
          <a:prstGeom prst="rect">
            <a:avLst/>
          </a:prstGeom>
          <a:noFill/>
          <a:ln/>
        </p:spPr>
        <p:txBody>
          <a:bodyPr wrap="square" rtlCol="0" anchor="ctr"/>
          <a:lstStyle/>
          <a:p>
            <a:pPr indent="0" marL="0">
              <a:buNone/>
            </a:pPr>
            <a:r>
              <a:rPr lang="en-US" sz="1000" b="1" dirty="0">
                <a:solidFill>
                  <a:srgbClr val="2FA36B"/>
                </a:solidFill>
                <a:latin typeface="Calibri" pitchFamily="34" charset="0"/>
                <a:ea typeface="Calibri" pitchFamily="34" charset="-122"/>
                <a:cs typeface="Calibri" pitchFamily="34" charset="-120"/>
              </a:rPr>
              <a:t>MEASURABLE POTENTIAL BENEFITS</a:t>
            </a:r>
            <a:endParaRPr lang="en-US" sz="1000" dirty="0"/>
          </a:p>
        </p:txBody>
      </p:sp>
      <p:sp>
        <p:nvSpPr>
          <p:cNvPr id="19" name="Text 17"/>
          <p:cNvSpPr/>
          <p:nvPr/>
        </p:nvSpPr>
        <p:spPr>
          <a:xfrm>
            <a:off x="777240" y="4809744"/>
            <a:ext cx="4937760" cy="10515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Potential reduction in time-to-review for high-urgency cases; consistent triage criteria applied at scale. Any specific accuracy or outcome statistic must come from the tool's own validated clinical study, not assumed.</a:t>
            </a:r>
            <a:endParaRPr lang="en-US" sz="1000" dirty="0"/>
          </a:p>
        </p:txBody>
      </p:sp>
      <p:sp>
        <p:nvSpPr>
          <p:cNvPr id="20" name="Shape 18"/>
          <p:cNvSpPr/>
          <p:nvPr/>
        </p:nvSpPr>
        <p:spPr>
          <a:xfrm>
            <a:off x="6080760" y="4389120"/>
            <a:ext cx="5532120" cy="1554480"/>
          </a:xfrm>
          <a:prstGeom prst="roundRect">
            <a:avLst>
              <a:gd name="adj" fmla="val 4706"/>
            </a:avLst>
          </a:prstGeom>
          <a:solidFill>
            <a:srgbClr val="FFFFFF"/>
          </a:solidFill>
          <a:ln w="12700">
            <a:solidFill>
              <a:srgbClr val="D98C2B"/>
            </a:solidFill>
            <a:prstDash val="solid"/>
          </a:ln>
        </p:spPr>
      </p:sp>
      <p:sp>
        <p:nvSpPr>
          <p:cNvPr id="21" name="Text 19"/>
          <p:cNvSpPr/>
          <p:nvPr/>
        </p:nvSpPr>
        <p:spPr>
          <a:xfrm>
            <a:off x="6309360" y="4507992"/>
            <a:ext cx="5120640" cy="274320"/>
          </a:xfrm>
          <a:prstGeom prst="rect">
            <a:avLst/>
          </a:prstGeom>
          <a:noFill/>
          <a:ln/>
        </p:spPr>
        <p:txBody>
          <a:bodyPr wrap="square" rtlCol="0" anchor="ctr"/>
          <a:lstStyle/>
          <a:p>
            <a:pPr indent="0" marL="0">
              <a:buNone/>
            </a:pPr>
            <a:r>
              <a:rPr lang="en-US" sz="1000" b="1" dirty="0">
                <a:solidFill>
                  <a:srgbClr val="D98C2B"/>
                </a:solidFill>
                <a:latin typeface="Calibri" pitchFamily="34" charset="0"/>
                <a:ea typeface="Calibri" pitchFamily="34" charset="-122"/>
                <a:cs typeface="Calibri" pitchFamily="34" charset="-120"/>
              </a:rPr>
              <a:t>LIMITATIONS, RISKS &amp; ETHICAL CONSIDERATIONS</a:t>
            </a:r>
            <a:endParaRPr lang="en-US" sz="1000" dirty="0"/>
          </a:p>
        </p:txBody>
      </p:sp>
      <p:sp>
        <p:nvSpPr>
          <p:cNvPr id="22" name="Text 20"/>
          <p:cNvSpPr/>
          <p:nvPr/>
        </p:nvSpPr>
        <p:spPr>
          <a:xfrm>
            <a:off x="6309360" y="4809744"/>
            <a:ext cx="5120640" cy="10515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False negatives (missed urgent cases) carry serious patient-safety consequences; model performance can vary across patient demographics if training data lacks diversity; requires clear regulatory clearance and ongoing clinical validation; clinicians must retain final diagnostic authority at all times.</a:t>
            </a:r>
            <a:endParaRPr lang="en-US" sz="1000" dirty="0"/>
          </a:p>
        </p:txBody>
      </p:sp>
      <p:sp>
        <p:nvSpPr>
          <p:cNvPr id="23" name="Shape 21"/>
          <p:cNvSpPr/>
          <p:nvPr/>
        </p:nvSpPr>
        <p:spPr>
          <a:xfrm>
            <a:off x="548640" y="6080760"/>
            <a:ext cx="11064240" cy="594360"/>
          </a:xfrm>
          <a:prstGeom prst="roundRect">
            <a:avLst>
              <a:gd name="adj" fmla="val 12308"/>
            </a:avLst>
          </a:prstGeom>
          <a:solidFill>
            <a:srgbClr val="0D1B2A"/>
          </a:solidFill>
          <a:ln/>
        </p:spPr>
      </p:sp>
      <p:sp>
        <p:nvSpPr>
          <p:cNvPr id="24" name="Text 22"/>
          <p:cNvSpPr/>
          <p:nvPr/>
        </p:nvSpPr>
        <p:spPr>
          <a:xfrm>
            <a:off x="822960" y="6080760"/>
            <a:ext cx="10515600" cy="594360"/>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CRITICAL-THINKING QUESTION:  If an AI triage tool improves average review speed but is later found to under-prioritize scans from an underrepresented patient group, what governance process should catch this — and how quickly?</a:t>
            </a:r>
            <a:endParaRPr lang="en-US" sz="1150" dirty="0"/>
          </a:p>
        </p:txBody>
      </p:sp>
      <p:sp>
        <p:nvSpPr>
          <p:cNvPr id="25" name="Text 23"/>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26 / 30</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CASE STUDY</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Case Study — AI in Customer Service</a:t>
            </a:r>
            <a:endParaRPr lang="en-US" sz="3000" dirty="0"/>
          </a:p>
        </p:txBody>
      </p:sp>
      <p:sp>
        <p:nvSpPr>
          <p:cNvPr id="4" name="Shape 2"/>
          <p:cNvSpPr/>
          <p:nvPr/>
        </p:nvSpPr>
        <p:spPr>
          <a:xfrm>
            <a:off x="548640" y="1417320"/>
            <a:ext cx="11064240" cy="777240"/>
          </a:xfrm>
          <a:prstGeom prst="roundRect">
            <a:avLst>
              <a:gd name="adj" fmla="val 9412"/>
            </a:avLst>
          </a:prstGeom>
          <a:solidFill>
            <a:srgbClr val="16213E"/>
          </a:solidFill>
          <a:ln w="12700">
            <a:solidFill>
              <a:srgbClr val="D8DEE9"/>
            </a:solidFill>
            <a:prstDash val="solid"/>
          </a:ln>
        </p:spPr>
      </p:sp>
      <p:sp>
        <p:nvSpPr>
          <p:cNvPr id="5" name="Shape 3"/>
          <p:cNvSpPr/>
          <p:nvPr/>
        </p:nvSpPr>
        <p:spPr>
          <a:xfrm>
            <a:off x="795528" y="1549908"/>
            <a:ext cx="512064" cy="512064"/>
          </a:xfrm>
          <a:prstGeom prst="ellipse">
            <a:avLst/>
          </a:prstGeom>
          <a:solidFill>
            <a:srgbClr val="2FE6D6"/>
          </a:solidFill>
          <a:ln/>
        </p:spPr>
      </p:sp>
      <p:sp>
        <p:nvSpPr>
          <p:cNvPr id="6" name="Text 4"/>
          <p:cNvSpPr/>
          <p:nvPr/>
        </p:nvSpPr>
        <p:spPr>
          <a:xfrm>
            <a:off x="795528" y="1549908"/>
            <a:ext cx="512064" cy="512064"/>
          </a:xfrm>
          <a:prstGeom prst="rect">
            <a:avLst/>
          </a:prstGeom>
          <a:noFill/>
          <a:ln/>
        </p:spPr>
        <p:txBody>
          <a:bodyPr wrap="square" rtlCol="0" anchor="ctr"/>
          <a:lstStyle/>
          <a:p>
            <a:pPr algn="ctr" indent="0" marL="0">
              <a:buNone/>
            </a:pPr>
            <a:r>
              <a:rPr lang="en-US" sz="1100" b="1" dirty="0">
                <a:solidFill>
                  <a:srgbClr val="16213E"/>
                </a:solidFill>
                <a:latin typeface="Calibri" pitchFamily="34" charset="0"/>
                <a:ea typeface="Calibri" pitchFamily="34" charset="-122"/>
                <a:cs typeface="Calibri" pitchFamily="34" charset="-120"/>
              </a:rPr>
              <a:t>CS</a:t>
            </a:r>
            <a:endParaRPr lang="en-US" sz="1100" dirty="0"/>
          </a:p>
        </p:txBody>
      </p:sp>
      <p:sp>
        <p:nvSpPr>
          <p:cNvPr id="7" name="Text 5"/>
          <p:cNvSpPr/>
          <p:nvPr/>
        </p:nvSpPr>
        <p:spPr>
          <a:xfrm>
            <a:off x="1417320" y="1481328"/>
            <a:ext cx="9966960" cy="658368"/>
          </a:xfrm>
          <a:prstGeom prst="rect">
            <a:avLst/>
          </a:prstGeom>
          <a:noFill/>
          <a:ln/>
        </p:spPr>
        <p:txBody>
          <a:bodyPr wrap="square" rtlCol="0" anchor="ctr"/>
          <a:lstStyle/>
          <a:p>
            <a:pPr indent="0" marL="0">
              <a:buNone/>
            </a:pPr>
            <a:r>
              <a:rPr lang="en-US" sz="1150" dirty="0">
                <a:solidFill>
                  <a:srgbClr val="E6EAF2"/>
                </a:solidFill>
                <a:latin typeface="Calibri" pitchFamily="34" charset="0"/>
                <a:ea typeface="Calibri" pitchFamily="34" charset="-122"/>
                <a:cs typeface="Calibri" pitchFamily="34" charset="-120"/>
              </a:rPr>
              <a:t>Problem/Business Context: A mid-size company wants to reduce response times for common customer inquiries while preserving quality for complex issues that require human judgment and empathy.</a:t>
            </a:r>
            <a:endParaRPr lang="en-US" sz="1150" dirty="0"/>
          </a:p>
        </p:txBody>
      </p:sp>
      <p:sp>
        <p:nvSpPr>
          <p:cNvPr id="8" name="Shape 6"/>
          <p:cNvSpPr/>
          <p:nvPr/>
        </p:nvSpPr>
        <p:spPr>
          <a:xfrm>
            <a:off x="548640" y="2377440"/>
            <a:ext cx="3596640" cy="1874520"/>
          </a:xfrm>
          <a:prstGeom prst="roundRect">
            <a:avLst>
              <a:gd name="adj" fmla="val 3902"/>
            </a:avLst>
          </a:prstGeom>
          <a:solidFill>
            <a:srgbClr val="F4F6FA"/>
          </a:solidFill>
          <a:ln w="12700">
            <a:solidFill>
              <a:srgbClr val="D8DEE9"/>
            </a:solidFill>
            <a:prstDash val="solid"/>
          </a:ln>
        </p:spPr>
      </p:sp>
      <p:sp>
        <p:nvSpPr>
          <p:cNvPr id="9" name="Text 7"/>
          <p:cNvSpPr/>
          <p:nvPr/>
        </p:nvSpPr>
        <p:spPr>
          <a:xfrm>
            <a:off x="731520" y="2514600"/>
            <a:ext cx="3230880" cy="274320"/>
          </a:xfrm>
          <a:prstGeom prst="rect">
            <a:avLst/>
          </a:prstGeom>
          <a:noFill/>
          <a:ln/>
        </p:spPr>
        <p:txBody>
          <a:bodyPr wrap="square" rtlCol="0" anchor="ctr"/>
          <a:lstStyle/>
          <a:p>
            <a:pPr indent="0" marL="0">
              <a:buNone/>
            </a:pPr>
            <a:r>
              <a:rPr lang="en-US" sz="1000" b="1" spc="100" kern="0" dirty="0">
                <a:solidFill>
                  <a:srgbClr val="0FBFAE"/>
                </a:solidFill>
                <a:latin typeface="Calibri" pitchFamily="34" charset="0"/>
                <a:ea typeface="Calibri" pitchFamily="34" charset="-122"/>
                <a:cs typeface="Calibri" pitchFamily="34" charset="-120"/>
              </a:rPr>
              <a:t>HOW AI IS APPLIED</a:t>
            </a:r>
            <a:endParaRPr lang="en-US" sz="1000" dirty="0"/>
          </a:p>
        </p:txBody>
      </p:sp>
      <p:sp>
        <p:nvSpPr>
          <p:cNvPr id="10" name="Text 8"/>
          <p:cNvSpPr/>
          <p:nvPr/>
        </p:nvSpPr>
        <p:spPr>
          <a:xfrm>
            <a:off x="731520" y="2816352"/>
            <a:ext cx="3230880" cy="1325880"/>
          </a:xfrm>
          <a:prstGeom prst="rect">
            <a:avLst/>
          </a:prstGeom>
          <a:noFill/>
          <a:ln/>
        </p:spPr>
        <p:txBody>
          <a:bodyPr wrap="square" rtlCol="0" anchor="t"/>
          <a:lstStyle/>
          <a:p>
            <a:pPr indent="0" marL="0">
              <a:buNone/>
            </a:pPr>
            <a:r>
              <a:rPr lang="en-US" sz="1000" dirty="0">
                <a:solidFill>
                  <a:srgbClr val="5B6B82"/>
                </a:solidFill>
                <a:latin typeface="Calibri" pitchFamily="34" charset="0"/>
                <a:ea typeface="Calibri" pitchFamily="34" charset="-122"/>
                <a:cs typeface="Calibri" pitchFamily="34" charset="-120"/>
              </a:rPr>
              <a:t>An AI chat assistant handles high-volume, well-defined queries (order status, policy questions, basic troubleshooting) and escalates ambiguous or emotionally sensitive cases to human agents.</a:t>
            </a:r>
            <a:endParaRPr lang="en-US" sz="1000" dirty="0"/>
          </a:p>
        </p:txBody>
      </p:sp>
      <p:sp>
        <p:nvSpPr>
          <p:cNvPr id="11" name="Shape 9"/>
          <p:cNvSpPr/>
          <p:nvPr/>
        </p:nvSpPr>
        <p:spPr>
          <a:xfrm>
            <a:off x="4282440" y="2377440"/>
            <a:ext cx="3596640" cy="1874520"/>
          </a:xfrm>
          <a:prstGeom prst="roundRect">
            <a:avLst>
              <a:gd name="adj" fmla="val 3902"/>
            </a:avLst>
          </a:prstGeom>
          <a:solidFill>
            <a:srgbClr val="F4F6FA"/>
          </a:solidFill>
          <a:ln w="12700">
            <a:solidFill>
              <a:srgbClr val="D8DEE9"/>
            </a:solidFill>
            <a:prstDash val="solid"/>
          </a:ln>
        </p:spPr>
      </p:sp>
      <p:sp>
        <p:nvSpPr>
          <p:cNvPr id="12" name="Text 10"/>
          <p:cNvSpPr/>
          <p:nvPr/>
        </p:nvSpPr>
        <p:spPr>
          <a:xfrm>
            <a:off x="4465320" y="2514600"/>
            <a:ext cx="3230880" cy="274320"/>
          </a:xfrm>
          <a:prstGeom prst="rect">
            <a:avLst/>
          </a:prstGeom>
          <a:noFill/>
          <a:ln/>
        </p:spPr>
        <p:txBody>
          <a:bodyPr wrap="square" rtlCol="0" anchor="ctr"/>
          <a:lstStyle/>
          <a:p>
            <a:pPr indent="0" marL="0">
              <a:buNone/>
            </a:pPr>
            <a:r>
              <a:rPr lang="en-US" sz="1000" b="1" spc="100" kern="0" dirty="0">
                <a:solidFill>
                  <a:srgbClr val="0FBFAE"/>
                </a:solidFill>
                <a:latin typeface="Calibri" pitchFamily="34" charset="0"/>
                <a:ea typeface="Calibri" pitchFamily="34" charset="-122"/>
                <a:cs typeface="Calibri" pitchFamily="34" charset="-120"/>
              </a:rPr>
              <a:t>REQUIRED DATA</a:t>
            </a:r>
            <a:endParaRPr lang="en-US" sz="1000" dirty="0"/>
          </a:p>
        </p:txBody>
      </p:sp>
      <p:sp>
        <p:nvSpPr>
          <p:cNvPr id="13" name="Text 11"/>
          <p:cNvSpPr/>
          <p:nvPr/>
        </p:nvSpPr>
        <p:spPr>
          <a:xfrm>
            <a:off x="4465320" y="2816352"/>
            <a:ext cx="3230880" cy="1325880"/>
          </a:xfrm>
          <a:prstGeom prst="rect">
            <a:avLst/>
          </a:prstGeom>
          <a:noFill/>
          <a:ln/>
        </p:spPr>
        <p:txBody>
          <a:bodyPr wrap="square" rtlCol="0" anchor="t"/>
          <a:lstStyle/>
          <a:p>
            <a:pPr indent="0" marL="0">
              <a:buNone/>
            </a:pPr>
            <a:r>
              <a:rPr lang="en-US" sz="1000" dirty="0">
                <a:solidFill>
                  <a:srgbClr val="5B6B82"/>
                </a:solidFill>
                <a:latin typeface="Calibri" pitchFamily="34" charset="0"/>
                <a:ea typeface="Calibri" pitchFamily="34" charset="-122"/>
                <a:cs typeface="Calibri" pitchFamily="34" charset="-120"/>
              </a:rPr>
              <a:t>Historical support-ticket transcripts (properly anonymized/consented), current policy and product documentation, and escalation criteria defined by the support team.</a:t>
            </a:r>
            <a:endParaRPr lang="en-US" sz="1000" dirty="0"/>
          </a:p>
        </p:txBody>
      </p:sp>
      <p:sp>
        <p:nvSpPr>
          <p:cNvPr id="14" name="Shape 12"/>
          <p:cNvSpPr/>
          <p:nvPr/>
        </p:nvSpPr>
        <p:spPr>
          <a:xfrm>
            <a:off x="8016240" y="2377440"/>
            <a:ext cx="3596640" cy="1874520"/>
          </a:xfrm>
          <a:prstGeom prst="roundRect">
            <a:avLst>
              <a:gd name="adj" fmla="val 3902"/>
            </a:avLst>
          </a:prstGeom>
          <a:solidFill>
            <a:srgbClr val="F4F6FA"/>
          </a:solidFill>
          <a:ln w="12700">
            <a:solidFill>
              <a:srgbClr val="D8DEE9"/>
            </a:solidFill>
            <a:prstDash val="solid"/>
          </a:ln>
        </p:spPr>
      </p:sp>
      <p:sp>
        <p:nvSpPr>
          <p:cNvPr id="15" name="Text 13"/>
          <p:cNvSpPr/>
          <p:nvPr/>
        </p:nvSpPr>
        <p:spPr>
          <a:xfrm>
            <a:off x="8199120" y="2514600"/>
            <a:ext cx="3230880" cy="274320"/>
          </a:xfrm>
          <a:prstGeom prst="rect">
            <a:avLst/>
          </a:prstGeom>
          <a:noFill/>
          <a:ln/>
        </p:spPr>
        <p:txBody>
          <a:bodyPr wrap="square" rtlCol="0" anchor="ctr"/>
          <a:lstStyle/>
          <a:p>
            <a:pPr indent="0" marL="0">
              <a:buNone/>
            </a:pPr>
            <a:r>
              <a:rPr lang="en-US" sz="1000" b="1" spc="100" kern="0" dirty="0">
                <a:solidFill>
                  <a:srgbClr val="0FBFAE"/>
                </a:solidFill>
                <a:latin typeface="Calibri" pitchFamily="34" charset="0"/>
                <a:ea typeface="Calibri" pitchFamily="34" charset="-122"/>
                <a:cs typeface="Calibri" pitchFamily="34" charset="-120"/>
              </a:rPr>
              <a:t>AI WORKFLOW</a:t>
            </a:r>
            <a:endParaRPr lang="en-US" sz="1000" dirty="0"/>
          </a:p>
        </p:txBody>
      </p:sp>
      <p:sp>
        <p:nvSpPr>
          <p:cNvPr id="16" name="Text 14"/>
          <p:cNvSpPr/>
          <p:nvPr/>
        </p:nvSpPr>
        <p:spPr>
          <a:xfrm>
            <a:off x="8199120" y="2816352"/>
            <a:ext cx="3230880" cy="1325880"/>
          </a:xfrm>
          <a:prstGeom prst="rect">
            <a:avLst/>
          </a:prstGeom>
          <a:noFill/>
          <a:ln/>
        </p:spPr>
        <p:txBody>
          <a:bodyPr wrap="square" rtlCol="0" anchor="t"/>
          <a:lstStyle/>
          <a:p>
            <a:pPr indent="0" marL="0">
              <a:buNone/>
            </a:pPr>
            <a:r>
              <a:rPr lang="en-US" sz="1000" dirty="0">
                <a:solidFill>
                  <a:srgbClr val="5B6B82"/>
                </a:solidFill>
                <a:latin typeface="Calibri" pitchFamily="34" charset="0"/>
                <a:ea typeface="Calibri" pitchFamily="34" charset="-122"/>
                <a:cs typeface="Calibri" pitchFamily="34" charset="-120"/>
              </a:rPr>
              <a:t>Customer submits query → AI classifies intent and confidence level → routine queries answered directly → low-confidence or sensitive queries escalated to a human agent with full context passed along.</a:t>
            </a:r>
            <a:endParaRPr lang="en-US" sz="1000" dirty="0"/>
          </a:p>
        </p:txBody>
      </p:sp>
      <p:sp>
        <p:nvSpPr>
          <p:cNvPr id="17" name="Shape 15"/>
          <p:cNvSpPr/>
          <p:nvPr/>
        </p:nvSpPr>
        <p:spPr>
          <a:xfrm>
            <a:off x="548640" y="4389120"/>
            <a:ext cx="5394960" cy="1554480"/>
          </a:xfrm>
          <a:prstGeom prst="roundRect">
            <a:avLst>
              <a:gd name="adj" fmla="val 4706"/>
            </a:avLst>
          </a:prstGeom>
          <a:solidFill>
            <a:srgbClr val="FFFFFF"/>
          </a:solidFill>
          <a:ln w="12700">
            <a:solidFill>
              <a:srgbClr val="2FA36B"/>
            </a:solidFill>
            <a:prstDash val="solid"/>
          </a:ln>
        </p:spPr>
      </p:sp>
      <p:sp>
        <p:nvSpPr>
          <p:cNvPr id="18" name="Text 16"/>
          <p:cNvSpPr/>
          <p:nvPr/>
        </p:nvSpPr>
        <p:spPr>
          <a:xfrm>
            <a:off x="777240" y="4507992"/>
            <a:ext cx="4937760" cy="274320"/>
          </a:xfrm>
          <a:prstGeom prst="rect">
            <a:avLst/>
          </a:prstGeom>
          <a:noFill/>
          <a:ln/>
        </p:spPr>
        <p:txBody>
          <a:bodyPr wrap="square" rtlCol="0" anchor="ctr"/>
          <a:lstStyle/>
          <a:p>
            <a:pPr indent="0" marL="0">
              <a:buNone/>
            </a:pPr>
            <a:r>
              <a:rPr lang="en-US" sz="1000" b="1" dirty="0">
                <a:solidFill>
                  <a:srgbClr val="2FA36B"/>
                </a:solidFill>
                <a:latin typeface="Calibri" pitchFamily="34" charset="0"/>
                <a:ea typeface="Calibri" pitchFamily="34" charset="-122"/>
                <a:cs typeface="Calibri" pitchFamily="34" charset="-120"/>
              </a:rPr>
              <a:t>MEASURABLE POTENTIAL BENEFITS</a:t>
            </a:r>
            <a:endParaRPr lang="en-US" sz="1000" dirty="0"/>
          </a:p>
        </p:txBody>
      </p:sp>
      <p:sp>
        <p:nvSpPr>
          <p:cNvPr id="19" name="Text 17"/>
          <p:cNvSpPr/>
          <p:nvPr/>
        </p:nvSpPr>
        <p:spPr>
          <a:xfrm>
            <a:off x="777240" y="4809744"/>
            <a:ext cx="4937760" cy="10515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Potential for faster response times on routine queries and 24/7 availability for basic questions; human agents freed to focus on complex or high-emotion cases. Specific resolution-rate or satisfaction figures should be measured per deployment, not assumed industry-wide.</a:t>
            </a:r>
            <a:endParaRPr lang="en-US" sz="1000" dirty="0"/>
          </a:p>
        </p:txBody>
      </p:sp>
      <p:sp>
        <p:nvSpPr>
          <p:cNvPr id="20" name="Shape 18"/>
          <p:cNvSpPr/>
          <p:nvPr/>
        </p:nvSpPr>
        <p:spPr>
          <a:xfrm>
            <a:off x="6080760" y="4389120"/>
            <a:ext cx="5532120" cy="1554480"/>
          </a:xfrm>
          <a:prstGeom prst="roundRect">
            <a:avLst>
              <a:gd name="adj" fmla="val 4706"/>
            </a:avLst>
          </a:prstGeom>
          <a:solidFill>
            <a:srgbClr val="FFFFFF"/>
          </a:solidFill>
          <a:ln w="12700">
            <a:solidFill>
              <a:srgbClr val="D98C2B"/>
            </a:solidFill>
            <a:prstDash val="solid"/>
          </a:ln>
        </p:spPr>
      </p:sp>
      <p:sp>
        <p:nvSpPr>
          <p:cNvPr id="21" name="Text 19"/>
          <p:cNvSpPr/>
          <p:nvPr/>
        </p:nvSpPr>
        <p:spPr>
          <a:xfrm>
            <a:off x="6309360" y="4507992"/>
            <a:ext cx="5120640" cy="274320"/>
          </a:xfrm>
          <a:prstGeom prst="rect">
            <a:avLst/>
          </a:prstGeom>
          <a:noFill/>
          <a:ln/>
        </p:spPr>
        <p:txBody>
          <a:bodyPr wrap="square" rtlCol="0" anchor="ctr"/>
          <a:lstStyle/>
          <a:p>
            <a:pPr indent="0" marL="0">
              <a:buNone/>
            </a:pPr>
            <a:r>
              <a:rPr lang="en-US" sz="1000" b="1" dirty="0">
                <a:solidFill>
                  <a:srgbClr val="D98C2B"/>
                </a:solidFill>
                <a:latin typeface="Calibri" pitchFamily="34" charset="0"/>
                <a:ea typeface="Calibri" pitchFamily="34" charset="-122"/>
                <a:cs typeface="Calibri" pitchFamily="34" charset="-120"/>
              </a:rPr>
              <a:t>LIMITATIONS, RISKS &amp; ETHICAL CONSIDERATIONS</a:t>
            </a:r>
            <a:endParaRPr lang="en-US" sz="1000" dirty="0"/>
          </a:p>
        </p:txBody>
      </p:sp>
      <p:sp>
        <p:nvSpPr>
          <p:cNvPr id="22" name="Text 20"/>
          <p:cNvSpPr/>
          <p:nvPr/>
        </p:nvSpPr>
        <p:spPr>
          <a:xfrm>
            <a:off x="6309360" y="4809744"/>
            <a:ext cx="5120640" cy="1051560"/>
          </a:xfrm>
          <a:prstGeom prst="rect">
            <a:avLst/>
          </a:prstGeom>
          <a:noFill/>
          <a:ln/>
        </p:spPr>
        <p:txBody>
          <a:bodyPr wrap="square" rtlCol="0" anchor="ctr"/>
          <a:lstStyle/>
          <a:p>
            <a:pPr indent="0" marL="0">
              <a:buNone/>
            </a:pPr>
            <a:r>
              <a:rPr lang="en-US" sz="1000" dirty="0">
                <a:solidFill>
                  <a:srgbClr val="5B6B82"/>
                </a:solidFill>
                <a:latin typeface="Calibri" pitchFamily="34" charset="0"/>
                <a:ea typeface="Calibri" pitchFamily="34" charset="-122"/>
                <a:cs typeface="Calibri" pitchFamily="34" charset="-120"/>
              </a:rPr>
              <a:t>Risk of customer frustration if escalation triggers are poorly tuned or if the AI is falsely confident on an ambiguous query; requires clear disclosure that the customer is interacting with AI; data privacy considerations apply to any personal information shared in chat; human escalation path must always remain available and easy to reach.</a:t>
            </a:r>
            <a:endParaRPr lang="en-US" sz="1000" dirty="0"/>
          </a:p>
        </p:txBody>
      </p:sp>
      <p:sp>
        <p:nvSpPr>
          <p:cNvPr id="23" name="Shape 21"/>
          <p:cNvSpPr/>
          <p:nvPr/>
        </p:nvSpPr>
        <p:spPr>
          <a:xfrm>
            <a:off x="548640" y="6080760"/>
            <a:ext cx="11064240" cy="594360"/>
          </a:xfrm>
          <a:prstGeom prst="roundRect">
            <a:avLst>
              <a:gd name="adj" fmla="val 12308"/>
            </a:avLst>
          </a:prstGeom>
          <a:solidFill>
            <a:srgbClr val="0D1B2A"/>
          </a:solidFill>
          <a:ln/>
        </p:spPr>
      </p:sp>
      <p:sp>
        <p:nvSpPr>
          <p:cNvPr id="24" name="Text 22"/>
          <p:cNvSpPr/>
          <p:nvPr/>
        </p:nvSpPr>
        <p:spPr>
          <a:xfrm>
            <a:off x="822960" y="6080760"/>
            <a:ext cx="10515600" cy="594360"/>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CRITICAL-THINKING QUESTION:  How should a company decide which queries are 'safe' for full AI automation versus which always require a human in the loop?</a:t>
            </a:r>
            <a:endParaRPr lang="en-US" sz="1150" dirty="0"/>
          </a:p>
        </p:txBody>
      </p:sp>
      <p:sp>
        <p:nvSpPr>
          <p:cNvPr id="25" name="Text 23"/>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27 / 30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FORWARD OUTLOOK — NOT A GUARANTEE</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AI Trend Analysis — 2026 and Beyond</a:t>
            </a:r>
            <a:endParaRPr lang="en-US" sz="3000" dirty="0"/>
          </a:p>
        </p:txBody>
      </p:sp>
      <p:sp>
        <p:nvSpPr>
          <p:cNvPr id="4" name="Text 2"/>
          <p:cNvSpPr/>
          <p:nvPr/>
        </p:nvSpPr>
        <p:spPr>
          <a:xfrm>
            <a:off x="548640" y="1371600"/>
            <a:ext cx="10972800" cy="320040"/>
          </a:xfrm>
          <a:prstGeom prst="rect">
            <a:avLst/>
          </a:prstGeom>
          <a:noFill/>
          <a:ln/>
        </p:spPr>
        <p:txBody>
          <a:bodyPr wrap="square" rtlCol="0" anchor="ctr"/>
          <a:lstStyle/>
          <a:p>
            <a:pPr indent="0" marL="0">
              <a:buNone/>
            </a:pPr>
            <a:r>
              <a:rPr lang="en-US" sz="1150" i="1" dirty="0">
                <a:solidFill>
                  <a:srgbClr val="5B6B82"/>
                </a:solidFill>
                <a:latin typeface="Calibri" pitchFamily="34" charset="0"/>
                <a:ea typeface="Calibri" pitchFamily="34" charset="-122"/>
                <a:cs typeface="Calibri" pitchFamily="34" charset="-120"/>
              </a:rPr>
              <a:t>Analyzed across nine dimensions. These are directional assessments, not predictions of guaranteed outcomes.</a:t>
            </a:r>
            <a:endParaRPr lang="en-US" sz="1150" dirty="0"/>
          </a:p>
        </p:txBody>
      </p:sp>
      <p:sp>
        <p:nvSpPr>
          <p:cNvPr id="5" name="Shape 3"/>
          <p:cNvSpPr/>
          <p:nvPr/>
        </p:nvSpPr>
        <p:spPr>
          <a:xfrm>
            <a:off x="548640" y="1828800"/>
            <a:ext cx="3611880" cy="1371600"/>
          </a:xfrm>
          <a:prstGeom prst="roundRect">
            <a:avLst>
              <a:gd name="adj" fmla="val 5333"/>
            </a:avLst>
          </a:prstGeom>
          <a:solidFill>
            <a:srgbClr val="F4F6FA"/>
          </a:solidFill>
          <a:ln w="12700">
            <a:solidFill>
              <a:srgbClr val="D8DEE9"/>
            </a:solidFill>
            <a:prstDash val="solid"/>
          </a:ln>
        </p:spPr>
      </p:sp>
      <p:sp>
        <p:nvSpPr>
          <p:cNvPr id="6" name="Shape 4"/>
          <p:cNvSpPr/>
          <p:nvPr/>
        </p:nvSpPr>
        <p:spPr>
          <a:xfrm>
            <a:off x="548640" y="1828800"/>
            <a:ext cx="54864" cy="1371600"/>
          </a:xfrm>
          <a:prstGeom prst="rect">
            <a:avLst/>
          </a:prstGeom>
          <a:solidFill>
            <a:srgbClr val="2FE6D6"/>
          </a:solidFill>
          <a:ln/>
        </p:spPr>
      </p:sp>
      <p:sp>
        <p:nvSpPr>
          <p:cNvPr id="7" name="Text 5"/>
          <p:cNvSpPr/>
          <p:nvPr/>
        </p:nvSpPr>
        <p:spPr>
          <a:xfrm>
            <a:off x="749808" y="1920240"/>
            <a:ext cx="3246120" cy="32004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Technology Maturity</a:t>
            </a:r>
            <a:endParaRPr lang="en-US" sz="1050" dirty="0"/>
          </a:p>
        </p:txBody>
      </p:sp>
      <p:sp>
        <p:nvSpPr>
          <p:cNvPr id="8" name="Text 6"/>
          <p:cNvSpPr/>
          <p:nvPr/>
        </p:nvSpPr>
        <p:spPr>
          <a:xfrm>
            <a:off x="749808" y="2240280"/>
            <a:ext cx="3246120" cy="914400"/>
          </a:xfrm>
          <a:prstGeom prst="rect">
            <a:avLst/>
          </a:prstGeom>
          <a:noFill/>
          <a:ln/>
        </p:spPr>
        <p:txBody>
          <a:bodyPr wrap="square" rtlCol="0" anchor="ctr"/>
          <a:lstStyle/>
          <a:p>
            <a:pPr indent="0" marL="0">
              <a:buNone/>
            </a:pPr>
            <a:r>
              <a:rPr lang="en-US" sz="870" dirty="0">
                <a:solidFill>
                  <a:srgbClr val="5B6B82"/>
                </a:solidFill>
                <a:latin typeface="Calibri" pitchFamily="34" charset="0"/>
                <a:ea typeface="Calibri" pitchFamily="34" charset="-122"/>
                <a:cs typeface="Calibri" pitchFamily="34" charset="-120"/>
              </a:rPr>
              <a:t>Core generative AI capability is advancing quickly; reliability and reasoning consistency remain active areas of improvement.</a:t>
            </a:r>
            <a:endParaRPr lang="en-US" sz="870" dirty="0"/>
          </a:p>
        </p:txBody>
      </p:sp>
      <p:sp>
        <p:nvSpPr>
          <p:cNvPr id="9" name="Shape 7"/>
          <p:cNvSpPr/>
          <p:nvPr/>
        </p:nvSpPr>
        <p:spPr>
          <a:xfrm>
            <a:off x="4343400" y="1828800"/>
            <a:ext cx="3611880" cy="1371600"/>
          </a:xfrm>
          <a:prstGeom prst="roundRect">
            <a:avLst>
              <a:gd name="adj" fmla="val 5333"/>
            </a:avLst>
          </a:prstGeom>
          <a:solidFill>
            <a:srgbClr val="F4F6FA"/>
          </a:solidFill>
          <a:ln w="12700">
            <a:solidFill>
              <a:srgbClr val="D8DEE9"/>
            </a:solidFill>
            <a:prstDash val="solid"/>
          </a:ln>
        </p:spPr>
      </p:sp>
      <p:sp>
        <p:nvSpPr>
          <p:cNvPr id="10" name="Shape 8"/>
          <p:cNvSpPr/>
          <p:nvPr/>
        </p:nvSpPr>
        <p:spPr>
          <a:xfrm>
            <a:off x="4343400" y="1828800"/>
            <a:ext cx="54864" cy="1371600"/>
          </a:xfrm>
          <a:prstGeom prst="rect">
            <a:avLst/>
          </a:prstGeom>
          <a:solidFill>
            <a:srgbClr val="2FE6D6"/>
          </a:solidFill>
          <a:ln/>
        </p:spPr>
      </p:sp>
      <p:sp>
        <p:nvSpPr>
          <p:cNvPr id="11" name="Text 9"/>
          <p:cNvSpPr/>
          <p:nvPr/>
        </p:nvSpPr>
        <p:spPr>
          <a:xfrm>
            <a:off x="4544568" y="1920240"/>
            <a:ext cx="3246120" cy="32004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Business Adoption</a:t>
            </a:r>
            <a:endParaRPr lang="en-US" sz="1050" dirty="0"/>
          </a:p>
        </p:txBody>
      </p:sp>
      <p:sp>
        <p:nvSpPr>
          <p:cNvPr id="12" name="Text 10"/>
          <p:cNvSpPr/>
          <p:nvPr/>
        </p:nvSpPr>
        <p:spPr>
          <a:xfrm>
            <a:off x="4544568" y="2240280"/>
            <a:ext cx="3246120" cy="914400"/>
          </a:xfrm>
          <a:prstGeom prst="rect">
            <a:avLst/>
          </a:prstGeom>
          <a:noFill/>
          <a:ln/>
        </p:spPr>
        <p:txBody>
          <a:bodyPr wrap="square" rtlCol="0" anchor="ctr"/>
          <a:lstStyle/>
          <a:p>
            <a:pPr indent="0" marL="0">
              <a:buNone/>
            </a:pPr>
            <a:r>
              <a:rPr lang="en-US" sz="870" dirty="0">
                <a:solidFill>
                  <a:srgbClr val="5B6B82"/>
                </a:solidFill>
                <a:latin typeface="Calibri" pitchFamily="34" charset="0"/>
                <a:ea typeface="Calibri" pitchFamily="34" charset="-122"/>
                <a:cs typeface="Calibri" pitchFamily="34" charset="-120"/>
              </a:rPr>
              <a:t>Adoption is broadening across sectors, though depth of integration (pilot vs. core-workflow) varies widely by organization.</a:t>
            </a:r>
            <a:endParaRPr lang="en-US" sz="870" dirty="0"/>
          </a:p>
        </p:txBody>
      </p:sp>
      <p:sp>
        <p:nvSpPr>
          <p:cNvPr id="13" name="Shape 11"/>
          <p:cNvSpPr/>
          <p:nvPr/>
        </p:nvSpPr>
        <p:spPr>
          <a:xfrm>
            <a:off x="8138160" y="1828800"/>
            <a:ext cx="3611880" cy="1371600"/>
          </a:xfrm>
          <a:prstGeom prst="roundRect">
            <a:avLst>
              <a:gd name="adj" fmla="val 5333"/>
            </a:avLst>
          </a:prstGeom>
          <a:solidFill>
            <a:srgbClr val="F4F6FA"/>
          </a:solidFill>
          <a:ln w="12700">
            <a:solidFill>
              <a:srgbClr val="D8DEE9"/>
            </a:solidFill>
            <a:prstDash val="solid"/>
          </a:ln>
        </p:spPr>
      </p:sp>
      <p:sp>
        <p:nvSpPr>
          <p:cNvPr id="14" name="Shape 12"/>
          <p:cNvSpPr/>
          <p:nvPr/>
        </p:nvSpPr>
        <p:spPr>
          <a:xfrm>
            <a:off x="8138160" y="1828800"/>
            <a:ext cx="54864" cy="1371600"/>
          </a:xfrm>
          <a:prstGeom prst="rect">
            <a:avLst/>
          </a:prstGeom>
          <a:solidFill>
            <a:srgbClr val="2FE6D6"/>
          </a:solidFill>
          <a:ln/>
        </p:spPr>
      </p:sp>
      <p:sp>
        <p:nvSpPr>
          <p:cNvPr id="15" name="Text 13"/>
          <p:cNvSpPr/>
          <p:nvPr/>
        </p:nvSpPr>
        <p:spPr>
          <a:xfrm>
            <a:off x="8339328" y="1920240"/>
            <a:ext cx="3246120" cy="32004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Workforce Impact</a:t>
            </a:r>
            <a:endParaRPr lang="en-US" sz="1050" dirty="0"/>
          </a:p>
        </p:txBody>
      </p:sp>
      <p:sp>
        <p:nvSpPr>
          <p:cNvPr id="16" name="Text 14"/>
          <p:cNvSpPr/>
          <p:nvPr/>
        </p:nvSpPr>
        <p:spPr>
          <a:xfrm>
            <a:off x="8339328" y="2240280"/>
            <a:ext cx="3246120" cy="914400"/>
          </a:xfrm>
          <a:prstGeom prst="rect">
            <a:avLst/>
          </a:prstGeom>
          <a:noFill/>
          <a:ln/>
        </p:spPr>
        <p:txBody>
          <a:bodyPr wrap="square" rtlCol="0" anchor="ctr"/>
          <a:lstStyle/>
          <a:p>
            <a:pPr indent="0" marL="0">
              <a:buNone/>
            </a:pPr>
            <a:r>
              <a:rPr lang="en-US" sz="870" dirty="0">
                <a:solidFill>
                  <a:srgbClr val="5B6B82"/>
                </a:solidFill>
                <a:latin typeface="Calibri" pitchFamily="34" charset="0"/>
                <a:ea typeface="Calibri" pitchFamily="34" charset="-122"/>
                <a:cs typeface="Calibri" pitchFamily="34" charset="-120"/>
              </a:rPr>
              <a:t>Task-level augmentation is more evident than full role replacement so far; net long-term employment effects remain debated among economists.</a:t>
            </a:r>
            <a:endParaRPr lang="en-US" sz="870" dirty="0"/>
          </a:p>
        </p:txBody>
      </p:sp>
      <p:sp>
        <p:nvSpPr>
          <p:cNvPr id="17" name="Shape 15"/>
          <p:cNvSpPr/>
          <p:nvPr/>
        </p:nvSpPr>
        <p:spPr>
          <a:xfrm>
            <a:off x="548640" y="3337560"/>
            <a:ext cx="3611880" cy="1371600"/>
          </a:xfrm>
          <a:prstGeom prst="roundRect">
            <a:avLst>
              <a:gd name="adj" fmla="val 5333"/>
            </a:avLst>
          </a:prstGeom>
          <a:solidFill>
            <a:srgbClr val="F4F6FA"/>
          </a:solidFill>
          <a:ln w="12700">
            <a:solidFill>
              <a:srgbClr val="D8DEE9"/>
            </a:solidFill>
            <a:prstDash val="solid"/>
          </a:ln>
        </p:spPr>
      </p:sp>
      <p:sp>
        <p:nvSpPr>
          <p:cNvPr id="18" name="Shape 16"/>
          <p:cNvSpPr/>
          <p:nvPr/>
        </p:nvSpPr>
        <p:spPr>
          <a:xfrm>
            <a:off x="548640" y="3337560"/>
            <a:ext cx="54864" cy="1371600"/>
          </a:xfrm>
          <a:prstGeom prst="rect">
            <a:avLst/>
          </a:prstGeom>
          <a:solidFill>
            <a:srgbClr val="2FE6D6"/>
          </a:solidFill>
          <a:ln/>
        </p:spPr>
      </p:sp>
      <p:sp>
        <p:nvSpPr>
          <p:cNvPr id="19" name="Text 17"/>
          <p:cNvSpPr/>
          <p:nvPr/>
        </p:nvSpPr>
        <p:spPr>
          <a:xfrm>
            <a:off x="749808" y="3429000"/>
            <a:ext cx="3246120" cy="32004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Infrastructure Requirements</a:t>
            </a:r>
            <a:endParaRPr lang="en-US" sz="1050" dirty="0"/>
          </a:p>
        </p:txBody>
      </p:sp>
      <p:sp>
        <p:nvSpPr>
          <p:cNvPr id="20" name="Text 18"/>
          <p:cNvSpPr/>
          <p:nvPr/>
        </p:nvSpPr>
        <p:spPr>
          <a:xfrm>
            <a:off x="749808" y="3749040"/>
            <a:ext cx="3246120" cy="914400"/>
          </a:xfrm>
          <a:prstGeom prst="rect">
            <a:avLst/>
          </a:prstGeom>
          <a:noFill/>
          <a:ln/>
        </p:spPr>
        <p:txBody>
          <a:bodyPr wrap="square" rtlCol="0" anchor="ctr"/>
          <a:lstStyle/>
          <a:p>
            <a:pPr indent="0" marL="0">
              <a:buNone/>
            </a:pPr>
            <a:r>
              <a:rPr lang="en-US" sz="870" dirty="0">
                <a:solidFill>
                  <a:srgbClr val="5B6B82"/>
                </a:solidFill>
                <a:latin typeface="Calibri" pitchFamily="34" charset="0"/>
                <a:ea typeface="Calibri" pitchFamily="34" charset="-122"/>
                <a:cs typeface="Calibri" pitchFamily="34" charset="-120"/>
              </a:rPr>
              <a:t>Compute, energy, and data infrastructure demands are significant and growing, raising sustainability and capacity questions.</a:t>
            </a:r>
            <a:endParaRPr lang="en-US" sz="870" dirty="0"/>
          </a:p>
        </p:txBody>
      </p:sp>
      <p:sp>
        <p:nvSpPr>
          <p:cNvPr id="21" name="Shape 19"/>
          <p:cNvSpPr/>
          <p:nvPr/>
        </p:nvSpPr>
        <p:spPr>
          <a:xfrm>
            <a:off x="4343400" y="3337560"/>
            <a:ext cx="3611880" cy="1371600"/>
          </a:xfrm>
          <a:prstGeom prst="roundRect">
            <a:avLst>
              <a:gd name="adj" fmla="val 5333"/>
            </a:avLst>
          </a:prstGeom>
          <a:solidFill>
            <a:srgbClr val="F4F6FA"/>
          </a:solidFill>
          <a:ln w="12700">
            <a:solidFill>
              <a:srgbClr val="D8DEE9"/>
            </a:solidFill>
            <a:prstDash val="solid"/>
          </a:ln>
        </p:spPr>
      </p:sp>
      <p:sp>
        <p:nvSpPr>
          <p:cNvPr id="22" name="Shape 20"/>
          <p:cNvSpPr/>
          <p:nvPr/>
        </p:nvSpPr>
        <p:spPr>
          <a:xfrm>
            <a:off x="4343400" y="3337560"/>
            <a:ext cx="54864" cy="1371600"/>
          </a:xfrm>
          <a:prstGeom prst="rect">
            <a:avLst/>
          </a:prstGeom>
          <a:solidFill>
            <a:srgbClr val="2FE6D6"/>
          </a:solidFill>
          <a:ln/>
        </p:spPr>
      </p:sp>
      <p:sp>
        <p:nvSpPr>
          <p:cNvPr id="23" name="Text 21"/>
          <p:cNvSpPr/>
          <p:nvPr/>
        </p:nvSpPr>
        <p:spPr>
          <a:xfrm>
            <a:off x="4544568" y="3429000"/>
            <a:ext cx="3246120" cy="32004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Cost</a:t>
            </a:r>
            <a:endParaRPr lang="en-US" sz="1050" dirty="0"/>
          </a:p>
        </p:txBody>
      </p:sp>
      <p:sp>
        <p:nvSpPr>
          <p:cNvPr id="24" name="Text 22"/>
          <p:cNvSpPr/>
          <p:nvPr/>
        </p:nvSpPr>
        <p:spPr>
          <a:xfrm>
            <a:off x="4544568" y="3749040"/>
            <a:ext cx="3246120" cy="914400"/>
          </a:xfrm>
          <a:prstGeom prst="rect">
            <a:avLst/>
          </a:prstGeom>
          <a:noFill/>
          <a:ln/>
        </p:spPr>
        <p:txBody>
          <a:bodyPr wrap="square" rtlCol="0" anchor="ctr"/>
          <a:lstStyle/>
          <a:p>
            <a:pPr indent="0" marL="0">
              <a:buNone/>
            </a:pPr>
            <a:r>
              <a:rPr lang="en-US" sz="870" dirty="0">
                <a:solidFill>
                  <a:srgbClr val="5B6B82"/>
                </a:solidFill>
                <a:latin typeface="Calibri" pitchFamily="34" charset="0"/>
                <a:ea typeface="Calibri" pitchFamily="34" charset="-122"/>
                <a:cs typeface="Calibri" pitchFamily="34" charset="-120"/>
              </a:rPr>
              <a:t>Model usage costs have generally trended downward per unit of capability, but enterprise deployment costs (integration, governance) remain substantial.</a:t>
            </a:r>
            <a:endParaRPr lang="en-US" sz="870" dirty="0"/>
          </a:p>
        </p:txBody>
      </p:sp>
      <p:sp>
        <p:nvSpPr>
          <p:cNvPr id="25" name="Shape 23"/>
          <p:cNvSpPr/>
          <p:nvPr/>
        </p:nvSpPr>
        <p:spPr>
          <a:xfrm>
            <a:off x="8138160" y="3337560"/>
            <a:ext cx="3611880" cy="1371600"/>
          </a:xfrm>
          <a:prstGeom prst="roundRect">
            <a:avLst>
              <a:gd name="adj" fmla="val 5333"/>
            </a:avLst>
          </a:prstGeom>
          <a:solidFill>
            <a:srgbClr val="F4F6FA"/>
          </a:solidFill>
          <a:ln w="12700">
            <a:solidFill>
              <a:srgbClr val="D8DEE9"/>
            </a:solidFill>
            <a:prstDash val="solid"/>
          </a:ln>
        </p:spPr>
      </p:sp>
      <p:sp>
        <p:nvSpPr>
          <p:cNvPr id="26" name="Shape 24"/>
          <p:cNvSpPr/>
          <p:nvPr/>
        </p:nvSpPr>
        <p:spPr>
          <a:xfrm>
            <a:off x="8138160" y="3337560"/>
            <a:ext cx="54864" cy="1371600"/>
          </a:xfrm>
          <a:prstGeom prst="rect">
            <a:avLst/>
          </a:prstGeom>
          <a:solidFill>
            <a:srgbClr val="2FE6D6"/>
          </a:solidFill>
          <a:ln/>
        </p:spPr>
      </p:sp>
      <p:sp>
        <p:nvSpPr>
          <p:cNvPr id="27" name="Text 25"/>
          <p:cNvSpPr/>
          <p:nvPr/>
        </p:nvSpPr>
        <p:spPr>
          <a:xfrm>
            <a:off x="8339328" y="3429000"/>
            <a:ext cx="3246120" cy="32004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Regulation / Governance</a:t>
            </a:r>
            <a:endParaRPr lang="en-US" sz="1050" dirty="0"/>
          </a:p>
        </p:txBody>
      </p:sp>
      <p:sp>
        <p:nvSpPr>
          <p:cNvPr id="28" name="Text 26"/>
          <p:cNvSpPr/>
          <p:nvPr/>
        </p:nvSpPr>
        <p:spPr>
          <a:xfrm>
            <a:off x="8339328" y="3749040"/>
            <a:ext cx="3246120" cy="914400"/>
          </a:xfrm>
          <a:prstGeom prst="rect">
            <a:avLst/>
          </a:prstGeom>
          <a:noFill/>
          <a:ln/>
        </p:spPr>
        <p:txBody>
          <a:bodyPr wrap="square" rtlCol="0" anchor="ctr"/>
          <a:lstStyle/>
          <a:p>
            <a:pPr indent="0" marL="0">
              <a:buNone/>
            </a:pPr>
            <a:r>
              <a:rPr lang="en-US" sz="870" dirty="0">
                <a:solidFill>
                  <a:srgbClr val="5B6B82"/>
                </a:solidFill>
                <a:latin typeface="Calibri" pitchFamily="34" charset="0"/>
                <a:ea typeface="Calibri" pitchFamily="34" charset="-122"/>
                <a:cs typeface="Calibri" pitchFamily="34" charset="-120"/>
              </a:rPr>
              <a:t>Regulatory frameworks (e.g., EU AI Act and various national approaches) are actively developing and will continue to shape deployment requirements.</a:t>
            </a:r>
            <a:endParaRPr lang="en-US" sz="870" dirty="0"/>
          </a:p>
        </p:txBody>
      </p:sp>
      <p:sp>
        <p:nvSpPr>
          <p:cNvPr id="29" name="Shape 27"/>
          <p:cNvSpPr/>
          <p:nvPr/>
        </p:nvSpPr>
        <p:spPr>
          <a:xfrm>
            <a:off x="548640" y="4846320"/>
            <a:ext cx="3611880" cy="1371600"/>
          </a:xfrm>
          <a:prstGeom prst="roundRect">
            <a:avLst>
              <a:gd name="adj" fmla="val 5333"/>
            </a:avLst>
          </a:prstGeom>
          <a:solidFill>
            <a:srgbClr val="F4F6FA"/>
          </a:solidFill>
          <a:ln w="12700">
            <a:solidFill>
              <a:srgbClr val="D8DEE9"/>
            </a:solidFill>
            <a:prstDash val="solid"/>
          </a:ln>
        </p:spPr>
      </p:sp>
      <p:sp>
        <p:nvSpPr>
          <p:cNvPr id="30" name="Shape 28"/>
          <p:cNvSpPr/>
          <p:nvPr/>
        </p:nvSpPr>
        <p:spPr>
          <a:xfrm>
            <a:off x="548640" y="4846320"/>
            <a:ext cx="54864" cy="1371600"/>
          </a:xfrm>
          <a:prstGeom prst="rect">
            <a:avLst/>
          </a:prstGeom>
          <a:solidFill>
            <a:srgbClr val="2FE6D6"/>
          </a:solidFill>
          <a:ln/>
        </p:spPr>
      </p:sp>
      <p:sp>
        <p:nvSpPr>
          <p:cNvPr id="31" name="Text 29"/>
          <p:cNvSpPr/>
          <p:nvPr/>
        </p:nvSpPr>
        <p:spPr>
          <a:xfrm>
            <a:off x="749808" y="4937760"/>
            <a:ext cx="3246120" cy="32004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Security</a:t>
            </a:r>
            <a:endParaRPr lang="en-US" sz="1050" dirty="0"/>
          </a:p>
        </p:txBody>
      </p:sp>
      <p:sp>
        <p:nvSpPr>
          <p:cNvPr id="32" name="Text 30"/>
          <p:cNvSpPr/>
          <p:nvPr/>
        </p:nvSpPr>
        <p:spPr>
          <a:xfrm>
            <a:off x="749808" y="5257800"/>
            <a:ext cx="3246120" cy="914400"/>
          </a:xfrm>
          <a:prstGeom prst="rect">
            <a:avLst/>
          </a:prstGeom>
          <a:noFill/>
          <a:ln/>
        </p:spPr>
        <p:txBody>
          <a:bodyPr wrap="square" rtlCol="0" anchor="ctr"/>
          <a:lstStyle/>
          <a:p>
            <a:pPr indent="0" marL="0">
              <a:buNone/>
            </a:pPr>
            <a:r>
              <a:rPr lang="en-US" sz="870" dirty="0">
                <a:solidFill>
                  <a:srgbClr val="5B6B82"/>
                </a:solidFill>
                <a:latin typeface="Calibri" pitchFamily="34" charset="0"/>
                <a:ea typeface="Calibri" pitchFamily="34" charset="-122"/>
                <a:cs typeface="Calibri" pitchFamily="34" charset="-120"/>
              </a:rPr>
              <a:t>New attack surfaces (prompt injection, data leakage, model manipulation) are emerging alongside AI-assisted defensive tools.</a:t>
            </a:r>
            <a:endParaRPr lang="en-US" sz="870" dirty="0"/>
          </a:p>
        </p:txBody>
      </p:sp>
      <p:sp>
        <p:nvSpPr>
          <p:cNvPr id="33" name="Shape 31"/>
          <p:cNvSpPr/>
          <p:nvPr/>
        </p:nvSpPr>
        <p:spPr>
          <a:xfrm>
            <a:off x="4343400" y="4846320"/>
            <a:ext cx="3611880" cy="1371600"/>
          </a:xfrm>
          <a:prstGeom prst="roundRect">
            <a:avLst>
              <a:gd name="adj" fmla="val 5333"/>
            </a:avLst>
          </a:prstGeom>
          <a:solidFill>
            <a:srgbClr val="F4F6FA"/>
          </a:solidFill>
          <a:ln w="12700">
            <a:solidFill>
              <a:srgbClr val="D8DEE9"/>
            </a:solidFill>
            <a:prstDash val="solid"/>
          </a:ln>
        </p:spPr>
      </p:sp>
      <p:sp>
        <p:nvSpPr>
          <p:cNvPr id="34" name="Shape 32"/>
          <p:cNvSpPr/>
          <p:nvPr/>
        </p:nvSpPr>
        <p:spPr>
          <a:xfrm>
            <a:off x="4343400" y="4846320"/>
            <a:ext cx="54864" cy="1371600"/>
          </a:xfrm>
          <a:prstGeom prst="rect">
            <a:avLst/>
          </a:prstGeom>
          <a:solidFill>
            <a:srgbClr val="2FE6D6"/>
          </a:solidFill>
          <a:ln/>
        </p:spPr>
      </p:sp>
      <p:sp>
        <p:nvSpPr>
          <p:cNvPr id="35" name="Text 33"/>
          <p:cNvSpPr/>
          <p:nvPr/>
        </p:nvSpPr>
        <p:spPr>
          <a:xfrm>
            <a:off x="4544568" y="4937760"/>
            <a:ext cx="3246120" cy="32004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Ethical Implications</a:t>
            </a:r>
            <a:endParaRPr lang="en-US" sz="1050" dirty="0"/>
          </a:p>
        </p:txBody>
      </p:sp>
      <p:sp>
        <p:nvSpPr>
          <p:cNvPr id="36" name="Text 34"/>
          <p:cNvSpPr/>
          <p:nvPr/>
        </p:nvSpPr>
        <p:spPr>
          <a:xfrm>
            <a:off x="4544568" y="5257800"/>
            <a:ext cx="3246120" cy="914400"/>
          </a:xfrm>
          <a:prstGeom prst="rect">
            <a:avLst/>
          </a:prstGeom>
          <a:noFill/>
          <a:ln/>
        </p:spPr>
        <p:txBody>
          <a:bodyPr wrap="square" rtlCol="0" anchor="ctr"/>
          <a:lstStyle/>
          <a:p>
            <a:pPr indent="0" marL="0">
              <a:buNone/>
            </a:pPr>
            <a:r>
              <a:rPr lang="en-US" sz="870" dirty="0">
                <a:solidFill>
                  <a:srgbClr val="5B6B82"/>
                </a:solidFill>
                <a:latin typeface="Calibri" pitchFamily="34" charset="0"/>
                <a:ea typeface="Calibri" pitchFamily="34" charset="-122"/>
                <a:cs typeface="Calibri" pitchFamily="34" charset="-120"/>
              </a:rPr>
              <a:t>Bias, transparency, consent, and accountability questions remain unresolved in many application areas and require ongoing attention.</a:t>
            </a:r>
            <a:endParaRPr lang="en-US" sz="870" dirty="0"/>
          </a:p>
        </p:txBody>
      </p:sp>
      <p:sp>
        <p:nvSpPr>
          <p:cNvPr id="37" name="Shape 35"/>
          <p:cNvSpPr/>
          <p:nvPr/>
        </p:nvSpPr>
        <p:spPr>
          <a:xfrm>
            <a:off x="8138160" y="4846320"/>
            <a:ext cx="3611880" cy="1371600"/>
          </a:xfrm>
          <a:prstGeom prst="roundRect">
            <a:avLst>
              <a:gd name="adj" fmla="val 5333"/>
            </a:avLst>
          </a:prstGeom>
          <a:solidFill>
            <a:srgbClr val="F4F6FA"/>
          </a:solidFill>
          <a:ln w="12700">
            <a:solidFill>
              <a:srgbClr val="D8DEE9"/>
            </a:solidFill>
            <a:prstDash val="solid"/>
          </a:ln>
        </p:spPr>
      </p:sp>
      <p:sp>
        <p:nvSpPr>
          <p:cNvPr id="38" name="Shape 36"/>
          <p:cNvSpPr/>
          <p:nvPr/>
        </p:nvSpPr>
        <p:spPr>
          <a:xfrm>
            <a:off x="8138160" y="4846320"/>
            <a:ext cx="54864" cy="1371600"/>
          </a:xfrm>
          <a:prstGeom prst="rect">
            <a:avLst/>
          </a:prstGeom>
          <a:solidFill>
            <a:srgbClr val="2FE6D6"/>
          </a:solidFill>
          <a:ln/>
        </p:spPr>
      </p:sp>
      <p:sp>
        <p:nvSpPr>
          <p:cNvPr id="39" name="Text 37"/>
          <p:cNvSpPr/>
          <p:nvPr/>
        </p:nvSpPr>
        <p:spPr>
          <a:xfrm>
            <a:off x="8339328" y="4937760"/>
            <a:ext cx="3246120" cy="320040"/>
          </a:xfrm>
          <a:prstGeom prst="rect">
            <a:avLst/>
          </a:prstGeom>
          <a:noFill/>
          <a:ln/>
        </p:spPr>
        <p:txBody>
          <a:bodyPr wrap="square" rtlCol="0" anchor="ctr"/>
          <a:lstStyle/>
          <a:p>
            <a:pPr indent="0" marL="0">
              <a:buNone/>
            </a:pPr>
            <a:r>
              <a:rPr lang="en-US" sz="1050" b="1" dirty="0">
                <a:solidFill>
                  <a:srgbClr val="16213E"/>
                </a:solidFill>
                <a:latin typeface="Cambria" pitchFamily="34" charset="0"/>
                <a:ea typeface="Cambria" pitchFamily="34" charset="-122"/>
                <a:cs typeface="Cambria" pitchFamily="34" charset="-120"/>
              </a:rPr>
              <a:t>Expected Future Direction</a:t>
            </a:r>
            <a:endParaRPr lang="en-US" sz="1050" dirty="0"/>
          </a:p>
        </p:txBody>
      </p:sp>
      <p:sp>
        <p:nvSpPr>
          <p:cNvPr id="40" name="Text 38"/>
          <p:cNvSpPr/>
          <p:nvPr/>
        </p:nvSpPr>
        <p:spPr>
          <a:xfrm>
            <a:off x="8339328" y="5257800"/>
            <a:ext cx="3246120" cy="914400"/>
          </a:xfrm>
          <a:prstGeom prst="rect">
            <a:avLst/>
          </a:prstGeom>
          <a:noFill/>
          <a:ln/>
        </p:spPr>
        <p:txBody>
          <a:bodyPr wrap="square" rtlCol="0" anchor="ctr"/>
          <a:lstStyle/>
          <a:p>
            <a:pPr indent="0" marL="0">
              <a:buNone/>
            </a:pPr>
            <a:r>
              <a:rPr lang="en-US" sz="870" dirty="0">
                <a:solidFill>
                  <a:srgbClr val="5B6B82"/>
                </a:solidFill>
                <a:latin typeface="Calibri" pitchFamily="34" charset="0"/>
                <a:ea typeface="Calibri" pitchFamily="34" charset="-122"/>
                <a:cs typeface="Calibri" pitchFamily="34" charset="-120"/>
              </a:rPr>
              <a:t>Continued capability growth and integration into everyday tools is likely, though the pace and specific breakthroughs are inherently uncertain.</a:t>
            </a:r>
            <a:endParaRPr lang="en-US" sz="870" dirty="0"/>
          </a:p>
        </p:txBody>
      </p:sp>
      <p:sp>
        <p:nvSpPr>
          <p:cNvPr id="41" name="Text 39"/>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28 / 30</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indent="0" marL="0">
              <a:buNone/>
            </a:pPr>
            <a:r>
              <a:rPr lang="en-US" sz="1200" b="1" spc="200" kern="0" dirty="0">
                <a:solidFill>
                  <a:srgbClr val="0FBFAE"/>
                </a:solidFill>
                <a:latin typeface="Calibri" pitchFamily="34" charset="0"/>
                <a:ea typeface="Calibri" pitchFamily="34" charset="-122"/>
                <a:cs typeface="Calibri" pitchFamily="34" charset="-120"/>
              </a:rPr>
              <a:t>WORKFORCE IMPLICATIONS</a:t>
            </a:r>
            <a:endParaRPr lang="en-US" sz="1200" dirty="0"/>
          </a:p>
        </p:txBody>
      </p:sp>
      <p:sp>
        <p:nvSpPr>
          <p:cNvPr id="3" name="Text 1"/>
          <p:cNvSpPr/>
          <p:nvPr/>
        </p:nvSpPr>
        <p:spPr>
          <a:xfrm>
            <a:off x="548640" y="658368"/>
            <a:ext cx="10789920" cy="822960"/>
          </a:xfrm>
          <a:prstGeom prst="rect">
            <a:avLst/>
          </a:prstGeom>
          <a:noFill/>
          <a:ln/>
        </p:spPr>
        <p:txBody>
          <a:bodyPr wrap="square" rtlCol="0" anchor="ctr"/>
          <a:lstStyle/>
          <a:p>
            <a:pPr algn="l" indent="0" marL="0">
              <a:buNone/>
            </a:pPr>
            <a:r>
              <a:rPr lang="en-US" sz="3000" b="1" dirty="0">
                <a:solidFill>
                  <a:srgbClr val="16213E"/>
                </a:solidFill>
                <a:latin typeface="Cambria" pitchFamily="34" charset="0"/>
                <a:ea typeface="Cambria" pitchFamily="34" charset="-122"/>
                <a:cs typeface="Cambria" pitchFamily="34" charset="-120"/>
              </a:rPr>
              <a:t>Future of Work &amp; AI</a:t>
            </a:r>
            <a:endParaRPr lang="en-US" sz="3000" dirty="0"/>
          </a:p>
        </p:txBody>
      </p:sp>
      <p:sp>
        <p:nvSpPr>
          <p:cNvPr id="4" name="Text 2"/>
          <p:cNvSpPr/>
          <p:nvPr/>
        </p:nvSpPr>
        <p:spPr>
          <a:xfrm>
            <a:off x="548640" y="1600200"/>
            <a:ext cx="6309360" cy="4572000"/>
          </a:xfrm>
          <a:prstGeom prst="rect">
            <a:avLst/>
          </a:prstGeom>
          <a:noFill/>
          <a:ln/>
        </p:spPr>
        <p:txBody>
          <a:bodyPr wrap="square" rtlCol="0" anchor="t"/>
          <a:lstStyle/>
          <a:p>
            <a:pPr marL="228600" indent="-228600">
              <a:spcAft>
                <a:spcPts val="1300"/>
              </a:spcAft>
              <a:buSzPct val="100000"/>
              <a:buChar char="•"/>
            </a:pPr>
            <a:r>
              <a:rPr lang="en-US" sz="1300" dirty="0">
                <a:solidFill>
                  <a:srgbClr val="16213E"/>
                </a:solidFill>
                <a:latin typeface="Calibri" pitchFamily="34" charset="0"/>
                <a:ea typeface="Calibri" pitchFamily="34" charset="-122"/>
                <a:cs typeface="Calibri" pitchFamily="34" charset="-120"/>
              </a:rPr>
              <a:t>Task augmentation is the more evidence-supported near-term pattern: AI reshapes how tasks within a role are done, more than it eliminates entire roles outright.</a:t>
            </a:r>
            <a:endParaRPr lang="en-US" sz="1300" dirty="0"/>
          </a:p>
          <a:p>
            <a:pPr marL="228600" indent="-228600">
              <a:spcAft>
                <a:spcPts val="1300"/>
              </a:spcAft>
              <a:buSzPct val="100000"/>
              <a:buChar char="•"/>
            </a:pPr>
            <a:r>
              <a:rPr lang="en-US" sz="1300" dirty="0">
                <a:solidFill>
                  <a:srgbClr val="16213E"/>
                </a:solidFill>
                <a:latin typeface="Calibri" pitchFamily="34" charset="0"/>
                <a:ea typeface="Calibri" pitchFamily="34" charset="-122"/>
                <a:cs typeface="Calibri" pitchFamily="34" charset="-120"/>
              </a:rPr>
              <a:t>Skills likely to grow in relative value: critical evaluation of AI output, prompt/tool fluency, domain expertise that AI cannot substitute, and human judgment in ambiguous situations.</a:t>
            </a:r>
            <a:endParaRPr lang="en-US" sz="1300" dirty="0"/>
          </a:p>
          <a:p>
            <a:pPr marL="228600" indent="-228600">
              <a:spcAft>
                <a:spcPts val="1300"/>
              </a:spcAft>
              <a:buSzPct val="100000"/>
              <a:buChar char="•"/>
            </a:pPr>
            <a:r>
              <a:rPr lang="en-US" sz="1300" dirty="0">
                <a:solidFill>
                  <a:srgbClr val="16213E"/>
                </a:solidFill>
                <a:latin typeface="Calibri" pitchFamily="34" charset="0"/>
                <a:ea typeface="Calibri" pitchFamily="34" charset="-122"/>
                <a:cs typeface="Calibri" pitchFamily="34" charset="-120"/>
              </a:rPr>
              <a:t>Some routine, highly structured tasks are more exposed to automation than complex, context-dependent, or interpersonal work.</a:t>
            </a:r>
            <a:endParaRPr lang="en-US" sz="1300" dirty="0"/>
          </a:p>
          <a:p>
            <a:pPr marL="228600" indent="-228600">
              <a:spcAft>
                <a:spcPts val="1300"/>
              </a:spcAft>
              <a:buSzPct val="100000"/>
              <a:buChar char="•"/>
            </a:pPr>
            <a:r>
              <a:rPr lang="en-US" sz="1300" dirty="0">
                <a:solidFill>
                  <a:srgbClr val="16213E"/>
                </a:solidFill>
                <a:latin typeface="Calibri" pitchFamily="34" charset="0"/>
                <a:ea typeface="Calibri" pitchFamily="34" charset="-122"/>
                <a:cs typeface="Calibri" pitchFamily="34" charset="-120"/>
              </a:rPr>
              <a:t>Organizations are still developing governance norms for responsible AI use — policy, training, and oversight structures are works in progress industry-wide.</a:t>
            </a:r>
            <a:endParaRPr lang="en-US" sz="1300" dirty="0"/>
          </a:p>
          <a:p>
            <a:pPr marL="228600" indent="-228600">
              <a:spcAft>
                <a:spcPts val="1300"/>
              </a:spcAft>
              <a:buSzPct val="100000"/>
              <a:buChar char="•"/>
            </a:pPr>
            <a:r>
              <a:rPr lang="en-US" sz="1300" dirty="0">
                <a:solidFill>
                  <a:srgbClr val="16213E"/>
                </a:solidFill>
                <a:latin typeface="Calibri" pitchFamily="34" charset="0"/>
                <a:ea typeface="Calibri" pitchFamily="34" charset="-122"/>
                <a:cs typeface="Calibri" pitchFamily="34" charset="-120"/>
              </a:rPr>
              <a:t>Continuous learning and adaptability are increasingly emphasized as durable career skills in an AI-augmented workplace.</a:t>
            </a:r>
            <a:endParaRPr lang="en-US" sz="1300" dirty="0"/>
          </a:p>
        </p:txBody>
      </p:sp>
      <p:sp>
        <p:nvSpPr>
          <p:cNvPr id="5" name="Shape 3"/>
          <p:cNvSpPr/>
          <p:nvPr/>
        </p:nvSpPr>
        <p:spPr>
          <a:xfrm>
            <a:off x="7178040" y="1600200"/>
            <a:ext cx="4480560" cy="4572000"/>
          </a:xfrm>
          <a:prstGeom prst="roundRect">
            <a:avLst>
              <a:gd name="adj" fmla="val 1633"/>
            </a:avLst>
          </a:prstGeom>
          <a:solidFill>
            <a:srgbClr val="16213E"/>
          </a:solidFill>
          <a:ln w="12700">
            <a:solidFill>
              <a:srgbClr val="D8DEE9"/>
            </a:solidFill>
            <a:prstDash val="solid"/>
          </a:ln>
        </p:spPr>
      </p:sp>
      <p:sp>
        <p:nvSpPr>
          <p:cNvPr id="6" name="Text 4"/>
          <p:cNvSpPr/>
          <p:nvPr/>
        </p:nvSpPr>
        <p:spPr>
          <a:xfrm>
            <a:off x="7452360" y="1828800"/>
            <a:ext cx="3931920" cy="274320"/>
          </a:xfrm>
          <a:prstGeom prst="rect">
            <a:avLst/>
          </a:prstGeom>
          <a:noFill/>
          <a:ln/>
        </p:spPr>
        <p:txBody>
          <a:bodyPr wrap="square" rtlCol="0" anchor="ctr"/>
          <a:lstStyle/>
          <a:p>
            <a:pPr indent="0" marL="0">
              <a:buNone/>
            </a:pPr>
            <a:r>
              <a:rPr lang="en-US" sz="1100" b="1" spc="150" kern="0" dirty="0">
                <a:solidFill>
                  <a:srgbClr val="2FE6D6"/>
                </a:solidFill>
                <a:latin typeface="Calibri" pitchFamily="34" charset="0"/>
                <a:ea typeface="Calibri" pitchFamily="34" charset="-122"/>
                <a:cs typeface="Calibri" pitchFamily="34" charset="-120"/>
              </a:rPr>
              <a:t>SKILLS WORTH BUILDING</a:t>
            </a:r>
            <a:endParaRPr lang="en-US" sz="1100" dirty="0"/>
          </a:p>
        </p:txBody>
      </p:sp>
      <p:sp>
        <p:nvSpPr>
          <p:cNvPr id="7" name="Shape 5"/>
          <p:cNvSpPr/>
          <p:nvPr/>
        </p:nvSpPr>
        <p:spPr>
          <a:xfrm>
            <a:off x="7589520" y="2240280"/>
            <a:ext cx="365760" cy="365760"/>
          </a:xfrm>
          <a:prstGeom prst="ellipse">
            <a:avLst/>
          </a:prstGeom>
          <a:solidFill>
            <a:srgbClr val="2FE6D6"/>
          </a:solidFill>
          <a:ln/>
        </p:spPr>
      </p:sp>
      <p:sp>
        <p:nvSpPr>
          <p:cNvPr id="8" name="Text 6"/>
          <p:cNvSpPr/>
          <p:nvPr/>
        </p:nvSpPr>
        <p:spPr>
          <a:xfrm>
            <a:off x="7589520" y="2240280"/>
            <a:ext cx="365760" cy="365760"/>
          </a:xfrm>
          <a:prstGeom prst="rect">
            <a:avLst/>
          </a:prstGeom>
          <a:noFill/>
          <a:ln/>
        </p:spPr>
        <p:txBody>
          <a:bodyPr wrap="square" rtlCol="0" anchor="ctr"/>
          <a:lstStyle/>
          <a:p>
            <a:pPr algn="ctr" indent="0" marL="0">
              <a:buNone/>
            </a:pPr>
            <a:r>
              <a:rPr lang="en-US" sz="1100" b="1" dirty="0">
                <a:solidFill>
                  <a:srgbClr val="16213E"/>
                </a:solidFill>
                <a:latin typeface="Calibri" pitchFamily="34" charset="0"/>
                <a:ea typeface="Calibri" pitchFamily="34" charset="-122"/>
                <a:cs typeface="Calibri" pitchFamily="34" charset="-120"/>
              </a:rPr>
              <a:t>✓</a:t>
            </a:r>
            <a:endParaRPr lang="en-US" sz="1100" dirty="0"/>
          </a:p>
        </p:txBody>
      </p:sp>
      <p:sp>
        <p:nvSpPr>
          <p:cNvPr id="9" name="Text 7"/>
          <p:cNvSpPr/>
          <p:nvPr/>
        </p:nvSpPr>
        <p:spPr>
          <a:xfrm>
            <a:off x="8092440" y="2240280"/>
            <a:ext cx="3383280" cy="502920"/>
          </a:xfrm>
          <a:prstGeom prst="rect">
            <a:avLst/>
          </a:prstGeom>
          <a:noFill/>
          <a:ln/>
        </p:spPr>
        <p:txBody>
          <a:bodyPr wrap="square" rtlCol="0" anchor="ctr"/>
          <a:lstStyle/>
          <a:p>
            <a:pPr indent="0" marL="0">
              <a:buNone/>
            </a:pPr>
            <a:r>
              <a:rPr lang="en-US" sz="1200" dirty="0">
                <a:solidFill>
                  <a:srgbClr val="E6EAF2"/>
                </a:solidFill>
                <a:latin typeface="Calibri" pitchFamily="34" charset="0"/>
                <a:ea typeface="Calibri" pitchFamily="34" charset="-122"/>
                <a:cs typeface="Calibri" pitchFamily="34" charset="-120"/>
              </a:rPr>
              <a:t>AI output evaluation &amp; fact-checking</a:t>
            </a:r>
            <a:endParaRPr lang="en-US" sz="1200" dirty="0"/>
          </a:p>
        </p:txBody>
      </p:sp>
      <p:sp>
        <p:nvSpPr>
          <p:cNvPr id="10" name="Shape 8"/>
          <p:cNvSpPr/>
          <p:nvPr/>
        </p:nvSpPr>
        <p:spPr>
          <a:xfrm>
            <a:off x="7589520" y="3017520"/>
            <a:ext cx="365760" cy="365760"/>
          </a:xfrm>
          <a:prstGeom prst="ellipse">
            <a:avLst/>
          </a:prstGeom>
          <a:solidFill>
            <a:srgbClr val="2FE6D6"/>
          </a:solidFill>
          <a:ln/>
        </p:spPr>
      </p:sp>
      <p:sp>
        <p:nvSpPr>
          <p:cNvPr id="11" name="Text 9"/>
          <p:cNvSpPr/>
          <p:nvPr/>
        </p:nvSpPr>
        <p:spPr>
          <a:xfrm>
            <a:off x="7589520" y="3017520"/>
            <a:ext cx="365760" cy="365760"/>
          </a:xfrm>
          <a:prstGeom prst="rect">
            <a:avLst/>
          </a:prstGeom>
          <a:noFill/>
          <a:ln/>
        </p:spPr>
        <p:txBody>
          <a:bodyPr wrap="square" rtlCol="0" anchor="ctr"/>
          <a:lstStyle/>
          <a:p>
            <a:pPr algn="ctr" indent="0" marL="0">
              <a:buNone/>
            </a:pPr>
            <a:r>
              <a:rPr lang="en-US" sz="1100" b="1" dirty="0">
                <a:solidFill>
                  <a:srgbClr val="16213E"/>
                </a:solidFill>
                <a:latin typeface="Calibri" pitchFamily="34" charset="0"/>
                <a:ea typeface="Calibri" pitchFamily="34" charset="-122"/>
                <a:cs typeface="Calibri" pitchFamily="34" charset="-120"/>
              </a:rPr>
              <a:t>✓</a:t>
            </a:r>
            <a:endParaRPr lang="en-US" sz="1100" dirty="0"/>
          </a:p>
        </p:txBody>
      </p:sp>
      <p:sp>
        <p:nvSpPr>
          <p:cNvPr id="12" name="Text 10"/>
          <p:cNvSpPr/>
          <p:nvPr/>
        </p:nvSpPr>
        <p:spPr>
          <a:xfrm>
            <a:off x="8092440" y="3017520"/>
            <a:ext cx="3383280" cy="502920"/>
          </a:xfrm>
          <a:prstGeom prst="rect">
            <a:avLst/>
          </a:prstGeom>
          <a:noFill/>
          <a:ln/>
        </p:spPr>
        <p:txBody>
          <a:bodyPr wrap="square" rtlCol="0" anchor="ctr"/>
          <a:lstStyle/>
          <a:p>
            <a:pPr indent="0" marL="0">
              <a:buNone/>
            </a:pPr>
            <a:r>
              <a:rPr lang="en-US" sz="1200" dirty="0">
                <a:solidFill>
                  <a:srgbClr val="E6EAF2"/>
                </a:solidFill>
                <a:latin typeface="Calibri" pitchFamily="34" charset="0"/>
                <a:ea typeface="Calibri" pitchFamily="34" charset="-122"/>
                <a:cs typeface="Calibri" pitchFamily="34" charset="-120"/>
              </a:rPr>
              <a:t>Effective prompting &amp; tool selection</a:t>
            </a:r>
            <a:endParaRPr lang="en-US" sz="1200" dirty="0"/>
          </a:p>
        </p:txBody>
      </p:sp>
      <p:sp>
        <p:nvSpPr>
          <p:cNvPr id="13" name="Shape 11"/>
          <p:cNvSpPr/>
          <p:nvPr/>
        </p:nvSpPr>
        <p:spPr>
          <a:xfrm>
            <a:off x="7589520" y="3794760"/>
            <a:ext cx="365760" cy="365760"/>
          </a:xfrm>
          <a:prstGeom prst="ellipse">
            <a:avLst/>
          </a:prstGeom>
          <a:solidFill>
            <a:srgbClr val="2FE6D6"/>
          </a:solidFill>
          <a:ln/>
        </p:spPr>
      </p:sp>
      <p:sp>
        <p:nvSpPr>
          <p:cNvPr id="14" name="Text 12"/>
          <p:cNvSpPr/>
          <p:nvPr/>
        </p:nvSpPr>
        <p:spPr>
          <a:xfrm>
            <a:off x="7589520" y="3794760"/>
            <a:ext cx="365760" cy="365760"/>
          </a:xfrm>
          <a:prstGeom prst="rect">
            <a:avLst/>
          </a:prstGeom>
          <a:noFill/>
          <a:ln/>
        </p:spPr>
        <p:txBody>
          <a:bodyPr wrap="square" rtlCol="0" anchor="ctr"/>
          <a:lstStyle/>
          <a:p>
            <a:pPr algn="ctr" indent="0" marL="0">
              <a:buNone/>
            </a:pPr>
            <a:r>
              <a:rPr lang="en-US" sz="1100" b="1" dirty="0">
                <a:solidFill>
                  <a:srgbClr val="16213E"/>
                </a:solidFill>
                <a:latin typeface="Calibri" pitchFamily="34" charset="0"/>
                <a:ea typeface="Calibri" pitchFamily="34" charset="-122"/>
                <a:cs typeface="Calibri" pitchFamily="34" charset="-120"/>
              </a:rPr>
              <a:t>✓</a:t>
            </a:r>
            <a:endParaRPr lang="en-US" sz="1100" dirty="0"/>
          </a:p>
        </p:txBody>
      </p:sp>
      <p:sp>
        <p:nvSpPr>
          <p:cNvPr id="15" name="Text 13"/>
          <p:cNvSpPr/>
          <p:nvPr/>
        </p:nvSpPr>
        <p:spPr>
          <a:xfrm>
            <a:off x="8092440" y="3794760"/>
            <a:ext cx="3383280" cy="502920"/>
          </a:xfrm>
          <a:prstGeom prst="rect">
            <a:avLst/>
          </a:prstGeom>
          <a:noFill/>
          <a:ln/>
        </p:spPr>
        <p:txBody>
          <a:bodyPr wrap="square" rtlCol="0" anchor="ctr"/>
          <a:lstStyle/>
          <a:p>
            <a:pPr indent="0" marL="0">
              <a:buNone/>
            </a:pPr>
            <a:r>
              <a:rPr lang="en-US" sz="1200" dirty="0">
                <a:solidFill>
                  <a:srgbClr val="E6EAF2"/>
                </a:solidFill>
                <a:latin typeface="Calibri" pitchFamily="34" charset="0"/>
                <a:ea typeface="Calibri" pitchFamily="34" charset="-122"/>
                <a:cs typeface="Calibri" pitchFamily="34" charset="-120"/>
              </a:rPr>
              <a:t>Deep domain expertise</a:t>
            </a:r>
            <a:endParaRPr lang="en-US" sz="1200" dirty="0"/>
          </a:p>
        </p:txBody>
      </p:sp>
      <p:sp>
        <p:nvSpPr>
          <p:cNvPr id="16" name="Shape 14"/>
          <p:cNvSpPr/>
          <p:nvPr/>
        </p:nvSpPr>
        <p:spPr>
          <a:xfrm>
            <a:off x="7589520" y="4572000"/>
            <a:ext cx="365760" cy="365760"/>
          </a:xfrm>
          <a:prstGeom prst="ellipse">
            <a:avLst/>
          </a:prstGeom>
          <a:solidFill>
            <a:srgbClr val="2FE6D6"/>
          </a:solidFill>
          <a:ln/>
        </p:spPr>
      </p:sp>
      <p:sp>
        <p:nvSpPr>
          <p:cNvPr id="17" name="Text 15"/>
          <p:cNvSpPr/>
          <p:nvPr/>
        </p:nvSpPr>
        <p:spPr>
          <a:xfrm>
            <a:off x="7589520" y="4572000"/>
            <a:ext cx="365760" cy="365760"/>
          </a:xfrm>
          <a:prstGeom prst="rect">
            <a:avLst/>
          </a:prstGeom>
          <a:noFill/>
          <a:ln/>
        </p:spPr>
        <p:txBody>
          <a:bodyPr wrap="square" rtlCol="0" anchor="ctr"/>
          <a:lstStyle/>
          <a:p>
            <a:pPr algn="ctr" indent="0" marL="0">
              <a:buNone/>
            </a:pPr>
            <a:r>
              <a:rPr lang="en-US" sz="1100" b="1" dirty="0">
                <a:solidFill>
                  <a:srgbClr val="16213E"/>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8092440" y="4572000"/>
            <a:ext cx="3383280" cy="502920"/>
          </a:xfrm>
          <a:prstGeom prst="rect">
            <a:avLst/>
          </a:prstGeom>
          <a:noFill/>
          <a:ln/>
        </p:spPr>
        <p:txBody>
          <a:bodyPr wrap="square" rtlCol="0" anchor="ctr"/>
          <a:lstStyle/>
          <a:p>
            <a:pPr indent="0" marL="0">
              <a:buNone/>
            </a:pPr>
            <a:r>
              <a:rPr lang="en-US" sz="1200" dirty="0">
                <a:solidFill>
                  <a:srgbClr val="E6EAF2"/>
                </a:solidFill>
                <a:latin typeface="Calibri" pitchFamily="34" charset="0"/>
                <a:ea typeface="Calibri" pitchFamily="34" charset="-122"/>
                <a:cs typeface="Calibri" pitchFamily="34" charset="-120"/>
              </a:rPr>
              <a:t>Ethical &amp; privacy judgment</a:t>
            </a:r>
            <a:endParaRPr lang="en-US" sz="1200" dirty="0"/>
          </a:p>
        </p:txBody>
      </p:sp>
      <p:sp>
        <p:nvSpPr>
          <p:cNvPr id="19" name="Shape 17"/>
          <p:cNvSpPr/>
          <p:nvPr/>
        </p:nvSpPr>
        <p:spPr>
          <a:xfrm>
            <a:off x="7589520" y="5349240"/>
            <a:ext cx="365760" cy="365760"/>
          </a:xfrm>
          <a:prstGeom prst="ellipse">
            <a:avLst/>
          </a:prstGeom>
          <a:solidFill>
            <a:srgbClr val="2FE6D6"/>
          </a:solidFill>
          <a:ln/>
        </p:spPr>
      </p:sp>
      <p:sp>
        <p:nvSpPr>
          <p:cNvPr id="20" name="Text 18"/>
          <p:cNvSpPr/>
          <p:nvPr/>
        </p:nvSpPr>
        <p:spPr>
          <a:xfrm>
            <a:off x="7589520" y="5349240"/>
            <a:ext cx="365760" cy="365760"/>
          </a:xfrm>
          <a:prstGeom prst="rect">
            <a:avLst/>
          </a:prstGeom>
          <a:noFill/>
          <a:ln/>
        </p:spPr>
        <p:txBody>
          <a:bodyPr wrap="square" rtlCol="0" anchor="ctr"/>
          <a:lstStyle/>
          <a:p>
            <a:pPr algn="ctr" indent="0" marL="0">
              <a:buNone/>
            </a:pPr>
            <a:r>
              <a:rPr lang="en-US" sz="1100" b="1" dirty="0">
                <a:solidFill>
                  <a:srgbClr val="16213E"/>
                </a:solidFill>
                <a:latin typeface="Calibri" pitchFamily="34" charset="0"/>
                <a:ea typeface="Calibri" pitchFamily="34" charset="-122"/>
                <a:cs typeface="Calibri" pitchFamily="34" charset="-120"/>
              </a:rPr>
              <a:t>✓</a:t>
            </a:r>
            <a:endParaRPr lang="en-US" sz="1100" dirty="0"/>
          </a:p>
        </p:txBody>
      </p:sp>
      <p:sp>
        <p:nvSpPr>
          <p:cNvPr id="21" name="Text 19"/>
          <p:cNvSpPr/>
          <p:nvPr/>
        </p:nvSpPr>
        <p:spPr>
          <a:xfrm>
            <a:off x="8092440" y="5349240"/>
            <a:ext cx="3383280" cy="502920"/>
          </a:xfrm>
          <a:prstGeom prst="rect">
            <a:avLst/>
          </a:prstGeom>
          <a:noFill/>
          <a:ln/>
        </p:spPr>
        <p:txBody>
          <a:bodyPr wrap="square" rtlCol="0" anchor="ctr"/>
          <a:lstStyle/>
          <a:p>
            <a:pPr indent="0" marL="0">
              <a:buNone/>
            </a:pPr>
            <a:r>
              <a:rPr lang="en-US" sz="1200" dirty="0">
                <a:solidFill>
                  <a:srgbClr val="E6EAF2"/>
                </a:solidFill>
                <a:latin typeface="Calibri" pitchFamily="34" charset="0"/>
                <a:ea typeface="Calibri" pitchFamily="34" charset="-122"/>
                <a:cs typeface="Calibri" pitchFamily="34" charset="-120"/>
              </a:rPr>
              <a:t>Adaptability &amp; continuous learning</a:t>
            </a:r>
            <a:endParaRPr lang="en-US" sz="1200" dirty="0"/>
          </a:p>
        </p:txBody>
      </p:sp>
      <p:sp>
        <p:nvSpPr>
          <p:cNvPr id="22" name="Text 20"/>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29 / 30</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1B2A"/>
          </a:solidFill>
          <a:ln/>
        </p:spPr>
      </p:sp>
      <p:sp>
        <p:nvSpPr>
          <p:cNvPr id="3" name="Text 1"/>
          <p:cNvSpPr/>
          <p:nvPr/>
        </p:nvSpPr>
        <p:spPr>
          <a:xfrm>
            <a:off x="548640" y="411480"/>
            <a:ext cx="7315200" cy="320040"/>
          </a:xfrm>
          <a:prstGeom prst="rect">
            <a:avLst/>
          </a:prstGeom>
          <a:noFill/>
          <a:ln/>
        </p:spPr>
        <p:txBody>
          <a:bodyPr wrap="square" rtlCol="0" anchor="ctr"/>
          <a:lstStyle/>
          <a:p>
            <a:pPr indent="0" marL="0">
              <a:buNone/>
            </a:pPr>
            <a:r>
              <a:rPr lang="en-US" sz="1300" b="1" spc="200" kern="0" dirty="0">
                <a:solidFill>
                  <a:srgbClr val="2FE6D6"/>
                </a:solidFill>
                <a:latin typeface="Calibri" pitchFamily="34" charset="0"/>
                <a:ea typeface="Calibri" pitchFamily="34" charset="-122"/>
                <a:cs typeface="Calibri" pitchFamily="34" charset="-120"/>
              </a:rPr>
              <a:t>DAY 1 CLOSE</a:t>
            </a:r>
            <a:endParaRPr lang="en-US" sz="1300" dirty="0"/>
          </a:p>
        </p:txBody>
      </p:sp>
      <p:sp>
        <p:nvSpPr>
          <p:cNvPr id="4" name="Text 2"/>
          <p:cNvSpPr/>
          <p:nvPr/>
        </p:nvSpPr>
        <p:spPr>
          <a:xfrm>
            <a:off x="548640" y="731520"/>
            <a:ext cx="1051560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Challenge, Reflection &amp; Key Takeaways</a:t>
            </a:r>
            <a:endParaRPr lang="en-US" sz="2800" dirty="0"/>
          </a:p>
        </p:txBody>
      </p:sp>
      <p:sp>
        <p:nvSpPr>
          <p:cNvPr id="5" name="Shape 3"/>
          <p:cNvSpPr/>
          <p:nvPr/>
        </p:nvSpPr>
        <p:spPr>
          <a:xfrm>
            <a:off x="548640" y="1554480"/>
            <a:ext cx="5486400" cy="3931920"/>
          </a:xfrm>
          <a:prstGeom prst="roundRect">
            <a:avLst>
              <a:gd name="adj" fmla="val 1860"/>
            </a:avLst>
          </a:prstGeom>
          <a:solidFill>
            <a:srgbClr val="1F3A5F"/>
          </a:solidFill>
          <a:ln/>
        </p:spPr>
      </p:sp>
      <p:sp>
        <p:nvSpPr>
          <p:cNvPr id="6" name="Text 4"/>
          <p:cNvSpPr/>
          <p:nvPr/>
        </p:nvSpPr>
        <p:spPr>
          <a:xfrm>
            <a:off x="777240" y="1691640"/>
            <a:ext cx="4937760" cy="274320"/>
          </a:xfrm>
          <a:prstGeom prst="rect">
            <a:avLst/>
          </a:prstGeom>
          <a:noFill/>
          <a:ln/>
        </p:spPr>
        <p:txBody>
          <a:bodyPr wrap="square" rtlCol="0" anchor="ctr"/>
          <a:lstStyle/>
          <a:p>
            <a:pPr indent="0" marL="0">
              <a:buNone/>
            </a:pPr>
            <a:r>
              <a:rPr lang="en-US" sz="1100" b="1" spc="150" kern="0" dirty="0">
                <a:solidFill>
                  <a:srgbClr val="2FE6D6"/>
                </a:solidFill>
                <a:latin typeface="Calibri" pitchFamily="34" charset="0"/>
                <a:ea typeface="Calibri" pitchFamily="34" charset="-122"/>
                <a:cs typeface="Calibri" pitchFamily="34" charset="-120"/>
              </a:rPr>
              <a:t>THE CHALLENGE</a:t>
            </a:r>
            <a:endParaRPr lang="en-US" sz="1100" dirty="0"/>
          </a:p>
        </p:txBody>
      </p:sp>
      <p:sp>
        <p:nvSpPr>
          <p:cNvPr id="7" name="Text 5"/>
          <p:cNvSpPr/>
          <p:nvPr/>
        </p:nvSpPr>
        <p:spPr>
          <a:xfrm>
            <a:off x="777240" y="1965960"/>
            <a:ext cx="4937760" cy="457200"/>
          </a:xfrm>
          <a:prstGeom prst="rect">
            <a:avLst/>
          </a:prstGeom>
          <a:noFill/>
          <a:ln/>
        </p:spPr>
        <p:txBody>
          <a:bodyPr wrap="square" rtlCol="0" anchor="ctr"/>
          <a:lstStyle/>
          <a:p>
            <a:pPr indent="0" marL="0">
              <a:buNone/>
            </a:pPr>
            <a:r>
              <a:rPr lang="en-US" sz="1150" dirty="0">
                <a:solidFill>
                  <a:srgbClr val="D6DEEC"/>
                </a:solidFill>
                <a:latin typeface="Calibri" pitchFamily="34" charset="0"/>
                <a:ea typeface="Calibri" pitchFamily="34" charset="-122"/>
                <a:cs typeface="Calibri" pitchFamily="34" charset="-120"/>
              </a:rPr>
              <a:t>Select a real-world problem and create a one-page AI Solution Proposal including:</a:t>
            </a:r>
            <a:endParaRPr lang="en-US" sz="1150" dirty="0"/>
          </a:p>
        </p:txBody>
      </p:sp>
      <p:sp>
        <p:nvSpPr>
          <p:cNvPr id="8" name="Text 6"/>
          <p:cNvSpPr/>
          <p:nvPr/>
        </p:nvSpPr>
        <p:spPr>
          <a:xfrm>
            <a:off x="777240" y="2468880"/>
            <a:ext cx="2331720" cy="274320"/>
          </a:xfrm>
          <a:prstGeom prst="rect">
            <a:avLst/>
          </a:prstGeom>
          <a:noFill/>
          <a:ln/>
        </p:spPr>
        <p:txBody>
          <a:bodyPr wrap="square" rtlCol="0" anchor="ctr"/>
          <a:lstStyle/>
          <a:p>
            <a:pPr indent="0" marL="0">
              <a:buNone/>
            </a:pPr>
            <a:r>
              <a:rPr lang="en-US" sz="1050" dirty="0">
                <a:solidFill>
                  <a:srgbClr val="E6EAF2"/>
                </a:solidFill>
                <a:latin typeface="Calibri" pitchFamily="34" charset="0"/>
                <a:ea typeface="Calibri" pitchFamily="34" charset="-122"/>
                <a:cs typeface="Calibri" pitchFamily="34" charset="-120"/>
              </a:rPr>
              <a:t>▸ Problem</a:t>
            </a:r>
            <a:endParaRPr lang="en-US" sz="1050" dirty="0"/>
          </a:p>
        </p:txBody>
      </p:sp>
      <p:sp>
        <p:nvSpPr>
          <p:cNvPr id="9" name="Text 7"/>
          <p:cNvSpPr/>
          <p:nvPr/>
        </p:nvSpPr>
        <p:spPr>
          <a:xfrm>
            <a:off x="3200400" y="2468880"/>
            <a:ext cx="2331720" cy="274320"/>
          </a:xfrm>
          <a:prstGeom prst="rect">
            <a:avLst/>
          </a:prstGeom>
          <a:noFill/>
          <a:ln/>
        </p:spPr>
        <p:txBody>
          <a:bodyPr wrap="square" rtlCol="0" anchor="ctr"/>
          <a:lstStyle/>
          <a:p>
            <a:pPr indent="0" marL="0">
              <a:buNone/>
            </a:pPr>
            <a:r>
              <a:rPr lang="en-US" sz="1050" dirty="0">
                <a:solidFill>
                  <a:srgbClr val="E6EAF2"/>
                </a:solidFill>
                <a:latin typeface="Calibri" pitchFamily="34" charset="0"/>
                <a:ea typeface="Calibri" pitchFamily="34" charset="-122"/>
                <a:cs typeface="Calibri" pitchFamily="34" charset="-120"/>
              </a:rPr>
              <a:t>▸ Target Users</a:t>
            </a:r>
            <a:endParaRPr lang="en-US" sz="1050" dirty="0"/>
          </a:p>
        </p:txBody>
      </p:sp>
      <p:sp>
        <p:nvSpPr>
          <p:cNvPr id="10" name="Text 8"/>
          <p:cNvSpPr/>
          <p:nvPr/>
        </p:nvSpPr>
        <p:spPr>
          <a:xfrm>
            <a:off x="777240" y="2761488"/>
            <a:ext cx="2331720" cy="274320"/>
          </a:xfrm>
          <a:prstGeom prst="rect">
            <a:avLst/>
          </a:prstGeom>
          <a:noFill/>
          <a:ln/>
        </p:spPr>
        <p:txBody>
          <a:bodyPr wrap="square" rtlCol="0" anchor="ctr"/>
          <a:lstStyle/>
          <a:p>
            <a:pPr indent="0" marL="0">
              <a:buNone/>
            </a:pPr>
            <a:r>
              <a:rPr lang="en-US" sz="1050" dirty="0">
                <a:solidFill>
                  <a:srgbClr val="E6EAF2"/>
                </a:solidFill>
                <a:latin typeface="Calibri" pitchFamily="34" charset="0"/>
                <a:ea typeface="Calibri" pitchFamily="34" charset="-122"/>
                <a:cs typeface="Calibri" pitchFamily="34" charset="-120"/>
              </a:rPr>
              <a:t>▸ AI Application</a:t>
            </a:r>
            <a:endParaRPr lang="en-US" sz="1050" dirty="0"/>
          </a:p>
        </p:txBody>
      </p:sp>
      <p:sp>
        <p:nvSpPr>
          <p:cNvPr id="11" name="Text 9"/>
          <p:cNvSpPr/>
          <p:nvPr/>
        </p:nvSpPr>
        <p:spPr>
          <a:xfrm>
            <a:off x="3200400" y="2761488"/>
            <a:ext cx="2331720" cy="274320"/>
          </a:xfrm>
          <a:prstGeom prst="rect">
            <a:avLst/>
          </a:prstGeom>
          <a:noFill/>
          <a:ln/>
        </p:spPr>
        <p:txBody>
          <a:bodyPr wrap="square" rtlCol="0" anchor="ctr"/>
          <a:lstStyle/>
          <a:p>
            <a:pPr indent="0" marL="0">
              <a:buNone/>
            </a:pPr>
            <a:r>
              <a:rPr lang="en-US" sz="1050" dirty="0">
                <a:solidFill>
                  <a:srgbClr val="E6EAF2"/>
                </a:solidFill>
                <a:latin typeface="Calibri" pitchFamily="34" charset="0"/>
                <a:ea typeface="Calibri" pitchFamily="34" charset="-122"/>
                <a:cs typeface="Calibri" pitchFamily="34" charset="-120"/>
              </a:rPr>
              <a:t>▸ Required Data</a:t>
            </a:r>
            <a:endParaRPr lang="en-US" sz="1050" dirty="0"/>
          </a:p>
        </p:txBody>
      </p:sp>
      <p:sp>
        <p:nvSpPr>
          <p:cNvPr id="12" name="Text 10"/>
          <p:cNvSpPr/>
          <p:nvPr/>
        </p:nvSpPr>
        <p:spPr>
          <a:xfrm>
            <a:off x="777240" y="3054096"/>
            <a:ext cx="2331720" cy="274320"/>
          </a:xfrm>
          <a:prstGeom prst="rect">
            <a:avLst/>
          </a:prstGeom>
          <a:noFill/>
          <a:ln/>
        </p:spPr>
        <p:txBody>
          <a:bodyPr wrap="square" rtlCol="0" anchor="ctr"/>
          <a:lstStyle/>
          <a:p>
            <a:pPr indent="0" marL="0">
              <a:buNone/>
            </a:pPr>
            <a:r>
              <a:rPr lang="en-US" sz="1050" dirty="0">
                <a:solidFill>
                  <a:srgbClr val="E6EAF2"/>
                </a:solidFill>
                <a:latin typeface="Calibri" pitchFamily="34" charset="0"/>
                <a:ea typeface="Calibri" pitchFamily="34" charset="-122"/>
                <a:cs typeface="Calibri" pitchFamily="34" charset="-120"/>
              </a:rPr>
              <a:t>▸ AI Model / Tool</a:t>
            </a:r>
            <a:endParaRPr lang="en-US" sz="1050" dirty="0"/>
          </a:p>
        </p:txBody>
      </p:sp>
      <p:sp>
        <p:nvSpPr>
          <p:cNvPr id="13" name="Text 11"/>
          <p:cNvSpPr/>
          <p:nvPr/>
        </p:nvSpPr>
        <p:spPr>
          <a:xfrm>
            <a:off x="3200400" y="3054096"/>
            <a:ext cx="2331720" cy="274320"/>
          </a:xfrm>
          <a:prstGeom prst="rect">
            <a:avLst/>
          </a:prstGeom>
          <a:noFill/>
          <a:ln/>
        </p:spPr>
        <p:txBody>
          <a:bodyPr wrap="square" rtlCol="0" anchor="ctr"/>
          <a:lstStyle/>
          <a:p>
            <a:pPr indent="0" marL="0">
              <a:buNone/>
            </a:pPr>
            <a:r>
              <a:rPr lang="en-US" sz="1050" dirty="0">
                <a:solidFill>
                  <a:srgbClr val="E6EAF2"/>
                </a:solidFill>
                <a:latin typeface="Calibri" pitchFamily="34" charset="0"/>
                <a:ea typeface="Calibri" pitchFamily="34" charset="-122"/>
                <a:cs typeface="Calibri" pitchFamily="34" charset="-120"/>
              </a:rPr>
              <a:t>▸ Workflow</a:t>
            </a:r>
            <a:endParaRPr lang="en-US" sz="1050" dirty="0"/>
          </a:p>
        </p:txBody>
      </p:sp>
      <p:sp>
        <p:nvSpPr>
          <p:cNvPr id="14" name="Text 12"/>
          <p:cNvSpPr/>
          <p:nvPr/>
        </p:nvSpPr>
        <p:spPr>
          <a:xfrm>
            <a:off x="777240" y="3346704"/>
            <a:ext cx="2331720" cy="274320"/>
          </a:xfrm>
          <a:prstGeom prst="rect">
            <a:avLst/>
          </a:prstGeom>
          <a:noFill/>
          <a:ln/>
        </p:spPr>
        <p:txBody>
          <a:bodyPr wrap="square" rtlCol="0" anchor="ctr"/>
          <a:lstStyle/>
          <a:p>
            <a:pPr indent="0" marL="0">
              <a:buNone/>
            </a:pPr>
            <a:r>
              <a:rPr lang="en-US" sz="1050" dirty="0">
                <a:solidFill>
                  <a:srgbClr val="E6EAF2"/>
                </a:solidFill>
                <a:latin typeface="Calibri" pitchFamily="34" charset="0"/>
                <a:ea typeface="Calibri" pitchFamily="34" charset="-122"/>
                <a:cs typeface="Calibri" pitchFamily="34" charset="-120"/>
              </a:rPr>
              <a:t>▸ Expected Benefits</a:t>
            </a:r>
            <a:endParaRPr lang="en-US" sz="1050" dirty="0"/>
          </a:p>
        </p:txBody>
      </p:sp>
      <p:sp>
        <p:nvSpPr>
          <p:cNvPr id="15" name="Text 13"/>
          <p:cNvSpPr/>
          <p:nvPr/>
        </p:nvSpPr>
        <p:spPr>
          <a:xfrm>
            <a:off x="3200400" y="3346704"/>
            <a:ext cx="2331720" cy="274320"/>
          </a:xfrm>
          <a:prstGeom prst="rect">
            <a:avLst/>
          </a:prstGeom>
          <a:noFill/>
          <a:ln/>
        </p:spPr>
        <p:txBody>
          <a:bodyPr wrap="square" rtlCol="0" anchor="ctr"/>
          <a:lstStyle/>
          <a:p>
            <a:pPr indent="0" marL="0">
              <a:buNone/>
            </a:pPr>
            <a:r>
              <a:rPr lang="en-US" sz="1050" dirty="0">
                <a:solidFill>
                  <a:srgbClr val="E6EAF2"/>
                </a:solidFill>
                <a:latin typeface="Calibri" pitchFamily="34" charset="0"/>
                <a:ea typeface="Calibri" pitchFamily="34" charset="-122"/>
                <a:cs typeface="Calibri" pitchFamily="34" charset="-120"/>
              </a:rPr>
              <a:t>▸ Risks</a:t>
            </a:r>
            <a:endParaRPr lang="en-US" sz="1050" dirty="0"/>
          </a:p>
        </p:txBody>
      </p:sp>
      <p:sp>
        <p:nvSpPr>
          <p:cNvPr id="16" name="Text 14"/>
          <p:cNvSpPr/>
          <p:nvPr/>
        </p:nvSpPr>
        <p:spPr>
          <a:xfrm>
            <a:off x="777240" y="3639312"/>
            <a:ext cx="2331720" cy="274320"/>
          </a:xfrm>
          <a:prstGeom prst="rect">
            <a:avLst/>
          </a:prstGeom>
          <a:noFill/>
          <a:ln/>
        </p:spPr>
        <p:txBody>
          <a:bodyPr wrap="square" rtlCol="0" anchor="ctr"/>
          <a:lstStyle/>
          <a:p>
            <a:pPr indent="0" marL="0">
              <a:buNone/>
            </a:pPr>
            <a:r>
              <a:rPr lang="en-US" sz="1050" dirty="0">
                <a:solidFill>
                  <a:srgbClr val="E6EAF2"/>
                </a:solidFill>
                <a:latin typeface="Calibri" pitchFamily="34" charset="0"/>
                <a:ea typeface="Calibri" pitchFamily="34" charset="-122"/>
                <a:cs typeface="Calibri" pitchFamily="34" charset="-120"/>
              </a:rPr>
              <a:t>▸ Ethical Considerations</a:t>
            </a:r>
            <a:endParaRPr lang="en-US" sz="1050" dirty="0"/>
          </a:p>
        </p:txBody>
      </p:sp>
      <p:sp>
        <p:nvSpPr>
          <p:cNvPr id="17" name="Text 15"/>
          <p:cNvSpPr/>
          <p:nvPr/>
        </p:nvSpPr>
        <p:spPr>
          <a:xfrm>
            <a:off x="3200400" y="3639312"/>
            <a:ext cx="2331720" cy="274320"/>
          </a:xfrm>
          <a:prstGeom prst="rect">
            <a:avLst/>
          </a:prstGeom>
          <a:noFill/>
          <a:ln/>
        </p:spPr>
        <p:txBody>
          <a:bodyPr wrap="square" rtlCol="0" anchor="ctr"/>
          <a:lstStyle/>
          <a:p>
            <a:pPr indent="0" marL="0">
              <a:buNone/>
            </a:pPr>
            <a:r>
              <a:rPr lang="en-US" sz="1050" dirty="0">
                <a:solidFill>
                  <a:srgbClr val="E6EAF2"/>
                </a:solidFill>
                <a:latin typeface="Calibri" pitchFamily="34" charset="0"/>
                <a:ea typeface="Calibri" pitchFamily="34" charset="-122"/>
                <a:cs typeface="Calibri" pitchFamily="34" charset="-120"/>
              </a:rPr>
              <a:t>▸ Human Oversight</a:t>
            </a:r>
            <a:endParaRPr lang="en-US" sz="1050" dirty="0"/>
          </a:p>
        </p:txBody>
      </p:sp>
      <p:sp>
        <p:nvSpPr>
          <p:cNvPr id="18" name="Text 16"/>
          <p:cNvSpPr/>
          <p:nvPr/>
        </p:nvSpPr>
        <p:spPr>
          <a:xfrm>
            <a:off x="777240" y="3931920"/>
            <a:ext cx="2331720" cy="274320"/>
          </a:xfrm>
          <a:prstGeom prst="rect">
            <a:avLst/>
          </a:prstGeom>
          <a:noFill/>
          <a:ln/>
        </p:spPr>
        <p:txBody>
          <a:bodyPr wrap="square" rtlCol="0" anchor="ctr"/>
          <a:lstStyle/>
          <a:p>
            <a:pPr indent="0" marL="0">
              <a:buNone/>
            </a:pPr>
            <a:r>
              <a:rPr lang="en-US" sz="1050" dirty="0">
                <a:solidFill>
                  <a:srgbClr val="E6EAF2"/>
                </a:solidFill>
                <a:latin typeface="Calibri" pitchFamily="34" charset="0"/>
                <a:ea typeface="Calibri" pitchFamily="34" charset="-122"/>
                <a:cs typeface="Calibri" pitchFamily="34" charset="-120"/>
              </a:rPr>
              <a:t>▸ Future Scalability</a:t>
            </a:r>
            <a:endParaRPr lang="en-US" sz="1050" dirty="0"/>
          </a:p>
        </p:txBody>
      </p:sp>
      <p:sp>
        <p:nvSpPr>
          <p:cNvPr id="19" name="Shape 17"/>
          <p:cNvSpPr/>
          <p:nvPr/>
        </p:nvSpPr>
        <p:spPr>
          <a:xfrm>
            <a:off x="6263640" y="1554480"/>
            <a:ext cx="5349240" cy="1828800"/>
          </a:xfrm>
          <a:prstGeom prst="roundRect">
            <a:avLst>
              <a:gd name="adj" fmla="val 4000"/>
            </a:avLst>
          </a:prstGeom>
          <a:solidFill>
            <a:srgbClr val="1F3A5F"/>
          </a:solidFill>
          <a:ln/>
        </p:spPr>
      </p:sp>
      <p:sp>
        <p:nvSpPr>
          <p:cNvPr id="20" name="Text 18"/>
          <p:cNvSpPr/>
          <p:nvPr/>
        </p:nvSpPr>
        <p:spPr>
          <a:xfrm>
            <a:off x="6492240" y="1691640"/>
            <a:ext cx="4846320" cy="274320"/>
          </a:xfrm>
          <a:prstGeom prst="rect">
            <a:avLst/>
          </a:prstGeom>
          <a:noFill/>
          <a:ln/>
        </p:spPr>
        <p:txBody>
          <a:bodyPr wrap="square" rtlCol="0" anchor="ctr"/>
          <a:lstStyle/>
          <a:p>
            <a:pPr indent="0" marL="0">
              <a:buNone/>
            </a:pPr>
            <a:r>
              <a:rPr lang="en-US" sz="1100" b="1" spc="150" kern="0" dirty="0">
                <a:solidFill>
                  <a:srgbClr val="2FE6D6"/>
                </a:solidFill>
                <a:latin typeface="Calibri" pitchFamily="34" charset="0"/>
                <a:ea typeface="Calibri" pitchFamily="34" charset="-122"/>
                <a:cs typeface="Calibri" pitchFamily="34" charset="-120"/>
              </a:rPr>
              <a:t>REFLECTION PROMPT</a:t>
            </a:r>
            <a:endParaRPr lang="en-US" sz="1100" dirty="0"/>
          </a:p>
        </p:txBody>
      </p:sp>
      <p:sp>
        <p:nvSpPr>
          <p:cNvPr id="21" name="Text 19"/>
          <p:cNvSpPr/>
          <p:nvPr/>
        </p:nvSpPr>
        <p:spPr>
          <a:xfrm>
            <a:off x="6492240" y="2011680"/>
            <a:ext cx="4846320" cy="1234440"/>
          </a:xfrm>
          <a:prstGeom prst="rect">
            <a:avLst/>
          </a:prstGeom>
          <a:noFill/>
          <a:ln/>
        </p:spPr>
        <p:txBody>
          <a:bodyPr wrap="square" rtlCol="0" anchor="ctr"/>
          <a:lstStyle/>
          <a:p>
            <a:pPr indent="0" marL="0">
              <a:buNone/>
            </a:pPr>
            <a:r>
              <a:rPr lang="en-US" sz="1200" i="1" dirty="0">
                <a:solidFill>
                  <a:srgbClr val="D6DEEC"/>
                </a:solidFill>
                <a:latin typeface="Calibri" pitchFamily="34" charset="0"/>
                <a:ea typeface="Calibri" pitchFamily="34" charset="-122"/>
                <a:cs typeface="Calibri" pitchFamily="34" charset="-120"/>
              </a:rPr>
              <a:t>Which of today's five questions (Where / How to use / How to evaluate / What to learn / Where next) changed your thinking the most, and why?</a:t>
            </a:r>
            <a:endParaRPr lang="en-US" sz="1200" dirty="0"/>
          </a:p>
        </p:txBody>
      </p:sp>
      <p:sp>
        <p:nvSpPr>
          <p:cNvPr id="22" name="Shape 20"/>
          <p:cNvSpPr/>
          <p:nvPr/>
        </p:nvSpPr>
        <p:spPr>
          <a:xfrm>
            <a:off x="6263640" y="3520440"/>
            <a:ext cx="5349240" cy="1965960"/>
          </a:xfrm>
          <a:prstGeom prst="roundRect">
            <a:avLst>
              <a:gd name="adj" fmla="val 3721"/>
            </a:avLst>
          </a:prstGeom>
          <a:solidFill>
            <a:srgbClr val="1F3A5F"/>
          </a:solidFill>
          <a:ln/>
        </p:spPr>
      </p:sp>
      <p:sp>
        <p:nvSpPr>
          <p:cNvPr id="23" name="Text 21"/>
          <p:cNvSpPr/>
          <p:nvPr/>
        </p:nvSpPr>
        <p:spPr>
          <a:xfrm>
            <a:off x="6492240" y="3657600"/>
            <a:ext cx="4846320" cy="274320"/>
          </a:xfrm>
          <a:prstGeom prst="rect">
            <a:avLst/>
          </a:prstGeom>
          <a:noFill/>
          <a:ln/>
        </p:spPr>
        <p:txBody>
          <a:bodyPr wrap="square" rtlCol="0" anchor="ctr"/>
          <a:lstStyle/>
          <a:p>
            <a:pPr indent="0" marL="0">
              <a:buNone/>
            </a:pPr>
            <a:r>
              <a:rPr lang="en-US" sz="1100" b="1" spc="150" kern="0" dirty="0">
                <a:solidFill>
                  <a:srgbClr val="2FE6D6"/>
                </a:solidFill>
                <a:latin typeface="Calibri" pitchFamily="34" charset="0"/>
                <a:ea typeface="Calibri" pitchFamily="34" charset="-122"/>
                <a:cs typeface="Calibri" pitchFamily="34" charset="-120"/>
              </a:rPr>
              <a:t>KEY TAKEAWAYS</a:t>
            </a:r>
            <a:endParaRPr lang="en-US" sz="1100" dirty="0"/>
          </a:p>
        </p:txBody>
      </p:sp>
      <p:sp>
        <p:nvSpPr>
          <p:cNvPr id="24" name="Text 22"/>
          <p:cNvSpPr/>
          <p:nvPr/>
        </p:nvSpPr>
        <p:spPr>
          <a:xfrm>
            <a:off x="6492240" y="3977640"/>
            <a:ext cx="4937760" cy="457200"/>
          </a:xfrm>
          <a:prstGeom prst="rect">
            <a:avLst/>
          </a:prstGeom>
          <a:noFill/>
          <a:ln/>
        </p:spPr>
        <p:txBody>
          <a:bodyPr wrap="square" rtlCol="0" anchor="ctr"/>
          <a:lstStyle/>
          <a:p>
            <a:pPr indent="0" marL="0">
              <a:buNone/>
            </a:pPr>
            <a:r>
              <a:rPr lang="en-US" sz="1100" dirty="0">
                <a:solidFill>
                  <a:srgbClr val="E6EAF2"/>
                </a:solidFill>
                <a:latin typeface="Calibri" pitchFamily="34" charset="0"/>
                <a:ea typeface="Calibri" pitchFamily="34" charset="-122"/>
                <a:cs typeface="Calibri" pitchFamily="34" charset="-120"/>
              </a:rPr>
              <a:t>• AI is a broad toolkit, not one product — match the tool to the task.</a:t>
            </a:r>
            <a:endParaRPr lang="en-US" sz="1100" dirty="0"/>
          </a:p>
        </p:txBody>
      </p:sp>
      <p:sp>
        <p:nvSpPr>
          <p:cNvPr id="25" name="Text 23"/>
          <p:cNvSpPr/>
          <p:nvPr/>
        </p:nvSpPr>
        <p:spPr>
          <a:xfrm>
            <a:off x="6492240" y="4480560"/>
            <a:ext cx="4937760" cy="457200"/>
          </a:xfrm>
          <a:prstGeom prst="rect">
            <a:avLst/>
          </a:prstGeom>
          <a:noFill/>
          <a:ln/>
        </p:spPr>
        <p:txBody>
          <a:bodyPr wrap="square" rtlCol="0" anchor="ctr"/>
          <a:lstStyle/>
          <a:p>
            <a:pPr indent="0" marL="0">
              <a:buNone/>
            </a:pPr>
            <a:r>
              <a:rPr lang="en-US" sz="1100" dirty="0">
                <a:solidFill>
                  <a:srgbClr val="E6EAF2"/>
                </a:solidFill>
                <a:latin typeface="Calibri" pitchFamily="34" charset="0"/>
                <a:ea typeface="Calibri" pitchFamily="34" charset="-122"/>
                <a:cs typeface="Calibri" pitchFamily="34" charset="-120"/>
              </a:rPr>
              <a:t>• Always evaluate AI output before acting on it (recall: C.R.A.F.T.).</a:t>
            </a:r>
            <a:endParaRPr lang="en-US" sz="1100" dirty="0"/>
          </a:p>
        </p:txBody>
      </p:sp>
      <p:sp>
        <p:nvSpPr>
          <p:cNvPr id="26" name="Text 24"/>
          <p:cNvSpPr/>
          <p:nvPr/>
        </p:nvSpPr>
        <p:spPr>
          <a:xfrm>
            <a:off x="6492240" y="4983480"/>
            <a:ext cx="4937760" cy="457200"/>
          </a:xfrm>
          <a:prstGeom prst="rect">
            <a:avLst/>
          </a:prstGeom>
          <a:noFill/>
          <a:ln/>
        </p:spPr>
        <p:txBody>
          <a:bodyPr wrap="square" rtlCol="0" anchor="ctr"/>
          <a:lstStyle/>
          <a:p>
            <a:pPr indent="0" marL="0">
              <a:buNone/>
            </a:pPr>
            <a:r>
              <a:rPr lang="en-US" sz="1100" dirty="0">
                <a:solidFill>
                  <a:srgbClr val="E6EAF2"/>
                </a:solidFill>
                <a:latin typeface="Calibri" pitchFamily="34" charset="0"/>
                <a:ea typeface="Calibri" pitchFamily="34" charset="-122"/>
                <a:cs typeface="Calibri" pitchFamily="34" charset="-120"/>
              </a:rPr>
              <a:t>• Human oversight remains essential, especially in high-stakes domains.</a:t>
            </a:r>
            <a:endParaRPr lang="en-US" sz="1100" dirty="0"/>
          </a:p>
        </p:txBody>
      </p:sp>
      <p:sp>
        <p:nvSpPr>
          <p:cNvPr id="27" name="Shape 25"/>
          <p:cNvSpPr/>
          <p:nvPr/>
        </p:nvSpPr>
        <p:spPr>
          <a:xfrm>
            <a:off x="548640" y="5623560"/>
            <a:ext cx="11064240" cy="868680"/>
          </a:xfrm>
          <a:prstGeom prst="roundRect">
            <a:avLst>
              <a:gd name="adj" fmla="val 8421"/>
            </a:avLst>
          </a:prstGeom>
          <a:solidFill>
            <a:srgbClr val="2FE6D6"/>
          </a:solidFill>
          <a:ln/>
        </p:spPr>
      </p:sp>
      <p:sp>
        <p:nvSpPr>
          <p:cNvPr id="28" name="Text 26"/>
          <p:cNvSpPr/>
          <p:nvPr/>
        </p:nvSpPr>
        <p:spPr>
          <a:xfrm>
            <a:off x="548640" y="5623560"/>
            <a:ext cx="11064240" cy="868680"/>
          </a:xfrm>
          <a:prstGeom prst="rect">
            <a:avLst/>
          </a:prstGeom>
          <a:noFill/>
          <a:ln/>
        </p:spPr>
        <p:txBody>
          <a:bodyPr wrap="square" rtlCol="0" anchor="ctr"/>
          <a:lstStyle/>
          <a:p>
            <a:pPr algn="ctr" indent="0" marL="0">
              <a:buNone/>
            </a:pPr>
            <a:r>
              <a:rPr lang="en-US" sz="1900" b="1" dirty="0">
                <a:solidFill>
                  <a:srgbClr val="0D1B2A"/>
                </a:solidFill>
                <a:latin typeface="Cambria" pitchFamily="34" charset="0"/>
                <a:ea typeface="Cambria" pitchFamily="34" charset="-122"/>
                <a:cs typeface="Cambria" pitchFamily="34" charset="-120"/>
              </a:rPr>
              <a:t>Explore AI  →  Use AI  →  Question AI  →  Evaluate AI  →  Apply AI Responsibly</a:t>
            </a:r>
            <a:endParaRPr lang="en-US" sz="1900" dirty="0"/>
          </a:p>
        </p:txBody>
      </p:sp>
      <p:sp>
        <p:nvSpPr>
          <p:cNvPr id="29" name="Text 27"/>
          <p:cNvSpPr/>
          <p:nvPr/>
        </p:nvSpPr>
        <p:spPr>
          <a:xfrm>
            <a:off x="11002975" y="6473952"/>
            <a:ext cx="914400" cy="274320"/>
          </a:xfrm>
          <a:prstGeom prst="rect">
            <a:avLst/>
          </a:prstGeom>
          <a:noFill/>
          <a:ln/>
        </p:spPr>
        <p:txBody>
          <a:bodyPr wrap="square" rtlCol="0" anchor="ctr"/>
          <a:lstStyle/>
          <a:p>
            <a:pPr algn="r" indent="0" marL="0">
              <a:buNone/>
            </a:pPr>
            <a:r>
              <a:rPr lang="en-US" sz="900" dirty="0">
                <a:solidFill>
                  <a:srgbClr val="8B98AC"/>
                </a:solidFill>
                <a:latin typeface="Calibri" pitchFamily="34" charset="0"/>
                <a:ea typeface="Calibri" pitchFamily="34" charset="-122"/>
                <a:cs typeface="Calibri" pitchFamily="34" charset="-120"/>
              </a:rPr>
              <a:t>30 / 30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 Artificial Intelligence: Applications, Tools, Real-World Impact &amp; Future Trends</dc:title>
  <dc:subject>PptxGenJS Presentation</dc:subject>
  <dc:creator>AI Training Program</dc:creator>
  <cp:lastModifiedBy>AI Training Program</cp:lastModifiedBy>
  <cp:revision>1</cp:revision>
  <dcterms:created xsi:type="dcterms:W3CDTF">2026-09-08T06:57:16Z</dcterms:created>
  <dcterms:modified xsi:type="dcterms:W3CDTF">2026-09-08T06:57:16Z</dcterms:modified>
</cp:coreProperties>
</file>